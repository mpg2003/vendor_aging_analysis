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323" r:id="rId2"/>
    <p:sldId id="257" r:id="rId3"/>
    <p:sldId id="258" r:id="rId4"/>
    <p:sldId id="259" r:id="rId5"/>
    <p:sldId id="260" r:id="rId6"/>
    <p:sldId id="261" r:id="rId7"/>
    <p:sldId id="262" r:id="rId8"/>
    <p:sldId id="263" r:id="rId9"/>
    <p:sldId id="264" r:id="rId10"/>
    <p:sldId id="265" r:id="rId11"/>
    <p:sldId id="266" r:id="rId12"/>
    <p:sldId id="267" r:id="rId13"/>
    <p:sldId id="2147483389" r:id="rId14"/>
    <p:sldId id="2147483391" r:id="rId15"/>
    <p:sldId id="2147483390" r:id="rId16"/>
    <p:sldId id="268" r:id="rId17"/>
    <p:sldId id="28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271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2BD5E-3985-5886-3B9D-DD95E0512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671E6-9B0F-8D83-7525-2AC4F26ED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7A899-E0AA-497F-C01F-C9B63D6F7E01}"/>
              </a:ext>
            </a:extLst>
          </p:cNvPr>
          <p:cNvSpPr>
            <a:spLocks noGrp="1"/>
          </p:cNvSpPr>
          <p:nvPr>
            <p:ph type="body" idx="1"/>
          </p:nvPr>
        </p:nvSpPr>
        <p:spPr/>
        <p:txBody>
          <a:bodyPr>
            <a:normAutofit fontScale="25000" lnSpcReduction="20000"/>
          </a:bodyPr>
          <a:lstStyle/>
          <a:p>
            <a:r>
              <a:rPr lang="en-US" b="1"/>
              <a:t>Notes:</a:t>
            </a: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The SAP Business Suite is not just another portfolio of solutions—it’s a transformation engine that creates a virtuous cycle of innovation and continuous improvement.</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Here’s how it works:</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Unparalleled Applications:</a:t>
            </a:r>
            <a:r>
              <a:rPr lang="en-US" sz="1800">
                <a:effectLst/>
                <a:latin typeface="72 Brand" panose="020B0504030603020204" pitchFamily="34" charset="0"/>
                <a:ea typeface="Calibri" panose="020F0502020204030204" pitchFamily="34" charset="0"/>
                <a:cs typeface="Calibri" panose="020F0502020204030204" pitchFamily="34" charset="0"/>
              </a:rPr>
              <a:t> </a:t>
            </a:r>
            <a:br>
              <a:rPr lang="en-US" sz="1800">
                <a:effectLst/>
                <a:latin typeface="72 Brand" panose="020B0504030603020204" pitchFamily="34" charset="0"/>
                <a:ea typeface="Calibri" panose="020F0502020204030204" pitchFamily="34" charset="0"/>
                <a:cs typeface="Calibri" panose="020F0502020204030204" pitchFamily="34" charset="0"/>
              </a:rPr>
            </a:br>
            <a:r>
              <a:rPr lang="en-US" sz="1800">
                <a:effectLst/>
                <a:latin typeface="72 Brand" panose="020B0504030603020204" pitchFamily="34" charset="0"/>
                <a:ea typeface="Calibri" panose="020F0502020204030204" pitchFamily="34" charset="0"/>
                <a:cs typeface="Calibri" panose="020F0502020204030204" pitchFamily="34" charset="0"/>
              </a:rPr>
              <a:t>SAP’s business applications and technology platform aren’t siloed tools; they integrate every process end-to-end. This integration ensures that every action taken within these applications generates trusted, business-critical data at its source.</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Unmatched Data:</a:t>
            </a:r>
            <a:r>
              <a:rPr lang="en-US" sz="1800">
                <a:effectLst/>
                <a:latin typeface="72 Brand" panose="020B0504030603020204" pitchFamily="34" charset="0"/>
                <a:ea typeface="Calibri" panose="020F0502020204030204" pitchFamily="34" charset="0"/>
                <a:cs typeface="Calibri" panose="020F0502020204030204" pitchFamily="34" charset="0"/>
              </a:rPr>
              <a:t> </a:t>
            </a:r>
            <a:br>
              <a:rPr lang="en-US" sz="1800">
                <a:effectLst/>
                <a:latin typeface="72 Brand" panose="020B0504030603020204" pitchFamily="34" charset="0"/>
                <a:ea typeface="Calibri" panose="020F0502020204030204" pitchFamily="34" charset="0"/>
                <a:cs typeface="Calibri" panose="020F0502020204030204" pitchFamily="34" charset="0"/>
              </a:rPr>
            </a:br>
            <a:r>
              <a:rPr lang="en-US" sz="1800">
                <a:effectLst/>
                <a:latin typeface="72 Brand" panose="020B0504030603020204" pitchFamily="34" charset="0"/>
                <a:ea typeface="Calibri" panose="020F0502020204030204" pitchFamily="34" charset="0"/>
                <a:cs typeface="Calibri" panose="020F0502020204030204" pitchFamily="34" charset="0"/>
              </a:rPr>
              <a:t>We then centralize, harmonize, and enrich this data in the SAP Business Data Cloud. No matter where it’s generated—SAP or non-SAP systems—we unify it into a single source of truth. Contextualized, reliable, and accessible, this data becomes the fuel for advanced AI-driven insights</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Unrivaled AI:</a:t>
            </a:r>
            <a:r>
              <a:rPr lang="en-US" sz="1800">
                <a:effectLst/>
                <a:latin typeface="72 Brand" panose="020B0504030603020204" pitchFamily="34" charset="0"/>
                <a:ea typeface="Calibri" panose="020F0502020204030204" pitchFamily="34" charset="0"/>
                <a:cs typeface="Calibri" panose="020F0502020204030204" pitchFamily="34" charset="0"/>
              </a:rPr>
              <a:t> SAP Business AI goes beyond basic automation. Through Joule, our AI copilot, employees can orchestrate intelligent agents to collaborate across functions. This breaks down silos, driving real-time, cross-enterprise optimization. Where others may deploy AI in pockets, SAP weaves it throughout your organization, unlocking value and resilience at scale. </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As AI refine processes, they generate richer data that fuels even smarter decisions—creating that virtuous cycle of innovation that no one else can match. </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This is what makes SAP different. We bring together applications, data, and AI like never before</a:t>
            </a:r>
            <a:endParaRPr lang="en-US" sz="1800">
              <a:effectLst/>
              <a:latin typeface="Times New Roman" panose="02020603050405020304" pitchFamily="18" charset="0"/>
              <a:ea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94C7A555-51A7-5BA5-6271-C27B99607729}"/>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13</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65697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48C7A-FE96-D3F6-A588-B2CB40CA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B3B2A-4F72-69CC-0A96-5A85584F5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F6ADD-8052-9A35-6754-664CEF30DA9B}"/>
              </a:ext>
            </a:extLst>
          </p:cNvPr>
          <p:cNvSpPr>
            <a:spLocks noGrp="1"/>
          </p:cNvSpPr>
          <p:nvPr>
            <p:ph type="body" idx="1"/>
          </p:nvPr>
        </p:nvSpPr>
        <p:spPr/>
        <p:txBody>
          <a:bodyPr>
            <a:normAutofit fontScale="25000" lnSpcReduction="20000"/>
          </a:bodyPr>
          <a:lstStyle/>
          <a:p>
            <a:r>
              <a:rPr lang="en-US" b="1"/>
              <a:t>Notes:</a:t>
            </a: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The SAP Business Suite is not just another portfolio of solutions—it’s a transformation engine that creates a virtuous cycle of innovation and continuous improvement.</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Here’s how it works:</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Unparalleled Applications:</a:t>
            </a:r>
            <a:r>
              <a:rPr lang="en-US" sz="1800">
                <a:effectLst/>
                <a:latin typeface="72 Brand" panose="020B0504030603020204" pitchFamily="34" charset="0"/>
                <a:ea typeface="Calibri" panose="020F0502020204030204" pitchFamily="34" charset="0"/>
                <a:cs typeface="Calibri" panose="020F0502020204030204" pitchFamily="34" charset="0"/>
              </a:rPr>
              <a:t> </a:t>
            </a:r>
            <a:br>
              <a:rPr lang="en-US" sz="1800">
                <a:effectLst/>
                <a:latin typeface="72 Brand" panose="020B0504030603020204" pitchFamily="34" charset="0"/>
                <a:ea typeface="Calibri" panose="020F0502020204030204" pitchFamily="34" charset="0"/>
                <a:cs typeface="Calibri" panose="020F0502020204030204" pitchFamily="34" charset="0"/>
              </a:rPr>
            </a:br>
            <a:r>
              <a:rPr lang="en-US" sz="1800">
                <a:effectLst/>
                <a:latin typeface="72 Brand" panose="020B0504030603020204" pitchFamily="34" charset="0"/>
                <a:ea typeface="Calibri" panose="020F0502020204030204" pitchFamily="34" charset="0"/>
                <a:cs typeface="Calibri" panose="020F0502020204030204" pitchFamily="34" charset="0"/>
              </a:rPr>
              <a:t>SAP’s business applications and technology platform aren’t siloed tools; they integrate every process end-to-end. This integration ensures that every action taken within these applications generates trusted, business-critical data at its source.</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Unmatched Data:</a:t>
            </a:r>
            <a:r>
              <a:rPr lang="en-US" sz="1800">
                <a:effectLst/>
                <a:latin typeface="72 Brand" panose="020B0504030603020204" pitchFamily="34" charset="0"/>
                <a:ea typeface="Calibri" panose="020F0502020204030204" pitchFamily="34" charset="0"/>
                <a:cs typeface="Calibri" panose="020F0502020204030204" pitchFamily="34" charset="0"/>
              </a:rPr>
              <a:t> </a:t>
            </a:r>
            <a:br>
              <a:rPr lang="en-US" sz="1800">
                <a:effectLst/>
                <a:latin typeface="72 Brand" panose="020B0504030603020204" pitchFamily="34" charset="0"/>
                <a:ea typeface="Calibri" panose="020F0502020204030204" pitchFamily="34" charset="0"/>
                <a:cs typeface="Calibri" panose="020F0502020204030204" pitchFamily="34" charset="0"/>
              </a:rPr>
            </a:br>
            <a:r>
              <a:rPr lang="en-US" sz="1800">
                <a:effectLst/>
                <a:latin typeface="72 Brand" panose="020B0504030603020204" pitchFamily="34" charset="0"/>
                <a:ea typeface="Calibri" panose="020F0502020204030204" pitchFamily="34" charset="0"/>
                <a:cs typeface="Calibri" panose="020F0502020204030204" pitchFamily="34" charset="0"/>
              </a:rPr>
              <a:t>We then centralize, harmonize, and enrich this data in the SAP Business Data Cloud. No matter where it’s generated—SAP or non-SAP systems—we unify it into a single source of truth. Contextualized, reliable, and accessible, this data becomes the fuel for advanced AI-driven insights</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Unrivaled AI:</a:t>
            </a:r>
            <a:r>
              <a:rPr lang="en-US" sz="1800">
                <a:effectLst/>
                <a:latin typeface="72 Brand" panose="020B0504030603020204" pitchFamily="34" charset="0"/>
                <a:ea typeface="Calibri" panose="020F0502020204030204" pitchFamily="34" charset="0"/>
                <a:cs typeface="Calibri" panose="020F0502020204030204" pitchFamily="34" charset="0"/>
              </a:rPr>
              <a:t> SAP Business AI goes beyond basic automation. Through Joule, our AI copilot, employees can orchestrate intelligent agents to collaborate across functions. This breaks down silos, driving real-time, cross-enterprise optimization. Where others may deploy AI in pockets, SAP weaves it throughout your organization, unlocking value and resilience at scale. </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As AI refine processes, they generate richer data that fuels even smarter decisions—creating that virtuous cycle of innovation that no one else can match. </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This is what makes SAP different. We bring together applications, data, and AI like never before</a:t>
            </a:r>
            <a:endParaRPr lang="en-US" sz="1800">
              <a:effectLst/>
              <a:latin typeface="Times New Roman" panose="02020603050405020304" pitchFamily="18" charset="0"/>
              <a:ea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F206AFC2-1EDA-3FF8-D1D3-A8AA520F8865}"/>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14</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47996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16D79-1B2A-4077-1BCC-584D7FA55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B3378-C2F8-7003-1BA5-ED936DBE79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1C9B92-CE22-B9E6-2288-BC8DCABFCD94}"/>
              </a:ext>
            </a:extLst>
          </p:cNvPr>
          <p:cNvSpPr>
            <a:spLocks noGrp="1"/>
          </p:cNvSpPr>
          <p:nvPr>
            <p:ph type="body" idx="1"/>
          </p:nvPr>
        </p:nvSpPr>
        <p:spPr/>
        <p:txBody>
          <a:bodyPr>
            <a:normAutofit fontScale="25000" lnSpcReduction="20000"/>
          </a:bodyPr>
          <a:lstStyle/>
          <a:p>
            <a:r>
              <a:rPr lang="en-US" b="1"/>
              <a:t>Notes:</a:t>
            </a: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The SAP Business Suite is not just another portfolio of solutions—it’s a transformation engine that creates a virtuous cycle of innovation and continuous improvement.</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Here’s how it works:</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Unparalleled Applications:</a:t>
            </a:r>
            <a:r>
              <a:rPr lang="en-US" sz="1800">
                <a:effectLst/>
                <a:latin typeface="72 Brand" panose="020B0504030603020204" pitchFamily="34" charset="0"/>
                <a:ea typeface="Calibri" panose="020F0502020204030204" pitchFamily="34" charset="0"/>
                <a:cs typeface="Calibri" panose="020F0502020204030204" pitchFamily="34" charset="0"/>
              </a:rPr>
              <a:t> </a:t>
            </a:r>
            <a:br>
              <a:rPr lang="en-US" sz="1800">
                <a:effectLst/>
                <a:latin typeface="72 Brand" panose="020B0504030603020204" pitchFamily="34" charset="0"/>
                <a:ea typeface="Calibri" panose="020F0502020204030204" pitchFamily="34" charset="0"/>
                <a:cs typeface="Calibri" panose="020F0502020204030204" pitchFamily="34" charset="0"/>
              </a:rPr>
            </a:br>
            <a:r>
              <a:rPr lang="en-US" sz="1800">
                <a:effectLst/>
                <a:latin typeface="72 Brand" panose="020B0504030603020204" pitchFamily="34" charset="0"/>
                <a:ea typeface="Calibri" panose="020F0502020204030204" pitchFamily="34" charset="0"/>
                <a:cs typeface="Calibri" panose="020F0502020204030204" pitchFamily="34" charset="0"/>
              </a:rPr>
              <a:t>SAP’s business applications and technology platform aren’t siloed tools; they integrate every process end-to-end. This integration ensures that every action taken within these applications generates trusted, business-critical data at its source.</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Unmatched Data:</a:t>
            </a:r>
            <a:r>
              <a:rPr lang="en-US" sz="1800">
                <a:effectLst/>
                <a:latin typeface="72 Brand" panose="020B0504030603020204" pitchFamily="34" charset="0"/>
                <a:ea typeface="Calibri" panose="020F0502020204030204" pitchFamily="34" charset="0"/>
                <a:cs typeface="Calibri" panose="020F0502020204030204" pitchFamily="34" charset="0"/>
              </a:rPr>
              <a:t> </a:t>
            </a:r>
            <a:br>
              <a:rPr lang="en-US" sz="1800">
                <a:effectLst/>
                <a:latin typeface="72 Brand" panose="020B0504030603020204" pitchFamily="34" charset="0"/>
                <a:ea typeface="Calibri" panose="020F0502020204030204" pitchFamily="34" charset="0"/>
                <a:cs typeface="Calibri" panose="020F0502020204030204" pitchFamily="34" charset="0"/>
              </a:rPr>
            </a:br>
            <a:r>
              <a:rPr lang="en-US" sz="1800">
                <a:effectLst/>
                <a:latin typeface="72 Brand" panose="020B0504030603020204" pitchFamily="34" charset="0"/>
                <a:ea typeface="Calibri" panose="020F0502020204030204" pitchFamily="34" charset="0"/>
                <a:cs typeface="Calibri" panose="020F0502020204030204" pitchFamily="34" charset="0"/>
              </a:rPr>
              <a:t>We then centralize, harmonize, and enrich this data in the SAP Business Data Cloud. No matter where it’s generated—SAP or non-SAP systems—we unify it into a single source of truth. Contextualized, reliable, and accessible, this data becomes the fuel for advanced AI-driven insights</a:t>
            </a:r>
            <a:endParaRPr lang="en-US" sz="1800">
              <a:effectLst/>
              <a:latin typeface="Times New Roman" panose="02020603050405020304" pitchFamily="18" charset="0"/>
              <a:ea typeface="Times New Roman" panose="02020603050405020304" pitchFamily="18" charset="0"/>
            </a:endParaRPr>
          </a:p>
          <a:p>
            <a:pPr marL="465750" marR="0" lvl="1" indent="-285750">
              <a:buFont typeface="Arial" panose="020B0604020202020204" pitchFamily="34" charset="0"/>
              <a:buChar char="•"/>
            </a:pPr>
            <a:r>
              <a:rPr lang="en-US" sz="1800" b="1">
                <a:effectLst/>
                <a:latin typeface="72 Brand" panose="020B0504030603020204" pitchFamily="34" charset="0"/>
                <a:ea typeface="Calibri" panose="020F0502020204030204" pitchFamily="34" charset="0"/>
                <a:cs typeface="Calibri" panose="020F0502020204030204" pitchFamily="34" charset="0"/>
              </a:rPr>
              <a:t>Unrivaled AI:</a:t>
            </a:r>
            <a:r>
              <a:rPr lang="en-US" sz="1800">
                <a:effectLst/>
                <a:latin typeface="72 Brand" panose="020B0504030603020204" pitchFamily="34" charset="0"/>
                <a:ea typeface="Calibri" panose="020F0502020204030204" pitchFamily="34" charset="0"/>
                <a:cs typeface="Calibri" panose="020F0502020204030204" pitchFamily="34" charset="0"/>
              </a:rPr>
              <a:t> SAP Business AI goes beyond basic automation. Through Joule, our AI copilot, employees can orchestrate intelligent agents to collaborate across functions. This breaks down silos, driving real-time, cross-enterprise optimization. Where others may deploy AI in pockets, SAP weaves it throughout your organization, unlocking value and resilience at scale. </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As AI refine processes, they generate richer data that fuels even smarter decisions—creating that virtuous cycle of innovation that no one else can match. </a:t>
            </a:r>
            <a:endParaRPr lang="en-US" sz="1800">
              <a:effectLst/>
              <a:latin typeface="Times New Roman" panose="02020603050405020304" pitchFamily="18" charset="0"/>
              <a:ea typeface="Times New Roman" panose="02020603050405020304" pitchFamily="18" charset="0"/>
            </a:endParaRPr>
          </a:p>
          <a:p>
            <a:pPr marL="285750" marR="0" indent="-285750">
              <a:buFont typeface="Arial" panose="020B0604020202020204" pitchFamily="34" charset="0"/>
              <a:buChar char="•"/>
            </a:pPr>
            <a:r>
              <a:rPr lang="en-US" sz="1800">
                <a:effectLst/>
                <a:latin typeface="72 Brand" panose="020B0504030603020204" pitchFamily="34" charset="0"/>
                <a:ea typeface="Calibri" panose="020F0502020204030204" pitchFamily="34" charset="0"/>
                <a:cs typeface="Calibri" panose="020F0502020204030204" pitchFamily="34" charset="0"/>
              </a:rPr>
              <a:t>This is what makes SAP different. We bring together applications, data, and AI like never before</a:t>
            </a:r>
            <a:endParaRPr lang="en-US" sz="1800">
              <a:effectLst/>
              <a:latin typeface="Times New Roman" panose="02020603050405020304" pitchFamily="18" charset="0"/>
              <a:ea typeface="Times New Roman" panose="02020603050405020304" pitchFamily="18" charset="0"/>
            </a:endParaRPr>
          </a:p>
          <a:p>
            <a:endParaRPr lang="en-US"/>
          </a:p>
        </p:txBody>
      </p:sp>
      <p:sp>
        <p:nvSpPr>
          <p:cNvPr id="4" name="Slide Number Placeholder 3">
            <a:extLst>
              <a:ext uri="{FF2B5EF4-FFF2-40B4-BE49-F238E27FC236}">
                <a16:creationId xmlns:a16="http://schemas.microsoft.com/office/drawing/2014/main" id="{9A0A4E71-6FAD-F47A-B4A4-B850770855B3}"/>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15</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964941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7237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901069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2.xml"/><Relationship Id="rId7"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9.emf"/><Relationship Id="rId10" Type="http://schemas.openxmlformats.org/officeDocument/2006/relationships/image" Target="../media/image12.png"/><Relationship Id="rId4" Type="http://schemas.openxmlformats.org/officeDocument/2006/relationships/oleObject" Target="../embeddings/oleObject1.bin"/><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13.xml"/><Relationship Id="rId7"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9.emf"/><Relationship Id="rId10" Type="http://schemas.openxmlformats.org/officeDocument/2006/relationships/image" Target="../media/image16.png"/><Relationship Id="rId4" Type="http://schemas.openxmlformats.org/officeDocument/2006/relationships/oleObject" Target="../embeddings/oleObject1.bin"/><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14.xml"/><Relationship Id="rId7"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6.png"/><Relationship Id="rId11" Type="http://schemas.openxmlformats.org/officeDocument/2006/relationships/image" Target="../media/image20.png"/><Relationship Id="rId5" Type="http://schemas.openxmlformats.org/officeDocument/2006/relationships/image" Target="../media/image9.emf"/><Relationship Id="rId10" Type="http://schemas.openxmlformats.org/officeDocument/2006/relationships/image" Target="../media/image19.png"/><Relationship Id="rId4" Type="http://schemas.openxmlformats.org/officeDocument/2006/relationships/oleObject" Target="../embeddings/oleObject1.bin"/><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6.png"/><Relationship Id="rId7" Type="http://schemas.openxmlformats.org/officeDocument/2006/relationships/image" Target="../media/image25.svg"/><Relationship Id="rId2"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 Id="rId9" Type="http://schemas.openxmlformats.org/officeDocument/2006/relationships/hyperlink" Target="http://www.bpterp.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ue and white triangle pattern&#10;&#10;AI-generated content may be incorrect.">
            <a:extLst>
              <a:ext uri="{FF2B5EF4-FFF2-40B4-BE49-F238E27FC236}">
                <a16:creationId xmlns:a16="http://schemas.microsoft.com/office/drawing/2014/main" id="{78A91175-538C-A1B0-0A19-928CAFD00A66}"/>
              </a:ext>
            </a:extLst>
          </p:cNvPr>
          <p:cNvPicPr>
            <a:picLocks noGrp="1" noChangeAspect="1"/>
          </p:cNvPicPr>
          <p:nvPr>
            <p:ph idx="1"/>
          </p:nvPr>
        </p:nvPicPr>
        <p:blipFill>
          <a:blip r:embed="rId2"/>
          <a:srcRect t="11027" b="5580"/>
          <a:stretch/>
        </p:blipFill>
        <p:spPr>
          <a:xfrm>
            <a:off x="0" y="0"/>
            <a:ext cx="12184197" cy="6857572"/>
          </a:xfrm>
          <a:prstGeom prst="rect">
            <a:avLst/>
          </a:prstGeom>
        </p:spPr>
      </p:pic>
      <p:pic>
        <p:nvPicPr>
          <p:cNvPr id="5" name="Picture 4" descr="A blue text on a black background&#10;&#10;AI-generated content may be incorrect.">
            <a:extLst>
              <a:ext uri="{FF2B5EF4-FFF2-40B4-BE49-F238E27FC236}">
                <a16:creationId xmlns:a16="http://schemas.microsoft.com/office/drawing/2014/main" id="{5DB0953A-C020-853B-7F28-151F76D037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41708" y="86735"/>
            <a:ext cx="2165805" cy="741940"/>
          </a:xfrm>
          <a:prstGeom prst="rect">
            <a:avLst/>
          </a:prstGeom>
        </p:spPr>
      </p:pic>
      <p:pic>
        <p:nvPicPr>
          <p:cNvPr id="7" name="Picture 6" descr="A blue and yellow logo&#10;&#10;Description automatically generated">
            <a:extLst>
              <a:ext uri="{FF2B5EF4-FFF2-40B4-BE49-F238E27FC236}">
                <a16:creationId xmlns:a16="http://schemas.microsoft.com/office/drawing/2014/main" id="{AD10377E-3323-979C-23FC-09C0C6A8BF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055012" y="6175373"/>
            <a:ext cx="952500" cy="595893"/>
          </a:xfrm>
          <a:prstGeom prst="rect">
            <a:avLst/>
          </a:prstGeom>
        </p:spPr>
      </p:pic>
      <p:sp>
        <p:nvSpPr>
          <p:cNvPr id="17" name="Freeform 2">
            <a:extLst>
              <a:ext uri="{FF2B5EF4-FFF2-40B4-BE49-F238E27FC236}">
                <a16:creationId xmlns:a16="http://schemas.microsoft.com/office/drawing/2014/main" id="{EDF02707-7EC8-C062-0F87-8FEFB3705BAA}"/>
              </a:ext>
            </a:extLst>
          </p:cNvPr>
          <p:cNvSpPr/>
          <p:nvPr/>
        </p:nvSpPr>
        <p:spPr>
          <a:xfrm>
            <a:off x="6722896" y="1219201"/>
            <a:ext cx="4724400" cy="4762500"/>
          </a:xfrm>
          <a:custGeom>
            <a:avLst/>
            <a:gdLst/>
            <a:ahLst/>
            <a:cxnLst/>
            <a:rect l="l" t="t" r="r" b="b"/>
            <a:pathLst>
              <a:path w="9332001" h="9647745">
                <a:moveTo>
                  <a:pt x="0" y="0"/>
                </a:moveTo>
                <a:lnTo>
                  <a:pt x="9332001" y="0"/>
                </a:lnTo>
                <a:lnTo>
                  <a:pt x="9332001" y="9647746"/>
                </a:lnTo>
                <a:lnTo>
                  <a:pt x="0" y="964774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2" name="TextBox 31">
            <a:extLst>
              <a:ext uri="{FF2B5EF4-FFF2-40B4-BE49-F238E27FC236}">
                <a16:creationId xmlns:a16="http://schemas.microsoft.com/office/drawing/2014/main" id="{A13F895C-615D-C019-CE54-0B6A4B1FAA32}"/>
              </a:ext>
            </a:extLst>
          </p:cNvPr>
          <p:cNvSpPr txBox="1"/>
          <p:nvPr/>
        </p:nvSpPr>
        <p:spPr>
          <a:xfrm>
            <a:off x="203200" y="2516177"/>
            <a:ext cx="5265905" cy="968663"/>
          </a:xfrm>
          <a:prstGeom prst="rect">
            <a:avLst/>
          </a:prstGeom>
        </p:spPr>
        <p:txBody>
          <a:bodyPr wrap="square" lIns="0" tIns="0" rIns="0" bIns="0" rtlCol="0" anchor="t">
            <a:spAutoFit/>
          </a:bodyPr>
          <a:lstStyle/>
          <a:p>
            <a:pPr>
              <a:lnSpc>
                <a:spcPts val="3945"/>
              </a:lnSpc>
            </a:pPr>
            <a:r>
              <a:rPr lang="en-IN" sz="3200" b="1">
                <a:solidFill>
                  <a:schemeClr val="bg1"/>
                </a:solidFill>
                <a:latin typeface="72 Brand" panose="020B0604020202020204" charset="0"/>
                <a:cs typeface="72 Brand" panose="020B0604020202020204" charset="0"/>
              </a:rPr>
              <a:t>Vendor Risk Analysis using SAP Vendor Aging</a:t>
            </a:r>
            <a:endParaRPr lang="en-US" sz="2667" b="1" i="1">
              <a:solidFill>
                <a:schemeClr val="bg1"/>
              </a:solidFill>
              <a:latin typeface="72 Brand" panose="020B0604020202020204" charset="0"/>
              <a:cs typeface="72 Brand" panose="020B0604020202020204" charset="0"/>
            </a:endParaRPr>
          </a:p>
        </p:txBody>
      </p:sp>
      <p:sp>
        <p:nvSpPr>
          <p:cNvPr id="6" name="Freeform 4">
            <a:extLst>
              <a:ext uri="{FF2B5EF4-FFF2-40B4-BE49-F238E27FC236}">
                <a16:creationId xmlns:a16="http://schemas.microsoft.com/office/drawing/2014/main" id="{7E1E7D0C-F7C6-A27C-60A8-6D15E23B8C3B}"/>
              </a:ext>
            </a:extLst>
          </p:cNvPr>
          <p:cNvSpPr/>
          <p:nvPr/>
        </p:nvSpPr>
        <p:spPr>
          <a:xfrm>
            <a:off x="7823201" y="2093643"/>
            <a:ext cx="2874391" cy="2816763"/>
          </a:xfrm>
          <a:custGeom>
            <a:avLst/>
            <a:gdLst/>
            <a:ahLst/>
            <a:cxnLst/>
            <a:rect l="l" t="t" r="r" b="b"/>
            <a:pathLst>
              <a:path w="833955" h="831593">
                <a:moveTo>
                  <a:pt x="416977" y="0"/>
                </a:moveTo>
                <a:cubicBezTo>
                  <a:pt x="186687" y="0"/>
                  <a:pt x="0" y="186158"/>
                  <a:pt x="0" y="415797"/>
                </a:cubicBezTo>
                <a:cubicBezTo>
                  <a:pt x="0" y="645435"/>
                  <a:pt x="186687" y="831593"/>
                  <a:pt x="416977" y="831593"/>
                </a:cubicBezTo>
                <a:cubicBezTo>
                  <a:pt x="647268" y="831593"/>
                  <a:pt x="833955" y="645435"/>
                  <a:pt x="833955" y="415797"/>
                </a:cubicBezTo>
                <a:cubicBezTo>
                  <a:pt x="833955" y="186158"/>
                  <a:pt x="647268" y="0"/>
                  <a:pt x="416977" y="0"/>
                </a:cubicBezTo>
                <a:close/>
              </a:path>
            </a:pathLst>
          </a:custGeom>
          <a:blipFill>
            <a:blip r:embed="rId6"/>
            <a:stretch>
              <a:fillRect l="-24787" r="-24787"/>
            </a:stretch>
          </a:blipFill>
        </p:spPr>
        <p:txBody>
          <a:bodyPr/>
          <a:lstStyle/>
          <a:p>
            <a:endParaRPr lang="en-IN" sz="1200"/>
          </a:p>
        </p:txBody>
      </p:sp>
    </p:spTree>
    <p:extLst>
      <p:ext uri="{BB962C8B-B14F-4D97-AF65-F5344CB8AC3E}">
        <p14:creationId xmlns:p14="http://schemas.microsoft.com/office/powerpoint/2010/main" val="2351069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4" name="Image 1" descr="preencoded.png"/>
          <p:cNvPicPr>
            <a:picLocks noChangeAspect="1"/>
          </p:cNvPicPr>
          <p:nvPr/>
        </p:nvPicPr>
        <p:blipFill>
          <a:blip r:embed="rId3"/>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Problem Statement</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Why Vendor Aging Analysis is Critical</a:t>
            </a:r>
            <a:endParaRPr lang="en-US" sz="1300" dirty="0"/>
          </a:p>
        </p:txBody>
      </p:sp>
      <p:sp>
        <p:nvSpPr>
          <p:cNvPr id="8" name="Shape 4"/>
          <p:cNvSpPr/>
          <p:nvPr/>
        </p:nvSpPr>
        <p:spPr>
          <a:xfrm>
            <a:off x="320040" y="1691640"/>
            <a:ext cx="5303520" cy="2240280"/>
          </a:xfrm>
          <a:prstGeom prst="roundRect">
            <a:avLst>
              <a:gd name="adj" fmla="val 4082"/>
            </a:avLst>
          </a:prstGeom>
          <a:solidFill>
            <a:srgbClr val="EDF3FC"/>
          </a:solidFill>
          <a:ln w="15240">
            <a:solidFill>
              <a:srgbClr val="BBDEFB"/>
            </a:solidFill>
            <a:prstDash val="solid"/>
          </a:ln>
        </p:spPr>
      </p:sp>
      <p:sp>
        <p:nvSpPr>
          <p:cNvPr id="9" name="Text 5"/>
          <p:cNvSpPr/>
          <p:nvPr/>
        </p:nvSpPr>
        <p:spPr>
          <a:xfrm>
            <a:off x="502920" y="1783080"/>
            <a:ext cx="4937760" cy="347472"/>
          </a:xfrm>
          <a:prstGeom prst="rect">
            <a:avLst/>
          </a:prstGeom>
          <a:noFill/>
          <a:ln/>
        </p:spPr>
        <p:txBody>
          <a:bodyPr wrap="square" rtlCol="0" anchor="ctr"/>
          <a:lstStyle/>
          <a:p>
            <a:pPr marL="0" indent="0">
              <a:buNone/>
            </a:pPr>
            <a:r>
              <a:rPr lang="en-US" sz="1300" b="1" dirty="0">
                <a:solidFill>
                  <a:srgbClr val="1F3A6E"/>
                </a:solidFill>
                <a:latin typeface="Calibri" pitchFamily="34" charset="0"/>
                <a:ea typeface="Calibri" pitchFamily="34" charset="-122"/>
                <a:cs typeface="Calibri" pitchFamily="34" charset="-120"/>
              </a:rPr>
              <a:t>Business Context</a:t>
            </a:r>
            <a:endParaRPr lang="en-US" sz="1300" dirty="0"/>
          </a:p>
        </p:txBody>
      </p:sp>
      <p:sp>
        <p:nvSpPr>
          <p:cNvPr id="10" name="Text 6"/>
          <p:cNvSpPr/>
          <p:nvPr/>
        </p:nvSpPr>
        <p:spPr>
          <a:xfrm>
            <a:off x="502920" y="2194560"/>
            <a:ext cx="4937760" cy="1600200"/>
          </a:xfrm>
          <a:prstGeom prst="rect">
            <a:avLst/>
          </a:prstGeom>
          <a:noFill/>
          <a:ln/>
        </p:spPr>
        <p:txBody>
          <a:bodyPr wrap="square" rtlCol="0" anchor="t"/>
          <a:lstStyle/>
          <a:p>
            <a:pPr marL="0" indent="0">
              <a:buNone/>
            </a:pPr>
            <a:r>
              <a:rPr lang="en-US" sz="1150" dirty="0">
                <a:solidFill>
                  <a:srgbClr val="37474F"/>
                </a:solidFill>
                <a:latin typeface="Calibri" pitchFamily="34" charset="0"/>
                <a:ea typeface="Calibri" pitchFamily="34" charset="-122"/>
                <a:cs typeface="Calibri" pitchFamily="34" charset="-120"/>
              </a:rPr>
              <a:t>In every organization, vendors supply goods and services on credit. The company records these unpaid liabilities in SAP Financial Accounting (SAP-FI) under Accounts Payable (AP).</a:t>
            </a:r>
            <a:endParaRPr lang="en-US" sz="1150" dirty="0"/>
          </a:p>
          <a:p>
            <a:pPr marL="0" indent="0">
              <a:buNone/>
            </a:pPr>
            <a:endParaRPr lang="en-US" sz="1150" dirty="0"/>
          </a:p>
          <a:p>
            <a:pPr marL="0" indent="0">
              <a:buNone/>
            </a:pPr>
            <a:r>
              <a:rPr lang="en-US" sz="1150" dirty="0">
                <a:solidFill>
                  <a:srgbClr val="37474F"/>
                </a:solidFill>
                <a:latin typeface="Calibri" pitchFamily="34" charset="0"/>
                <a:ea typeface="Calibri" pitchFamily="34" charset="-122"/>
                <a:cs typeface="Calibri" pitchFamily="34" charset="-120"/>
              </a:rPr>
              <a:t>When invoices exceed their credit period, they become overdue — creating significant financial and operational risk that must be actively monitored.</a:t>
            </a:r>
            <a:endParaRPr lang="en-US" sz="1150" dirty="0"/>
          </a:p>
        </p:txBody>
      </p:sp>
      <p:sp>
        <p:nvSpPr>
          <p:cNvPr id="11" name="Shape 7"/>
          <p:cNvSpPr/>
          <p:nvPr/>
        </p:nvSpPr>
        <p:spPr>
          <a:xfrm>
            <a:off x="5989320" y="1691640"/>
            <a:ext cx="2834640" cy="1051560"/>
          </a:xfrm>
          <a:prstGeom prst="roundRect">
            <a:avLst>
              <a:gd name="adj" fmla="val 8696"/>
            </a:avLst>
          </a:prstGeom>
          <a:solidFill>
            <a:srgbClr val="FFFFFF"/>
          </a:solidFill>
          <a:ln w="15240">
            <a:solidFill>
              <a:srgbClr val="BBDEFB"/>
            </a:solidFill>
            <a:prstDash val="solid"/>
          </a:ln>
        </p:spPr>
      </p:sp>
      <p:sp>
        <p:nvSpPr>
          <p:cNvPr id="12" name="Shape 8"/>
          <p:cNvSpPr/>
          <p:nvPr/>
        </p:nvSpPr>
        <p:spPr>
          <a:xfrm>
            <a:off x="5989320" y="1691640"/>
            <a:ext cx="64008" cy="1051560"/>
          </a:xfrm>
          <a:prstGeom prst="rect">
            <a:avLst/>
          </a:prstGeom>
          <a:solidFill>
            <a:srgbClr val="E53935"/>
          </a:solidFill>
          <a:ln w="12700">
            <a:solidFill>
              <a:srgbClr val="E53935"/>
            </a:solidFill>
            <a:prstDash val="solid"/>
          </a:ln>
        </p:spPr>
      </p:sp>
      <p:sp>
        <p:nvSpPr>
          <p:cNvPr id="13" name="Text 9"/>
          <p:cNvSpPr/>
          <p:nvPr/>
        </p:nvSpPr>
        <p:spPr>
          <a:xfrm>
            <a:off x="6153912" y="1856232"/>
            <a:ext cx="2560320" cy="320040"/>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  Supply Interruption</a:t>
            </a:r>
            <a:endParaRPr lang="en-US" sz="1200" dirty="0"/>
          </a:p>
        </p:txBody>
      </p:sp>
      <p:sp>
        <p:nvSpPr>
          <p:cNvPr id="14" name="Text 10"/>
          <p:cNvSpPr/>
          <p:nvPr/>
        </p:nvSpPr>
        <p:spPr>
          <a:xfrm>
            <a:off x="6153912" y="2194560"/>
            <a:ext cx="256032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Vendor blocks new orders</a:t>
            </a:r>
            <a:endParaRPr lang="en-US" sz="1050" dirty="0"/>
          </a:p>
        </p:txBody>
      </p:sp>
      <p:sp>
        <p:nvSpPr>
          <p:cNvPr id="15" name="Shape 11"/>
          <p:cNvSpPr/>
          <p:nvPr/>
        </p:nvSpPr>
        <p:spPr>
          <a:xfrm>
            <a:off x="9006840" y="1691640"/>
            <a:ext cx="2834640" cy="1051560"/>
          </a:xfrm>
          <a:prstGeom prst="roundRect">
            <a:avLst>
              <a:gd name="adj" fmla="val 8696"/>
            </a:avLst>
          </a:prstGeom>
          <a:solidFill>
            <a:srgbClr val="FFFFFF"/>
          </a:solidFill>
          <a:ln w="15240">
            <a:solidFill>
              <a:srgbClr val="BBDEFB"/>
            </a:solidFill>
            <a:prstDash val="solid"/>
          </a:ln>
        </p:spPr>
      </p:sp>
      <p:sp>
        <p:nvSpPr>
          <p:cNvPr id="16" name="Shape 12"/>
          <p:cNvSpPr/>
          <p:nvPr/>
        </p:nvSpPr>
        <p:spPr>
          <a:xfrm>
            <a:off x="9006840" y="1691640"/>
            <a:ext cx="64008" cy="1051560"/>
          </a:xfrm>
          <a:prstGeom prst="rect">
            <a:avLst/>
          </a:prstGeom>
          <a:solidFill>
            <a:srgbClr val="F57C00"/>
          </a:solidFill>
          <a:ln w="12700">
            <a:solidFill>
              <a:srgbClr val="F57C00"/>
            </a:solidFill>
            <a:prstDash val="solid"/>
          </a:ln>
        </p:spPr>
      </p:sp>
      <p:sp>
        <p:nvSpPr>
          <p:cNvPr id="17" name="Text 13"/>
          <p:cNvSpPr/>
          <p:nvPr/>
        </p:nvSpPr>
        <p:spPr>
          <a:xfrm>
            <a:off x="9171432" y="1856232"/>
            <a:ext cx="2560320" cy="320040"/>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  Penalty Interest</a:t>
            </a:r>
            <a:endParaRPr lang="en-US" sz="1200" dirty="0"/>
          </a:p>
        </p:txBody>
      </p:sp>
      <p:sp>
        <p:nvSpPr>
          <p:cNvPr id="18" name="Text 14"/>
          <p:cNvSpPr/>
          <p:nvPr/>
        </p:nvSpPr>
        <p:spPr>
          <a:xfrm>
            <a:off x="9171432" y="2194560"/>
            <a:ext cx="256032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Additional charges accumulate</a:t>
            </a:r>
            <a:endParaRPr lang="en-US" sz="1050" dirty="0"/>
          </a:p>
        </p:txBody>
      </p:sp>
      <p:sp>
        <p:nvSpPr>
          <p:cNvPr id="19" name="Shape 15"/>
          <p:cNvSpPr/>
          <p:nvPr/>
        </p:nvSpPr>
        <p:spPr>
          <a:xfrm>
            <a:off x="5989320" y="2880360"/>
            <a:ext cx="2834640" cy="1051560"/>
          </a:xfrm>
          <a:prstGeom prst="roundRect">
            <a:avLst>
              <a:gd name="adj" fmla="val 8696"/>
            </a:avLst>
          </a:prstGeom>
          <a:solidFill>
            <a:srgbClr val="FFFFFF"/>
          </a:solidFill>
          <a:ln w="15240">
            <a:solidFill>
              <a:srgbClr val="BBDEFB"/>
            </a:solidFill>
            <a:prstDash val="solid"/>
          </a:ln>
        </p:spPr>
      </p:sp>
      <p:sp>
        <p:nvSpPr>
          <p:cNvPr id="20" name="Shape 16"/>
          <p:cNvSpPr/>
          <p:nvPr/>
        </p:nvSpPr>
        <p:spPr>
          <a:xfrm>
            <a:off x="5989320" y="2880360"/>
            <a:ext cx="64008" cy="1051560"/>
          </a:xfrm>
          <a:prstGeom prst="rect">
            <a:avLst/>
          </a:prstGeom>
          <a:solidFill>
            <a:srgbClr val="8064A2"/>
          </a:solidFill>
          <a:ln w="12700">
            <a:solidFill>
              <a:srgbClr val="8064A2"/>
            </a:solidFill>
            <a:prstDash val="solid"/>
          </a:ln>
        </p:spPr>
      </p:sp>
      <p:sp>
        <p:nvSpPr>
          <p:cNvPr id="21" name="Text 17"/>
          <p:cNvSpPr/>
          <p:nvPr/>
        </p:nvSpPr>
        <p:spPr>
          <a:xfrm>
            <a:off x="6153912" y="3044952"/>
            <a:ext cx="2560320" cy="320040"/>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  Legal Action</a:t>
            </a:r>
            <a:endParaRPr lang="en-US" sz="1200" dirty="0"/>
          </a:p>
        </p:txBody>
      </p:sp>
      <p:sp>
        <p:nvSpPr>
          <p:cNvPr id="22" name="Text 18"/>
          <p:cNvSpPr/>
          <p:nvPr/>
        </p:nvSpPr>
        <p:spPr>
          <a:xfrm>
            <a:off x="6153912" y="3383280"/>
            <a:ext cx="256032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Litigation and disputes</a:t>
            </a:r>
            <a:endParaRPr lang="en-US" sz="1050" dirty="0"/>
          </a:p>
        </p:txBody>
      </p:sp>
      <p:sp>
        <p:nvSpPr>
          <p:cNvPr id="23" name="Shape 19"/>
          <p:cNvSpPr/>
          <p:nvPr/>
        </p:nvSpPr>
        <p:spPr>
          <a:xfrm>
            <a:off x="9006840" y="2880360"/>
            <a:ext cx="2834640" cy="1051560"/>
          </a:xfrm>
          <a:prstGeom prst="roundRect">
            <a:avLst>
              <a:gd name="adj" fmla="val 8696"/>
            </a:avLst>
          </a:prstGeom>
          <a:solidFill>
            <a:srgbClr val="FFFFFF"/>
          </a:solidFill>
          <a:ln w="15240">
            <a:solidFill>
              <a:srgbClr val="BBDEFB"/>
            </a:solidFill>
            <a:prstDash val="solid"/>
          </a:ln>
        </p:spPr>
      </p:sp>
      <p:sp>
        <p:nvSpPr>
          <p:cNvPr id="24" name="Shape 20"/>
          <p:cNvSpPr/>
          <p:nvPr/>
        </p:nvSpPr>
        <p:spPr>
          <a:xfrm>
            <a:off x="9006840" y="2880360"/>
            <a:ext cx="64008" cy="1051560"/>
          </a:xfrm>
          <a:prstGeom prst="rect">
            <a:avLst/>
          </a:prstGeom>
          <a:solidFill>
            <a:srgbClr val="1565C0"/>
          </a:solidFill>
          <a:ln w="12700">
            <a:solidFill>
              <a:srgbClr val="1565C0"/>
            </a:solidFill>
            <a:prstDash val="solid"/>
          </a:ln>
        </p:spPr>
      </p:sp>
      <p:sp>
        <p:nvSpPr>
          <p:cNvPr id="25" name="Text 21"/>
          <p:cNvSpPr/>
          <p:nvPr/>
        </p:nvSpPr>
        <p:spPr>
          <a:xfrm>
            <a:off x="9171432" y="3044952"/>
            <a:ext cx="2560320" cy="320040"/>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  Cash Flow Issues</a:t>
            </a:r>
            <a:endParaRPr lang="en-US" sz="1200" dirty="0"/>
          </a:p>
        </p:txBody>
      </p:sp>
      <p:sp>
        <p:nvSpPr>
          <p:cNvPr id="26" name="Text 22"/>
          <p:cNvSpPr/>
          <p:nvPr/>
        </p:nvSpPr>
        <p:spPr>
          <a:xfrm>
            <a:off x="9171432" y="3383280"/>
            <a:ext cx="256032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Working capital erosion</a:t>
            </a:r>
            <a:endParaRPr lang="en-US" sz="1050" dirty="0"/>
          </a:p>
        </p:txBody>
      </p:sp>
      <p:sp>
        <p:nvSpPr>
          <p:cNvPr id="27" name="Shape 23"/>
          <p:cNvSpPr/>
          <p:nvPr/>
        </p:nvSpPr>
        <p:spPr>
          <a:xfrm>
            <a:off x="320040" y="4069080"/>
            <a:ext cx="11521440" cy="777240"/>
          </a:xfrm>
          <a:prstGeom prst="roundRect">
            <a:avLst>
              <a:gd name="adj" fmla="val 11765"/>
            </a:avLst>
          </a:prstGeom>
          <a:solidFill>
            <a:srgbClr val="1F3A6E"/>
          </a:solidFill>
          <a:ln w="15240">
            <a:solidFill>
              <a:srgbClr val="1F3A6E"/>
            </a:solidFill>
            <a:prstDash val="solid"/>
          </a:ln>
        </p:spPr>
      </p:sp>
      <p:sp>
        <p:nvSpPr>
          <p:cNvPr id="28" name="Text 24"/>
          <p:cNvSpPr/>
          <p:nvPr/>
        </p:nvSpPr>
        <p:spPr>
          <a:xfrm>
            <a:off x="502920" y="4133088"/>
            <a:ext cx="11155680" cy="640080"/>
          </a:xfrm>
          <a:prstGeom prst="rect">
            <a:avLst/>
          </a:prstGeom>
          <a:noFill/>
          <a:ln/>
        </p:spPr>
        <p:txBody>
          <a:bodyPr wrap="square"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Solution: Classify unpaid invoices into aging buckets, apply ML clustering, identify top-risk vendors, and generate AI-driven insights for proactive decision-making.</a:t>
            </a:r>
            <a:endParaRPr lang="en-US" sz="1250" dirty="0"/>
          </a:p>
        </p:txBody>
      </p:sp>
      <p:sp>
        <p:nvSpPr>
          <p:cNvPr id="29" name="Text 25"/>
          <p:cNvSpPr/>
          <p:nvPr/>
        </p:nvSpPr>
        <p:spPr>
          <a:xfrm>
            <a:off x="320040" y="5010912"/>
            <a:ext cx="2743200" cy="320040"/>
          </a:xfrm>
          <a:prstGeom prst="rect">
            <a:avLst/>
          </a:prstGeom>
          <a:noFill/>
          <a:ln/>
        </p:spPr>
        <p:txBody>
          <a:bodyPr wrap="square" rtlCol="0" anchor="ctr"/>
          <a:lstStyle/>
          <a:p>
            <a:pPr marL="0" indent="0">
              <a:buNone/>
            </a:pPr>
            <a:r>
              <a:rPr lang="en-US" sz="1300" b="1" dirty="0">
                <a:solidFill>
                  <a:srgbClr val="1F3A6E"/>
                </a:solidFill>
                <a:latin typeface="Calibri" pitchFamily="34" charset="0"/>
                <a:ea typeface="Calibri" pitchFamily="34" charset="-122"/>
                <a:cs typeface="Calibri" pitchFamily="34" charset="-120"/>
              </a:rPr>
              <a:t>Key Objectives</a:t>
            </a:r>
            <a:endParaRPr lang="en-US" sz="1300" dirty="0"/>
          </a:p>
        </p:txBody>
      </p:sp>
      <p:sp>
        <p:nvSpPr>
          <p:cNvPr id="30" name="Shape 26"/>
          <p:cNvSpPr/>
          <p:nvPr/>
        </p:nvSpPr>
        <p:spPr>
          <a:xfrm>
            <a:off x="320040" y="5532120"/>
            <a:ext cx="164592" cy="164592"/>
          </a:xfrm>
          <a:prstGeom prst="ellipse">
            <a:avLst/>
          </a:prstGeom>
          <a:solidFill>
            <a:srgbClr val="289BE8"/>
          </a:solidFill>
          <a:ln w="12700">
            <a:solidFill>
              <a:srgbClr val="289BE8"/>
            </a:solidFill>
            <a:prstDash val="solid"/>
          </a:ln>
        </p:spPr>
      </p:sp>
      <p:sp>
        <p:nvSpPr>
          <p:cNvPr id="31" name="Text 27"/>
          <p:cNvSpPr/>
          <p:nvPr/>
        </p:nvSpPr>
        <p:spPr>
          <a:xfrm>
            <a:off x="594360" y="5440680"/>
            <a:ext cx="260604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Classify invoices into 5 aging buckets</a:t>
            </a:r>
            <a:endParaRPr lang="en-US" sz="1050" dirty="0"/>
          </a:p>
        </p:txBody>
      </p:sp>
      <p:sp>
        <p:nvSpPr>
          <p:cNvPr id="32" name="Shape 28"/>
          <p:cNvSpPr/>
          <p:nvPr/>
        </p:nvSpPr>
        <p:spPr>
          <a:xfrm>
            <a:off x="3246120" y="5532120"/>
            <a:ext cx="164592" cy="164592"/>
          </a:xfrm>
          <a:prstGeom prst="ellipse">
            <a:avLst/>
          </a:prstGeom>
          <a:solidFill>
            <a:srgbClr val="289BE8"/>
          </a:solidFill>
          <a:ln w="12700">
            <a:solidFill>
              <a:srgbClr val="289BE8"/>
            </a:solidFill>
            <a:prstDash val="solid"/>
          </a:ln>
        </p:spPr>
      </p:sp>
      <p:sp>
        <p:nvSpPr>
          <p:cNvPr id="33" name="Text 29"/>
          <p:cNvSpPr/>
          <p:nvPr/>
        </p:nvSpPr>
        <p:spPr>
          <a:xfrm>
            <a:off x="3520440" y="5440680"/>
            <a:ext cx="260604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K-Means ML clustering by payment risk</a:t>
            </a:r>
            <a:endParaRPr lang="en-US" sz="1050" dirty="0"/>
          </a:p>
        </p:txBody>
      </p:sp>
      <p:sp>
        <p:nvSpPr>
          <p:cNvPr id="34" name="Shape 30"/>
          <p:cNvSpPr/>
          <p:nvPr/>
        </p:nvSpPr>
        <p:spPr>
          <a:xfrm>
            <a:off x="6172200" y="5532120"/>
            <a:ext cx="164592" cy="164592"/>
          </a:xfrm>
          <a:prstGeom prst="ellipse">
            <a:avLst/>
          </a:prstGeom>
          <a:solidFill>
            <a:srgbClr val="289BE8"/>
          </a:solidFill>
          <a:ln w="12700">
            <a:solidFill>
              <a:srgbClr val="289BE8"/>
            </a:solidFill>
            <a:prstDash val="solid"/>
          </a:ln>
        </p:spPr>
      </p:sp>
      <p:sp>
        <p:nvSpPr>
          <p:cNvPr id="35" name="Text 31"/>
          <p:cNvSpPr/>
          <p:nvPr/>
        </p:nvSpPr>
        <p:spPr>
          <a:xfrm>
            <a:off x="6446520" y="5440680"/>
            <a:ext cx="260604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Identify Top 10 overdue vendors</a:t>
            </a:r>
            <a:endParaRPr lang="en-US" sz="1050" dirty="0"/>
          </a:p>
        </p:txBody>
      </p:sp>
      <p:sp>
        <p:nvSpPr>
          <p:cNvPr id="36" name="Shape 32"/>
          <p:cNvSpPr/>
          <p:nvPr/>
        </p:nvSpPr>
        <p:spPr>
          <a:xfrm>
            <a:off x="9098280" y="5532120"/>
            <a:ext cx="164592" cy="164592"/>
          </a:xfrm>
          <a:prstGeom prst="ellipse">
            <a:avLst/>
          </a:prstGeom>
          <a:solidFill>
            <a:srgbClr val="289BE8"/>
          </a:solidFill>
          <a:ln w="12700">
            <a:solidFill>
              <a:srgbClr val="289BE8"/>
            </a:solidFill>
            <a:prstDash val="solid"/>
          </a:ln>
        </p:spPr>
      </p:sp>
      <p:sp>
        <p:nvSpPr>
          <p:cNvPr id="37" name="Text 33"/>
          <p:cNvSpPr/>
          <p:nvPr/>
        </p:nvSpPr>
        <p:spPr>
          <a:xfrm>
            <a:off x="9372600" y="5440680"/>
            <a:ext cx="260604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AI chatbot for natural language queries</a:t>
            </a:r>
            <a:endParaRPr lang="en-US" sz="1050" dirty="0"/>
          </a:p>
        </p:txBody>
      </p:sp>
      <p:pic>
        <p:nvPicPr>
          <p:cNvPr id="39" name="Picture 38">
            <a:extLst>
              <a:ext uri="{FF2B5EF4-FFF2-40B4-BE49-F238E27FC236}">
                <a16:creationId xmlns:a16="http://schemas.microsoft.com/office/drawing/2014/main" id="{A59E8401-86FB-EBC4-8EB2-BFFD855E7CB1}"/>
              </a:ext>
            </a:extLst>
          </p:cNvPr>
          <p:cNvPicPr>
            <a:picLocks noChangeAspect="1"/>
          </p:cNvPicPr>
          <p:nvPr/>
        </p:nvPicPr>
        <p:blipFill>
          <a:blip r:embed="rId4"/>
          <a:stretch>
            <a:fillRect/>
          </a:stretch>
        </p:blipFill>
        <p:spPr>
          <a:xfrm>
            <a:off x="10196866" y="128703"/>
            <a:ext cx="1836544" cy="7575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4" name="Image 1" descr="preencoded.png"/>
          <p:cNvPicPr>
            <a:picLocks noChangeAspect="1"/>
          </p:cNvPicPr>
          <p:nvPr/>
        </p:nvPicPr>
        <p:blipFill>
          <a:blip r:embed="rId3"/>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Business Impact of the Problem</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Consequences of Unmonitored Vendor Aging</a:t>
            </a:r>
            <a:endParaRPr lang="en-US" sz="1300" dirty="0"/>
          </a:p>
        </p:txBody>
      </p:sp>
      <p:sp>
        <p:nvSpPr>
          <p:cNvPr id="8" name="Shape 4"/>
          <p:cNvSpPr/>
          <p:nvPr/>
        </p:nvSpPr>
        <p:spPr>
          <a:xfrm>
            <a:off x="320040" y="1691640"/>
            <a:ext cx="2743200" cy="1417320"/>
          </a:xfrm>
          <a:prstGeom prst="roundRect">
            <a:avLst>
              <a:gd name="adj" fmla="val 6452"/>
            </a:avLst>
          </a:prstGeom>
          <a:solidFill>
            <a:srgbClr val="F0F7FF"/>
          </a:solidFill>
          <a:ln w="15240">
            <a:solidFill>
              <a:srgbClr val="BBDEFB"/>
            </a:solidFill>
            <a:prstDash val="solid"/>
          </a:ln>
        </p:spPr>
      </p:sp>
      <p:sp>
        <p:nvSpPr>
          <p:cNvPr id="9" name="Shape 5"/>
          <p:cNvSpPr/>
          <p:nvPr/>
        </p:nvSpPr>
        <p:spPr>
          <a:xfrm>
            <a:off x="320040" y="1691640"/>
            <a:ext cx="2743200" cy="54864"/>
          </a:xfrm>
          <a:prstGeom prst="rect">
            <a:avLst/>
          </a:prstGeom>
          <a:solidFill>
            <a:srgbClr val="1565C0"/>
          </a:solidFill>
          <a:ln w="12700">
            <a:solidFill>
              <a:srgbClr val="1565C0"/>
            </a:solidFill>
            <a:prstDash val="solid"/>
          </a:ln>
        </p:spPr>
      </p:sp>
      <p:sp>
        <p:nvSpPr>
          <p:cNvPr id="10" name="Text 6"/>
          <p:cNvSpPr/>
          <p:nvPr/>
        </p:nvSpPr>
        <p:spPr>
          <a:xfrm>
            <a:off x="320040" y="1810512"/>
            <a:ext cx="2743200" cy="713232"/>
          </a:xfrm>
          <a:prstGeom prst="rect">
            <a:avLst/>
          </a:prstGeom>
          <a:noFill/>
          <a:ln/>
        </p:spPr>
        <p:txBody>
          <a:bodyPr wrap="square" rtlCol="0" anchor="ctr"/>
          <a:lstStyle/>
          <a:p>
            <a:pPr marL="0" indent="0" algn="ctr">
              <a:buNone/>
            </a:pPr>
            <a:r>
              <a:rPr lang="en-US" sz="4200" b="1" dirty="0">
                <a:solidFill>
                  <a:srgbClr val="1565C0"/>
                </a:solidFill>
                <a:latin typeface="Calibri" pitchFamily="34" charset="0"/>
                <a:ea typeface="Calibri" pitchFamily="34" charset="-122"/>
                <a:cs typeface="Calibri" pitchFamily="34" charset="-120"/>
              </a:rPr>
              <a:t>5</a:t>
            </a:r>
            <a:endParaRPr lang="en-US" sz="4200" dirty="0"/>
          </a:p>
        </p:txBody>
      </p:sp>
      <p:sp>
        <p:nvSpPr>
          <p:cNvPr id="11" name="Text 7"/>
          <p:cNvSpPr/>
          <p:nvPr/>
        </p:nvSpPr>
        <p:spPr>
          <a:xfrm>
            <a:off x="320040" y="2514600"/>
            <a:ext cx="2743200" cy="274320"/>
          </a:xfrm>
          <a:prstGeom prst="rect">
            <a:avLst/>
          </a:prstGeom>
          <a:noFill/>
          <a:ln/>
        </p:spPr>
        <p:txBody>
          <a:bodyPr wrap="square" rtlCol="0" anchor="ctr"/>
          <a:lstStyle/>
          <a:p>
            <a:pPr marL="0" indent="0" algn="ctr">
              <a:buNone/>
            </a:pPr>
            <a:r>
              <a:rPr lang="en-US" sz="1200" b="1" dirty="0">
                <a:solidFill>
                  <a:srgbClr val="1F3A6E"/>
                </a:solidFill>
                <a:latin typeface="Calibri" pitchFamily="34" charset="0"/>
                <a:ea typeface="Calibri" pitchFamily="34" charset="-122"/>
                <a:cs typeface="Calibri" pitchFamily="34" charset="-120"/>
              </a:rPr>
              <a:t>Aging Buckets</a:t>
            </a:r>
            <a:endParaRPr lang="en-US" sz="1200" dirty="0"/>
          </a:p>
        </p:txBody>
      </p:sp>
      <p:sp>
        <p:nvSpPr>
          <p:cNvPr id="12" name="Text 8"/>
          <p:cNvSpPr/>
          <p:nvPr/>
        </p:nvSpPr>
        <p:spPr>
          <a:xfrm>
            <a:off x="320040" y="2798064"/>
            <a:ext cx="2743200" cy="256032"/>
          </a:xfrm>
          <a:prstGeom prst="rect">
            <a:avLst/>
          </a:prstGeom>
          <a:noFill/>
          <a:ln/>
        </p:spPr>
        <p:txBody>
          <a:bodyPr wrap="square" rtlCol="0" anchor="ctr"/>
          <a:lstStyle/>
          <a:p>
            <a:pPr marL="0" indent="0" algn="ctr">
              <a:buNone/>
            </a:pPr>
            <a:r>
              <a:rPr lang="en-US" sz="950" i="1" dirty="0">
                <a:solidFill>
                  <a:srgbClr val="B0BEC5"/>
                </a:solidFill>
                <a:latin typeface="Calibri" pitchFamily="34" charset="0"/>
                <a:ea typeface="Calibri" pitchFamily="34" charset="-122"/>
                <a:cs typeface="Calibri" pitchFamily="34" charset="-120"/>
              </a:rPr>
              <a:t>0–30 to 120+ days</a:t>
            </a:r>
            <a:endParaRPr lang="en-US" sz="950" dirty="0"/>
          </a:p>
        </p:txBody>
      </p:sp>
      <p:sp>
        <p:nvSpPr>
          <p:cNvPr id="13" name="Shape 9"/>
          <p:cNvSpPr/>
          <p:nvPr/>
        </p:nvSpPr>
        <p:spPr>
          <a:xfrm>
            <a:off x="3264408" y="1691640"/>
            <a:ext cx="2743200" cy="1417320"/>
          </a:xfrm>
          <a:prstGeom prst="roundRect">
            <a:avLst>
              <a:gd name="adj" fmla="val 6452"/>
            </a:avLst>
          </a:prstGeom>
          <a:solidFill>
            <a:srgbClr val="F0F7FF"/>
          </a:solidFill>
          <a:ln w="15240">
            <a:solidFill>
              <a:srgbClr val="BBDEFB"/>
            </a:solidFill>
            <a:prstDash val="solid"/>
          </a:ln>
        </p:spPr>
      </p:sp>
      <p:sp>
        <p:nvSpPr>
          <p:cNvPr id="14" name="Shape 10"/>
          <p:cNvSpPr/>
          <p:nvPr/>
        </p:nvSpPr>
        <p:spPr>
          <a:xfrm>
            <a:off x="3264408" y="1691640"/>
            <a:ext cx="2743200" cy="54864"/>
          </a:xfrm>
          <a:prstGeom prst="rect">
            <a:avLst/>
          </a:prstGeom>
          <a:solidFill>
            <a:srgbClr val="E53935"/>
          </a:solidFill>
          <a:ln w="12700">
            <a:solidFill>
              <a:srgbClr val="E53935"/>
            </a:solidFill>
            <a:prstDash val="solid"/>
          </a:ln>
        </p:spPr>
      </p:sp>
      <p:sp>
        <p:nvSpPr>
          <p:cNvPr id="15" name="Text 11"/>
          <p:cNvSpPr/>
          <p:nvPr/>
        </p:nvSpPr>
        <p:spPr>
          <a:xfrm>
            <a:off x="3264408" y="1810512"/>
            <a:ext cx="2743200" cy="713232"/>
          </a:xfrm>
          <a:prstGeom prst="rect">
            <a:avLst/>
          </a:prstGeom>
          <a:noFill/>
          <a:ln/>
        </p:spPr>
        <p:txBody>
          <a:bodyPr wrap="square" rtlCol="0" anchor="ctr"/>
          <a:lstStyle/>
          <a:p>
            <a:pPr marL="0" indent="0" algn="ctr">
              <a:buNone/>
            </a:pPr>
            <a:r>
              <a:rPr lang="en-US" sz="4200" b="1" dirty="0">
                <a:solidFill>
                  <a:srgbClr val="E53935"/>
                </a:solidFill>
                <a:latin typeface="Calibri" pitchFamily="34" charset="0"/>
                <a:ea typeface="Calibri" pitchFamily="34" charset="-122"/>
                <a:cs typeface="Calibri" pitchFamily="34" charset="-120"/>
              </a:rPr>
              <a:t>Top 10</a:t>
            </a:r>
            <a:endParaRPr lang="en-US" sz="4200" dirty="0"/>
          </a:p>
        </p:txBody>
      </p:sp>
      <p:sp>
        <p:nvSpPr>
          <p:cNvPr id="16" name="Text 12"/>
          <p:cNvSpPr/>
          <p:nvPr/>
        </p:nvSpPr>
        <p:spPr>
          <a:xfrm>
            <a:off x="3264408" y="2514600"/>
            <a:ext cx="2743200" cy="274320"/>
          </a:xfrm>
          <a:prstGeom prst="rect">
            <a:avLst/>
          </a:prstGeom>
          <a:noFill/>
          <a:ln/>
        </p:spPr>
        <p:txBody>
          <a:bodyPr wrap="square" rtlCol="0" anchor="ctr"/>
          <a:lstStyle/>
          <a:p>
            <a:pPr marL="0" indent="0" algn="ctr">
              <a:buNone/>
            </a:pPr>
            <a:r>
              <a:rPr lang="en-US" sz="1200" b="1" dirty="0">
                <a:solidFill>
                  <a:srgbClr val="1F3A6E"/>
                </a:solidFill>
                <a:latin typeface="Calibri" pitchFamily="34" charset="0"/>
                <a:ea typeface="Calibri" pitchFamily="34" charset="-122"/>
                <a:cs typeface="Calibri" pitchFamily="34" charset="-120"/>
              </a:rPr>
              <a:t>High-Risk Vendors</a:t>
            </a:r>
            <a:endParaRPr lang="en-US" sz="1200" dirty="0"/>
          </a:p>
        </p:txBody>
      </p:sp>
      <p:sp>
        <p:nvSpPr>
          <p:cNvPr id="17" name="Text 13"/>
          <p:cNvSpPr/>
          <p:nvPr/>
        </p:nvSpPr>
        <p:spPr>
          <a:xfrm>
            <a:off x="3264408" y="2798064"/>
            <a:ext cx="2743200" cy="256032"/>
          </a:xfrm>
          <a:prstGeom prst="rect">
            <a:avLst/>
          </a:prstGeom>
          <a:noFill/>
          <a:ln/>
        </p:spPr>
        <p:txBody>
          <a:bodyPr wrap="square" rtlCol="0" anchor="ctr"/>
          <a:lstStyle/>
          <a:p>
            <a:pPr marL="0" indent="0" algn="ctr">
              <a:buNone/>
            </a:pPr>
            <a:r>
              <a:rPr lang="en-US" sz="950" i="1" dirty="0">
                <a:solidFill>
                  <a:srgbClr val="B0BEC5"/>
                </a:solidFill>
                <a:latin typeface="Calibri" pitchFamily="34" charset="0"/>
                <a:ea typeface="Calibri" pitchFamily="34" charset="-122"/>
                <a:cs typeface="Calibri" pitchFamily="34" charset="-120"/>
              </a:rPr>
              <a:t>Monitored continuously</a:t>
            </a:r>
            <a:endParaRPr lang="en-US" sz="950" dirty="0"/>
          </a:p>
        </p:txBody>
      </p:sp>
      <p:sp>
        <p:nvSpPr>
          <p:cNvPr id="18" name="Shape 14"/>
          <p:cNvSpPr/>
          <p:nvPr/>
        </p:nvSpPr>
        <p:spPr>
          <a:xfrm>
            <a:off x="6208776" y="1691640"/>
            <a:ext cx="2743200" cy="1417320"/>
          </a:xfrm>
          <a:prstGeom prst="roundRect">
            <a:avLst>
              <a:gd name="adj" fmla="val 6452"/>
            </a:avLst>
          </a:prstGeom>
          <a:solidFill>
            <a:srgbClr val="F0F7FF"/>
          </a:solidFill>
          <a:ln w="15240">
            <a:solidFill>
              <a:srgbClr val="BBDEFB"/>
            </a:solidFill>
            <a:prstDash val="solid"/>
          </a:ln>
        </p:spPr>
      </p:sp>
      <p:sp>
        <p:nvSpPr>
          <p:cNvPr id="19" name="Shape 15"/>
          <p:cNvSpPr/>
          <p:nvPr/>
        </p:nvSpPr>
        <p:spPr>
          <a:xfrm>
            <a:off x="6208776" y="1691640"/>
            <a:ext cx="2743200" cy="54864"/>
          </a:xfrm>
          <a:prstGeom prst="rect">
            <a:avLst/>
          </a:prstGeom>
          <a:solidFill>
            <a:srgbClr val="F79646"/>
          </a:solidFill>
          <a:ln w="12700">
            <a:solidFill>
              <a:srgbClr val="F79646"/>
            </a:solidFill>
            <a:prstDash val="solid"/>
          </a:ln>
        </p:spPr>
      </p:sp>
      <p:sp>
        <p:nvSpPr>
          <p:cNvPr id="20" name="Text 16"/>
          <p:cNvSpPr/>
          <p:nvPr/>
        </p:nvSpPr>
        <p:spPr>
          <a:xfrm>
            <a:off x="6208776" y="1810512"/>
            <a:ext cx="2743200" cy="713232"/>
          </a:xfrm>
          <a:prstGeom prst="rect">
            <a:avLst/>
          </a:prstGeom>
          <a:noFill/>
          <a:ln/>
        </p:spPr>
        <p:txBody>
          <a:bodyPr wrap="square" rtlCol="0" anchor="ctr"/>
          <a:lstStyle/>
          <a:p>
            <a:pPr marL="0" indent="0" algn="ctr">
              <a:buNone/>
            </a:pPr>
            <a:r>
              <a:rPr lang="en-US" sz="4200" b="1" dirty="0">
                <a:solidFill>
                  <a:srgbClr val="F79646"/>
                </a:solidFill>
                <a:latin typeface="Calibri" pitchFamily="34" charset="0"/>
                <a:ea typeface="Calibri" pitchFamily="34" charset="-122"/>
                <a:cs typeface="Calibri" pitchFamily="34" charset="-120"/>
              </a:rPr>
              <a:t>4</a:t>
            </a:r>
            <a:endParaRPr lang="en-US" sz="4200" dirty="0"/>
          </a:p>
        </p:txBody>
      </p:sp>
      <p:sp>
        <p:nvSpPr>
          <p:cNvPr id="21" name="Text 17"/>
          <p:cNvSpPr/>
          <p:nvPr/>
        </p:nvSpPr>
        <p:spPr>
          <a:xfrm>
            <a:off x="6208776" y="2514600"/>
            <a:ext cx="2743200" cy="274320"/>
          </a:xfrm>
          <a:prstGeom prst="rect">
            <a:avLst/>
          </a:prstGeom>
          <a:noFill/>
          <a:ln/>
        </p:spPr>
        <p:txBody>
          <a:bodyPr wrap="square" rtlCol="0" anchor="ctr"/>
          <a:lstStyle/>
          <a:p>
            <a:pPr marL="0" indent="0" algn="ctr">
              <a:buNone/>
            </a:pPr>
            <a:r>
              <a:rPr lang="en-US" sz="1200" b="1" dirty="0">
                <a:solidFill>
                  <a:srgbClr val="1F3A6E"/>
                </a:solidFill>
                <a:latin typeface="Calibri" pitchFamily="34" charset="0"/>
                <a:ea typeface="Calibri" pitchFamily="34" charset="-122"/>
                <a:cs typeface="Calibri" pitchFamily="34" charset="-120"/>
              </a:rPr>
              <a:t>Risk Categories</a:t>
            </a:r>
            <a:endParaRPr lang="en-US" sz="1200" dirty="0"/>
          </a:p>
        </p:txBody>
      </p:sp>
      <p:sp>
        <p:nvSpPr>
          <p:cNvPr id="22" name="Text 18"/>
          <p:cNvSpPr/>
          <p:nvPr/>
        </p:nvSpPr>
        <p:spPr>
          <a:xfrm>
            <a:off x="6208776" y="2798064"/>
            <a:ext cx="2743200" cy="256032"/>
          </a:xfrm>
          <a:prstGeom prst="rect">
            <a:avLst/>
          </a:prstGeom>
          <a:noFill/>
          <a:ln/>
        </p:spPr>
        <p:txBody>
          <a:bodyPr wrap="square" rtlCol="0" anchor="ctr"/>
          <a:lstStyle/>
          <a:p>
            <a:pPr marL="0" indent="0" algn="ctr">
              <a:buNone/>
            </a:pPr>
            <a:r>
              <a:rPr lang="en-US" sz="950" i="1" dirty="0">
                <a:solidFill>
                  <a:srgbClr val="B0BEC5"/>
                </a:solidFill>
                <a:latin typeface="Calibri" pitchFamily="34" charset="0"/>
                <a:ea typeface="Calibri" pitchFamily="34" charset="-122"/>
                <a:cs typeface="Calibri" pitchFamily="34" charset="-120"/>
              </a:rPr>
              <a:t>Low → Critical</a:t>
            </a:r>
            <a:endParaRPr lang="en-US" sz="950" dirty="0"/>
          </a:p>
        </p:txBody>
      </p:sp>
      <p:sp>
        <p:nvSpPr>
          <p:cNvPr id="23" name="Shape 19"/>
          <p:cNvSpPr/>
          <p:nvPr/>
        </p:nvSpPr>
        <p:spPr>
          <a:xfrm>
            <a:off x="9153144" y="1691640"/>
            <a:ext cx="2743200" cy="1417320"/>
          </a:xfrm>
          <a:prstGeom prst="roundRect">
            <a:avLst>
              <a:gd name="adj" fmla="val 6452"/>
            </a:avLst>
          </a:prstGeom>
          <a:solidFill>
            <a:srgbClr val="F0F7FF"/>
          </a:solidFill>
          <a:ln w="15240">
            <a:solidFill>
              <a:srgbClr val="BBDEFB"/>
            </a:solidFill>
            <a:prstDash val="solid"/>
          </a:ln>
        </p:spPr>
      </p:sp>
      <p:sp>
        <p:nvSpPr>
          <p:cNvPr id="24" name="Shape 20"/>
          <p:cNvSpPr/>
          <p:nvPr/>
        </p:nvSpPr>
        <p:spPr>
          <a:xfrm>
            <a:off x="9153144" y="1691640"/>
            <a:ext cx="2743200" cy="54864"/>
          </a:xfrm>
          <a:prstGeom prst="rect">
            <a:avLst/>
          </a:prstGeom>
          <a:solidFill>
            <a:srgbClr val="00ACC1"/>
          </a:solidFill>
          <a:ln w="12700">
            <a:solidFill>
              <a:srgbClr val="00ACC1"/>
            </a:solidFill>
            <a:prstDash val="solid"/>
          </a:ln>
        </p:spPr>
      </p:sp>
      <p:sp>
        <p:nvSpPr>
          <p:cNvPr id="25" name="Text 21"/>
          <p:cNvSpPr/>
          <p:nvPr/>
        </p:nvSpPr>
        <p:spPr>
          <a:xfrm>
            <a:off x="9153144" y="1810512"/>
            <a:ext cx="2743200" cy="713232"/>
          </a:xfrm>
          <a:prstGeom prst="rect">
            <a:avLst/>
          </a:prstGeom>
          <a:noFill/>
          <a:ln/>
        </p:spPr>
        <p:txBody>
          <a:bodyPr wrap="square" rtlCol="0" anchor="ctr"/>
          <a:lstStyle/>
          <a:p>
            <a:pPr marL="0" indent="0" algn="ctr">
              <a:buNone/>
            </a:pPr>
            <a:r>
              <a:rPr lang="en-US" sz="4200" b="1" dirty="0">
                <a:solidFill>
                  <a:srgbClr val="00ACC1"/>
                </a:solidFill>
                <a:latin typeface="Calibri" pitchFamily="34" charset="0"/>
                <a:ea typeface="Calibri" pitchFamily="34" charset="-122"/>
                <a:cs typeface="Calibri" pitchFamily="34" charset="-120"/>
              </a:rPr>
              <a:t>0–100</a:t>
            </a:r>
            <a:endParaRPr lang="en-US" sz="4200" dirty="0"/>
          </a:p>
        </p:txBody>
      </p:sp>
      <p:sp>
        <p:nvSpPr>
          <p:cNvPr id="26" name="Text 22"/>
          <p:cNvSpPr/>
          <p:nvPr/>
        </p:nvSpPr>
        <p:spPr>
          <a:xfrm>
            <a:off x="9153144" y="2514600"/>
            <a:ext cx="2743200" cy="274320"/>
          </a:xfrm>
          <a:prstGeom prst="rect">
            <a:avLst/>
          </a:prstGeom>
          <a:noFill/>
          <a:ln/>
        </p:spPr>
        <p:txBody>
          <a:bodyPr wrap="square" rtlCol="0" anchor="ctr"/>
          <a:lstStyle/>
          <a:p>
            <a:pPr marL="0" indent="0" algn="ctr">
              <a:buNone/>
            </a:pPr>
            <a:r>
              <a:rPr lang="en-US" sz="1200" b="1" dirty="0">
                <a:solidFill>
                  <a:srgbClr val="1F3A6E"/>
                </a:solidFill>
                <a:latin typeface="Calibri" pitchFamily="34" charset="0"/>
                <a:ea typeface="Calibri" pitchFamily="34" charset="-122"/>
                <a:cs typeface="Calibri" pitchFamily="34" charset="-120"/>
              </a:rPr>
              <a:t>Risk Score Range</a:t>
            </a:r>
            <a:endParaRPr lang="en-US" sz="1200" dirty="0"/>
          </a:p>
        </p:txBody>
      </p:sp>
      <p:sp>
        <p:nvSpPr>
          <p:cNvPr id="27" name="Text 23"/>
          <p:cNvSpPr/>
          <p:nvPr/>
        </p:nvSpPr>
        <p:spPr>
          <a:xfrm>
            <a:off x="9153144" y="2798064"/>
            <a:ext cx="2743200" cy="256032"/>
          </a:xfrm>
          <a:prstGeom prst="rect">
            <a:avLst/>
          </a:prstGeom>
          <a:noFill/>
          <a:ln/>
        </p:spPr>
        <p:txBody>
          <a:bodyPr wrap="square" rtlCol="0" anchor="ctr"/>
          <a:lstStyle/>
          <a:p>
            <a:pPr marL="0" indent="0" algn="ctr">
              <a:buNone/>
            </a:pPr>
            <a:r>
              <a:rPr lang="en-US" sz="950" i="1" dirty="0">
                <a:solidFill>
                  <a:srgbClr val="B0BEC5"/>
                </a:solidFill>
                <a:latin typeface="Calibri" pitchFamily="34" charset="0"/>
                <a:ea typeface="Calibri" pitchFamily="34" charset="-122"/>
                <a:cs typeface="Calibri" pitchFamily="34" charset="-120"/>
              </a:rPr>
              <a:t>ML-powered scoring</a:t>
            </a:r>
            <a:endParaRPr lang="en-US" sz="950" dirty="0"/>
          </a:p>
        </p:txBody>
      </p:sp>
      <p:sp>
        <p:nvSpPr>
          <p:cNvPr id="28" name="Shape 24"/>
          <p:cNvSpPr/>
          <p:nvPr/>
        </p:nvSpPr>
        <p:spPr>
          <a:xfrm>
            <a:off x="320040" y="3383280"/>
            <a:ext cx="3749040" cy="2834640"/>
          </a:xfrm>
          <a:prstGeom prst="roundRect">
            <a:avLst>
              <a:gd name="adj" fmla="val 3226"/>
            </a:avLst>
          </a:prstGeom>
          <a:solidFill>
            <a:srgbClr val="FFFFFF"/>
          </a:solidFill>
          <a:ln w="15240">
            <a:solidFill>
              <a:srgbClr val="BBDEFB"/>
            </a:solidFill>
            <a:prstDash val="solid"/>
          </a:ln>
        </p:spPr>
      </p:sp>
      <p:sp>
        <p:nvSpPr>
          <p:cNvPr id="29" name="Shape 25"/>
          <p:cNvSpPr/>
          <p:nvPr/>
        </p:nvSpPr>
        <p:spPr>
          <a:xfrm>
            <a:off x="320040" y="3383280"/>
            <a:ext cx="3749040" cy="73152"/>
          </a:xfrm>
          <a:prstGeom prst="rect">
            <a:avLst/>
          </a:prstGeom>
          <a:solidFill>
            <a:srgbClr val="E53935"/>
          </a:solidFill>
          <a:ln w="12700">
            <a:solidFill>
              <a:srgbClr val="E53935"/>
            </a:solidFill>
            <a:prstDash val="solid"/>
          </a:ln>
        </p:spPr>
      </p:sp>
      <p:sp>
        <p:nvSpPr>
          <p:cNvPr id="30" name="Text 26"/>
          <p:cNvSpPr/>
          <p:nvPr/>
        </p:nvSpPr>
        <p:spPr>
          <a:xfrm>
            <a:off x="484632" y="3511296"/>
            <a:ext cx="3383280" cy="329184"/>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Operational Impact</a:t>
            </a:r>
            <a:endParaRPr lang="en-US" sz="1250" dirty="0"/>
          </a:p>
        </p:txBody>
      </p:sp>
      <p:sp>
        <p:nvSpPr>
          <p:cNvPr id="31" name="Shape 27"/>
          <p:cNvSpPr/>
          <p:nvPr/>
        </p:nvSpPr>
        <p:spPr>
          <a:xfrm>
            <a:off x="502920" y="4041648"/>
            <a:ext cx="164592" cy="164592"/>
          </a:xfrm>
          <a:prstGeom prst="ellipse">
            <a:avLst/>
          </a:prstGeom>
          <a:solidFill>
            <a:srgbClr val="E53935"/>
          </a:solidFill>
          <a:ln w="12700">
            <a:solidFill>
              <a:srgbClr val="E53935"/>
            </a:solidFill>
            <a:prstDash val="solid"/>
          </a:ln>
        </p:spPr>
      </p:sp>
      <p:sp>
        <p:nvSpPr>
          <p:cNvPr id="32" name="Text 28"/>
          <p:cNvSpPr/>
          <p:nvPr/>
        </p:nvSpPr>
        <p:spPr>
          <a:xfrm>
            <a:off x="777240" y="3968496"/>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Supply chain disruptions due to blocked vendors</a:t>
            </a:r>
            <a:endParaRPr lang="en-US" sz="1050" dirty="0"/>
          </a:p>
        </p:txBody>
      </p:sp>
      <p:sp>
        <p:nvSpPr>
          <p:cNvPr id="33" name="Shape 29"/>
          <p:cNvSpPr/>
          <p:nvPr/>
        </p:nvSpPr>
        <p:spPr>
          <a:xfrm>
            <a:off x="502920" y="4517136"/>
            <a:ext cx="164592" cy="164592"/>
          </a:xfrm>
          <a:prstGeom prst="ellipse">
            <a:avLst/>
          </a:prstGeom>
          <a:solidFill>
            <a:srgbClr val="E53935"/>
          </a:solidFill>
          <a:ln w="12700">
            <a:solidFill>
              <a:srgbClr val="E53935"/>
            </a:solidFill>
            <a:prstDash val="solid"/>
          </a:ln>
        </p:spPr>
      </p:sp>
      <p:sp>
        <p:nvSpPr>
          <p:cNvPr id="34" name="Text 30"/>
          <p:cNvSpPr/>
          <p:nvPr/>
        </p:nvSpPr>
        <p:spPr>
          <a:xfrm>
            <a:off x="777240" y="4443984"/>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Emergency procurement at premium costs</a:t>
            </a:r>
            <a:endParaRPr lang="en-US" sz="1050" dirty="0"/>
          </a:p>
        </p:txBody>
      </p:sp>
      <p:sp>
        <p:nvSpPr>
          <p:cNvPr id="35" name="Shape 31"/>
          <p:cNvSpPr/>
          <p:nvPr/>
        </p:nvSpPr>
        <p:spPr>
          <a:xfrm>
            <a:off x="502920" y="4992624"/>
            <a:ext cx="164592" cy="164592"/>
          </a:xfrm>
          <a:prstGeom prst="ellipse">
            <a:avLst/>
          </a:prstGeom>
          <a:solidFill>
            <a:srgbClr val="E53935"/>
          </a:solidFill>
          <a:ln w="12700">
            <a:solidFill>
              <a:srgbClr val="E53935"/>
            </a:solidFill>
            <a:prstDash val="solid"/>
          </a:ln>
        </p:spPr>
      </p:sp>
      <p:sp>
        <p:nvSpPr>
          <p:cNvPr id="36" name="Text 32"/>
          <p:cNvSpPr/>
          <p:nvPr/>
        </p:nvSpPr>
        <p:spPr>
          <a:xfrm>
            <a:off x="777240" y="4919472"/>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Damaged vendor relationships &amp; trust</a:t>
            </a:r>
            <a:endParaRPr lang="en-US" sz="1050" dirty="0"/>
          </a:p>
        </p:txBody>
      </p:sp>
      <p:sp>
        <p:nvSpPr>
          <p:cNvPr id="37" name="Shape 33"/>
          <p:cNvSpPr/>
          <p:nvPr/>
        </p:nvSpPr>
        <p:spPr>
          <a:xfrm>
            <a:off x="502920" y="5468112"/>
            <a:ext cx="164592" cy="164592"/>
          </a:xfrm>
          <a:prstGeom prst="ellipse">
            <a:avLst/>
          </a:prstGeom>
          <a:solidFill>
            <a:srgbClr val="E53935"/>
          </a:solidFill>
          <a:ln w="12700">
            <a:solidFill>
              <a:srgbClr val="E53935"/>
            </a:solidFill>
            <a:prstDash val="solid"/>
          </a:ln>
        </p:spPr>
      </p:sp>
      <p:sp>
        <p:nvSpPr>
          <p:cNvPr id="38" name="Text 34"/>
          <p:cNvSpPr/>
          <p:nvPr/>
        </p:nvSpPr>
        <p:spPr>
          <a:xfrm>
            <a:off x="777240" y="5394960"/>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Inability to negotiate favorable terms</a:t>
            </a:r>
            <a:endParaRPr lang="en-US" sz="1050" dirty="0"/>
          </a:p>
        </p:txBody>
      </p:sp>
      <p:sp>
        <p:nvSpPr>
          <p:cNvPr id="39" name="Shape 35"/>
          <p:cNvSpPr/>
          <p:nvPr/>
        </p:nvSpPr>
        <p:spPr>
          <a:xfrm>
            <a:off x="4279392" y="3383280"/>
            <a:ext cx="3749040" cy="2834640"/>
          </a:xfrm>
          <a:prstGeom prst="roundRect">
            <a:avLst>
              <a:gd name="adj" fmla="val 3226"/>
            </a:avLst>
          </a:prstGeom>
          <a:solidFill>
            <a:srgbClr val="FFFFFF"/>
          </a:solidFill>
          <a:ln w="15240">
            <a:solidFill>
              <a:srgbClr val="BBDEFB"/>
            </a:solidFill>
            <a:prstDash val="solid"/>
          </a:ln>
        </p:spPr>
      </p:sp>
      <p:sp>
        <p:nvSpPr>
          <p:cNvPr id="40" name="Shape 36"/>
          <p:cNvSpPr/>
          <p:nvPr/>
        </p:nvSpPr>
        <p:spPr>
          <a:xfrm>
            <a:off x="4279392" y="3383280"/>
            <a:ext cx="3749040" cy="73152"/>
          </a:xfrm>
          <a:prstGeom prst="rect">
            <a:avLst/>
          </a:prstGeom>
          <a:solidFill>
            <a:srgbClr val="F79646"/>
          </a:solidFill>
          <a:ln w="12700">
            <a:solidFill>
              <a:srgbClr val="F79646"/>
            </a:solidFill>
            <a:prstDash val="solid"/>
          </a:ln>
        </p:spPr>
      </p:sp>
      <p:sp>
        <p:nvSpPr>
          <p:cNvPr id="41" name="Text 37"/>
          <p:cNvSpPr/>
          <p:nvPr/>
        </p:nvSpPr>
        <p:spPr>
          <a:xfrm>
            <a:off x="4443984" y="3511296"/>
            <a:ext cx="3383280" cy="329184"/>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Financial Impact</a:t>
            </a:r>
            <a:endParaRPr lang="en-US" sz="1250" dirty="0"/>
          </a:p>
        </p:txBody>
      </p:sp>
      <p:sp>
        <p:nvSpPr>
          <p:cNvPr id="42" name="Shape 38"/>
          <p:cNvSpPr/>
          <p:nvPr/>
        </p:nvSpPr>
        <p:spPr>
          <a:xfrm>
            <a:off x="4462272" y="4041648"/>
            <a:ext cx="164592" cy="164592"/>
          </a:xfrm>
          <a:prstGeom prst="ellipse">
            <a:avLst/>
          </a:prstGeom>
          <a:solidFill>
            <a:srgbClr val="F79646"/>
          </a:solidFill>
          <a:ln w="12700">
            <a:solidFill>
              <a:srgbClr val="F79646"/>
            </a:solidFill>
            <a:prstDash val="solid"/>
          </a:ln>
        </p:spPr>
      </p:sp>
      <p:sp>
        <p:nvSpPr>
          <p:cNvPr id="43" name="Text 39"/>
          <p:cNvSpPr/>
          <p:nvPr/>
        </p:nvSpPr>
        <p:spPr>
          <a:xfrm>
            <a:off x="4736592" y="3968496"/>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Penalty interest charges on overdue balances</a:t>
            </a:r>
            <a:endParaRPr lang="en-US" sz="1050" dirty="0"/>
          </a:p>
        </p:txBody>
      </p:sp>
      <p:sp>
        <p:nvSpPr>
          <p:cNvPr id="44" name="Shape 40"/>
          <p:cNvSpPr/>
          <p:nvPr/>
        </p:nvSpPr>
        <p:spPr>
          <a:xfrm>
            <a:off x="4462272" y="4517136"/>
            <a:ext cx="164592" cy="164592"/>
          </a:xfrm>
          <a:prstGeom prst="ellipse">
            <a:avLst/>
          </a:prstGeom>
          <a:solidFill>
            <a:srgbClr val="F79646"/>
          </a:solidFill>
          <a:ln w="12700">
            <a:solidFill>
              <a:srgbClr val="F79646"/>
            </a:solidFill>
            <a:prstDash val="solid"/>
          </a:ln>
        </p:spPr>
      </p:sp>
      <p:sp>
        <p:nvSpPr>
          <p:cNvPr id="45" name="Text 41"/>
          <p:cNvSpPr/>
          <p:nvPr/>
        </p:nvSpPr>
        <p:spPr>
          <a:xfrm>
            <a:off x="4736592" y="4443984"/>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Working capital erosion and liquidity strain</a:t>
            </a:r>
            <a:endParaRPr lang="en-US" sz="1050" dirty="0"/>
          </a:p>
        </p:txBody>
      </p:sp>
      <p:sp>
        <p:nvSpPr>
          <p:cNvPr id="46" name="Shape 42"/>
          <p:cNvSpPr/>
          <p:nvPr/>
        </p:nvSpPr>
        <p:spPr>
          <a:xfrm>
            <a:off x="4462272" y="4992624"/>
            <a:ext cx="164592" cy="164592"/>
          </a:xfrm>
          <a:prstGeom prst="ellipse">
            <a:avLst/>
          </a:prstGeom>
          <a:solidFill>
            <a:srgbClr val="F79646"/>
          </a:solidFill>
          <a:ln w="12700">
            <a:solidFill>
              <a:srgbClr val="F79646"/>
            </a:solidFill>
            <a:prstDash val="solid"/>
          </a:ln>
        </p:spPr>
      </p:sp>
      <p:sp>
        <p:nvSpPr>
          <p:cNvPr id="47" name="Text 43"/>
          <p:cNvSpPr/>
          <p:nvPr/>
        </p:nvSpPr>
        <p:spPr>
          <a:xfrm>
            <a:off x="4736592" y="4919472"/>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Cash flow mismanagement and forecasting errors</a:t>
            </a:r>
            <a:endParaRPr lang="en-US" sz="1050" dirty="0"/>
          </a:p>
        </p:txBody>
      </p:sp>
      <p:sp>
        <p:nvSpPr>
          <p:cNvPr id="48" name="Shape 44"/>
          <p:cNvSpPr/>
          <p:nvPr/>
        </p:nvSpPr>
        <p:spPr>
          <a:xfrm>
            <a:off x="4462272" y="5468112"/>
            <a:ext cx="164592" cy="164592"/>
          </a:xfrm>
          <a:prstGeom prst="ellipse">
            <a:avLst/>
          </a:prstGeom>
          <a:solidFill>
            <a:srgbClr val="F79646"/>
          </a:solidFill>
          <a:ln w="12700">
            <a:solidFill>
              <a:srgbClr val="F79646"/>
            </a:solidFill>
            <a:prstDash val="solid"/>
          </a:ln>
        </p:spPr>
      </p:sp>
      <p:sp>
        <p:nvSpPr>
          <p:cNvPr id="49" name="Text 45"/>
          <p:cNvSpPr/>
          <p:nvPr/>
        </p:nvSpPr>
        <p:spPr>
          <a:xfrm>
            <a:off x="4736592" y="5394960"/>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Legal costs from disputes and arbitration</a:t>
            </a:r>
            <a:endParaRPr lang="en-US" sz="1050" dirty="0"/>
          </a:p>
        </p:txBody>
      </p:sp>
      <p:sp>
        <p:nvSpPr>
          <p:cNvPr id="50" name="Shape 46"/>
          <p:cNvSpPr/>
          <p:nvPr/>
        </p:nvSpPr>
        <p:spPr>
          <a:xfrm>
            <a:off x="8238744" y="3383280"/>
            <a:ext cx="3749040" cy="2834640"/>
          </a:xfrm>
          <a:prstGeom prst="roundRect">
            <a:avLst>
              <a:gd name="adj" fmla="val 3226"/>
            </a:avLst>
          </a:prstGeom>
          <a:solidFill>
            <a:srgbClr val="FFFFFF"/>
          </a:solidFill>
          <a:ln w="15240">
            <a:solidFill>
              <a:srgbClr val="BBDEFB"/>
            </a:solidFill>
            <a:prstDash val="solid"/>
          </a:ln>
        </p:spPr>
      </p:sp>
      <p:sp>
        <p:nvSpPr>
          <p:cNvPr id="51" name="Shape 47"/>
          <p:cNvSpPr/>
          <p:nvPr/>
        </p:nvSpPr>
        <p:spPr>
          <a:xfrm>
            <a:off x="8238744" y="3383280"/>
            <a:ext cx="3749040" cy="73152"/>
          </a:xfrm>
          <a:prstGeom prst="rect">
            <a:avLst/>
          </a:prstGeom>
          <a:solidFill>
            <a:srgbClr val="1565C0"/>
          </a:solidFill>
          <a:ln w="12700">
            <a:solidFill>
              <a:srgbClr val="1565C0"/>
            </a:solidFill>
            <a:prstDash val="solid"/>
          </a:ln>
        </p:spPr>
      </p:sp>
      <p:sp>
        <p:nvSpPr>
          <p:cNvPr id="52" name="Text 48"/>
          <p:cNvSpPr/>
          <p:nvPr/>
        </p:nvSpPr>
        <p:spPr>
          <a:xfrm>
            <a:off x="8403336" y="3511296"/>
            <a:ext cx="3383280" cy="329184"/>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Strategic Impact</a:t>
            </a:r>
            <a:endParaRPr lang="en-US" sz="1250" dirty="0"/>
          </a:p>
        </p:txBody>
      </p:sp>
      <p:sp>
        <p:nvSpPr>
          <p:cNvPr id="53" name="Shape 49"/>
          <p:cNvSpPr/>
          <p:nvPr/>
        </p:nvSpPr>
        <p:spPr>
          <a:xfrm>
            <a:off x="8421624" y="4041648"/>
            <a:ext cx="164592" cy="164592"/>
          </a:xfrm>
          <a:prstGeom prst="ellipse">
            <a:avLst/>
          </a:prstGeom>
          <a:solidFill>
            <a:srgbClr val="1565C0"/>
          </a:solidFill>
          <a:ln w="12700">
            <a:solidFill>
              <a:srgbClr val="1565C0"/>
            </a:solidFill>
            <a:prstDash val="solid"/>
          </a:ln>
        </p:spPr>
      </p:sp>
      <p:sp>
        <p:nvSpPr>
          <p:cNvPr id="54" name="Text 50"/>
          <p:cNvSpPr/>
          <p:nvPr/>
        </p:nvSpPr>
        <p:spPr>
          <a:xfrm>
            <a:off x="8695944" y="3968496"/>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Reputational damage with key suppliers</a:t>
            </a:r>
            <a:endParaRPr lang="en-US" sz="1050" dirty="0"/>
          </a:p>
        </p:txBody>
      </p:sp>
      <p:sp>
        <p:nvSpPr>
          <p:cNvPr id="55" name="Shape 51"/>
          <p:cNvSpPr/>
          <p:nvPr/>
        </p:nvSpPr>
        <p:spPr>
          <a:xfrm>
            <a:off x="8421624" y="4517136"/>
            <a:ext cx="164592" cy="164592"/>
          </a:xfrm>
          <a:prstGeom prst="ellipse">
            <a:avLst/>
          </a:prstGeom>
          <a:solidFill>
            <a:srgbClr val="1565C0"/>
          </a:solidFill>
          <a:ln w="12700">
            <a:solidFill>
              <a:srgbClr val="1565C0"/>
            </a:solidFill>
            <a:prstDash val="solid"/>
          </a:ln>
        </p:spPr>
      </p:sp>
      <p:sp>
        <p:nvSpPr>
          <p:cNvPr id="56" name="Text 52"/>
          <p:cNvSpPr/>
          <p:nvPr/>
        </p:nvSpPr>
        <p:spPr>
          <a:xfrm>
            <a:off x="8695944" y="4443984"/>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Reduced credit limits from vendors</a:t>
            </a:r>
            <a:endParaRPr lang="en-US" sz="1050" dirty="0"/>
          </a:p>
        </p:txBody>
      </p:sp>
      <p:sp>
        <p:nvSpPr>
          <p:cNvPr id="57" name="Shape 53"/>
          <p:cNvSpPr/>
          <p:nvPr/>
        </p:nvSpPr>
        <p:spPr>
          <a:xfrm>
            <a:off x="8421624" y="4992624"/>
            <a:ext cx="164592" cy="164592"/>
          </a:xfrm>
          <a:prstGeom prst="ellipse">
            <a:avLst/>
          </a:prstGeom>
          <a:solidFill>
            <a:srgbClr val="1565C0"/>
          </a:solidFill>
          <a:ln w="12700">
            <a:solidFill>
              <a:srgbClr val="1565C0"/>
            </a:solidFill>
            <a:prstDash val="solid"/>
          </a:ln>
        </p:spPr>
      </p:sp>
      <p:sp>
        <p:nvSpPr>
          <p:cNvPr id="58" name="Text 54"/>
          <p:cNvSpPr/>
          <p:nvPr/>
        </p:nvSpPr>
        <p:spPr>
          <a:xfrm>
            <a:off x="8695944" y="4919472"/>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Compliance risk and audit findings</a:t>
            </a:r>
            <a:endParaRPr lang="en-US" sz="1050" dirty="0"/>
          </a:p>
        </p:txBody>
      </p:sp>
      <p:sp>
        <p:nvSpPr>
          <p:cNvPr id="59" name="Shape 55"/>
          <p:cNvSpPr/>
          <p:nvPr/>
        </p:nvSpPr>
        <p:spPr>
          <a:xfrm>
            <a:off x="8421624" y="5468112"/>
            <a:ext cx="164592" cy="164592"/>
          </a:xfrm>
          <a:prstGeom prst="ellipse">
            <a:avLst/>
          </a:prstGeom>
          <a:solidFill>
            <a:srgbClr val="1565C0"/>
          </a:solidFill>
          <a:ln w="12700">
            <a:solidFill>
              <a:srgbClr val="1565C0"/>
            </a:solidFill>
            <a:prstDash val="solid"/>
          </a:ln>
        </p:spPr>
      </p:sp>
      <p:sp>
        <p:nvSpPr>
          <p:cNvPr id="60" name="Text 56"/>
          <p:cNvSpPr/>
          <p:nvPr/>
        </p:nvSpPr>
        <p:spPr>
          <a:xfrm>
            <a:off x="8695944" y="5394960"/>
            <a:ext cx="3154680" cy="36576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Poor AP team performance metrics</a:t>
            </a:r>
            <a:endParaRPr lang="en-US" sz="1050" dirty="0"/>
          </a:p>
        </p:txBody>
      </p:sp>
      <p:pic>
        <p:nvPicPr>
          <p:cNvPr id="62" name="Picture 61">
            <a:extLst>
              <a:ext uri="{FF2B5EF4-FFF2-40B4-BE49-F238E27FC236}">
                <a16:creationId xmlns:a16="http://schemas.microsoft.com/office/drawing/2014/main" id="{0D9BEF5A-BDFE-CD38-201B-19D0CAB7892D}"/>
              </a:ext>
            </a:extLst>
          </p:cNvPr>
          <p:cNvPicPr>
            <a:picLocks noChangeAspect="1"/>
          </p:cNvPicPr>
          <p:nvPr/>
        </p:nvPicPr>
        <p:blipFill>
          <a:blip r:embed="rId4"/>
          <a:stretch>
            <a:fillRect/>
          </a:stretch>
        </p:blipFill>
        <p:spPr>
          <a:xfrm>
            <a:off x="10384971" y="149105"/>
            <a:ext cx="1685109" cy="7104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170366" y="73152"/>
            <a:ext cx="1808273" cy="676656"/>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Project Objectives</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What this system is designed to achieve</a:t>
            </a:r>
            <a:endParaRPr lang="en-US" sz="1300" dirty="0"/>
          </a:p>
        </p:txBody>
      </p:sp>
      <p:sp>
        <p:nvSpPr>
          <p:cNvPr id="8" name="Shape 4"/>
          <p:cNvSpPr/>
          <p:nvPr/>
        </p:nvSpPr>
        <p:spPr>
          <a:xfrm>
            <a:off x="320040" y="1691640"/>
            <a:ext cx="5669280" cy="1325880"/>
          </a:xfrm>
          <a:prstGeom prst="roundRect">
            <a:avLst>
              <a:gd name="adj" fmla="val 6897"/>
            </a:avLst>
          </a:prstGeom>
          <a:solidFill>
            <a:srgbClr val="FFFFFF"/>
          </a:solidFill>
          <a:ln w="15240">
            <a:solidFill>
              <a:srgbClr val="BBDEFB"/>
            </a:solidFill>
            <a:prstDash val="solid"/>
          </a:ln>
        </p:spPr>
      </p:sp>
      <p:sp>
        <p:nvSpPr>
          <p:cNvPr id="9" name="Shape 5"/>
          <p:cNvSpPr/>
          <p:nvPr/>
        </p:nvSpPr>
        <p:spPr>
          <a:xfrm>
            <a:off x="457200" y="1892808"/>
            <a:ext cx="548640" cy="548640"/>
          </a:xfrm>
          <a:prstGeom prst="ellipse">
            <a:avLst/>
          </a:prstGeom>
          <a:solidFill>
            <a:srgbClr val="289BE8"/>
          </a:solidFill>
          <a:ln w="12700">
            <a:solidFill>
              <a:srgbClr val="289BE8"/>
            </a:solidFill>
            <a:prstDash val="solid"/>
          </a:ln>
        </p:spPr>
      </p:sp>
      <p:sp>
        <p:nvSpPr>
          <p:cNvPr id="10" name="Text 6"/>
          <p:cNvSpPr/>
          <p:nvPr/>
        </p:nvSpPr>
        <p:spPr>
          <a:xfrm>
            <a:off x="457200" y="1892808"/>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1" name="Text 7"/>
          <p:cNvSpPr/>
          <p:nvPr/>
        </p:nvSpPr>
        <p:spPr>
          <a:xfrm>
            <a:off x="1124712" y="1856232"/>
            <a:ext cx="470916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Invoice Aging Classification</a:t>
            </a:r>
            <a:endParaRPr lang="en-US" sz="1250" dirty="0"/>
          </a:p>
        </p:txBody>
      </p:sp>
      <p:sp>
        <p:nvSpPr>
          <p:cNvPr id="12" name="Text 8"/>
          <p:cNvSpPr/>
          <p:nvPr/>
        </p:nvSpPr>
        <p:spPr>
          <a:xfrm>
            <a:off x="1124712" y="2221992"/>
            <a:ext cx="4709160" cy="658368"/>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Classify all unpaid vendor invoices from SAP BSIK into 5 aging buckets: 0-30, 31-60, 61-90, 91-120, and 120+ days overdue.</a:t>
            </a:r>
            <a:endParaRPr lang="en-US" sz="1050" dirty="0"/>
          </a:p>
        </p:txBody>
      </p:sp>
      <p:sp>
        <p:nvSpPr>
          <p:cNvPr id="13" name="Shape 9"/>
          <p:cNvSpPr/>
          <p:nvPr/>
        </p:nvSpPr>
        <p:spPr>
          <a:xfrm>
            <a:off x="6309360" y="1691640"/>
            <a:ext cx="5669280" cy="1325880"/>
          </a:xfrm>
          <a:prstGeom prst="roundRect">
            <a:avLst>
              <a:gd name="adj" fmla="val 6897"/>
            </a:avLst>
          </a:prstGeom>
          <a:solidFill>
            <a:srgbClr val="FFFFFF"/>
          </a:solidFill>
          <a:ln w="15240">
            <a:solidFill>
              <a:srgbClr val="BBDEFB"/>
            </a:solidFill>
            <a:prstDash val="solid"/>
          </a:ln>
        </p:spPr>
      </p:sp>
      <p:sp>
        <p:nvSpPr>
          <p:cNvPr id="14" name="Shape 10"/>
          <p:cNvSpPr/>
          <p:nvPr/>
        </p:nvSpPr>
        <p:spPr>
          <a:xfrm>
            <a:off x="6446520" y="1892808"/>
            <a:ext cx="548640" cy="548640"/>
          </a:xfrm>
          <a:prstGeom prst="ellipse">
            <a:avLst/>
          </a:prstGeom>
          <a:solidFill>
            <a:srgbClr val="1565C0"/>
          </a:solidFill>
          <a:ln w="12700">
            <a:solidFill>
              <a:srgbClr val="1565C0"/>
            </a:solidFill>
            <a:prstDash val="solid"/>
          </a:ln>
        </p:spPr>
      </p:sp>
      <p:sp>
        <p:nvSpPr>
          <p:cNvPr id="15" name="Text 11"/>
          <p:cNvSpPr/>
          <p:nvPr/>
        </p:nvSpPr>
        <p:spPr>
          <a:xfrm>
            <a:off x="6446520" y="1892808"/>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6" name="Text 12"/>
          <p:cNvSpPr/>
          <p:nvPr/>
        </p:nvSpPr>
        <p:spPr>
          <a:xfrm>
            <a:off x="7114032" y="1856232"/>
            <a:ext cx="470916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ML-Based Risk Clustering</a:t>
            </a:r>
            <a:endParaRPr lang="en-US" sz="1250" dirty="0"/>
          </a:p>
        </p:txBody>
      </p:sp>
      <p:sp>
        <p:nvSpPr>
          <p:cNvPr id="17" name="Text 13"/>
          <p:cNvSpPr/>
          <p:nvPr/>
        </p:nvSpPr>
        <p:spPr>
          <a:xfrm>
            <a:off x="7114032" y="2221992"/>
            <a:ext cx="4709160" cy="658368"/>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Apply K-Means clustering (k=4) to group vendors by payment behaviour — Low, Medium, High, and Critical risk categories.</a:t>
            </a:r>
            <a:endParaRPr lang="en-US" sz="1050" dirty="0"/>
          </a:p>
        </p:txBody>
      </p:sp>
      <p:sp>
        <p:nvSpPr>
          <p:cNvPr id="18" name="Shape 14"/>
          <p:cNvSpPr/>
          <p:nvPr/>
        </p:nvSpPr>
        <p:spPr>
          <a:xfrm>
            <a:off x="320040" y="3172968"/>
            <a:ext cx="5669280" cy="1325880"/>
          </a:xfrm>
          <a:prstGeom prst="roundRect">
            <a:avLst>
              <a:gd name="adj" fmla="val 6897"/>
            </a:avLst>
          </a:prstGeom>
          <a:solidFill>
            <a:srgbClr val="FFFFFF"/>
          </a:solidFill>
          <a:ln w="15240">
            <a:solidFill>
              <a:srgbClr val="BBDEFB"/>
            </a:solidFill>
            <a:prstDash val="solid"/>
          </a:ln>
        </p:spPr>
      </p:sp>
      <p:sp>
        <p:nvSpPr>
          <p:cNvPr id="19" name="Shape 15"/>
          <p:cNvSpPr/>
          <p:nvPr/>
        </p:nvSpPr>
        <p:spPr>
          <a:xfrm>
            <a:off x="457200" y="3374136"/>
            <a:ext cx="548640" cy="548640"/>
          </a:xfrm>
          <a:prstGeom prst="ellipse">
            <a:avLst/>
          </a:prstGeom>
          <a:solidFill>
            <a:srgbClr val="F79646"/>
          </a:solidFill>
          <a:ln w="12700">
            <a:solidFill>
              <a:srgbClr val="F79646"/>
            </a:solidFill>
            <a:prstDash val="solid"/>
          </a:ln>
        </p:spPr>
      </p:sp>
      <p:sp>
        <p:nvSpPr>
          <p:cNvPr id="20" name="Text 16"/>
          <p:cNvSpPr/>
          <p:nvPr/>
        </p:nvSpPr>
        <p:spPr>
          <a:xfrm>
            <a:off x="457200" y="3374136"/>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1" name="Text 17"/>
          <p:cNvSpPr/>
          <p:nvPr/>
        </p:nvSpPr>
        <p:spPr>
          <a:xfrm>
            <a:off x="1124712" y="3337560"/>
            <a:ext cx="470916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Top Vendor Identification</a:t>
            </a:r>
            <a:endParaRPr lang="en-US" sz="1250" dirty="0"/>
          </a:p>
        </p:txBody>
      </p:sp>
      <p:sp>
        <p:nvSpPr>
          <p:cNvPr id="22" name="Text 18"/>
          <p:cNvSpPr/>
          <p:nvPr/>
        </p:nvSpPr>
        <p:spPr>
          <a:xfrm>
            <a:off x="1124712" y="3703320"/>
            <a:ext cx="4709160" cy="658368"/>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Identify the Top 10 vendors with the highest overdue amounts and escalate for immediate AP team review and action.</a:t>
            </a:r>
            <a:endParaRPr lang="en-US" sz="1050" dirty="0"/>
          </a:p>
        </p:txBody>
      </p:sp>
      <p:sp>
        <p:nvSpPr>
          <p:cNvPr id="23" name="Shape 19"/>
          <p:cNvSpPr/>
          <p:nvPr/>
        </p:nvSpPr>
        <p:spPr>
          <a:xfrm>
            <a:off x="6309360" y="3172968"/>
            <a:ext cx="5669280" cy="1325880"/>
          </a:xfrm>
          <a:prstGeom prst="roundRect">
            <a:avLst>
              <a:gd name="adj" fmla="val 6897"/>
            </a:avLst>
          </a:prstGeom>
          <a:solidFill>
            <a:srgbClr val="FFFFFF"/>
          </a:solidFill>
          <a:ln w="15240">
            <a:solidFill>
              <a:srgbClr val="BBDEFB"/>
            </a:solidFill>
            <a:prstDash val="solid"/>
          </a:ln>
        </p:spPr>
      </p:sp>
      <p:sp>
        <p:nvSpPr>
          <p:cNvPr id="24" name="Shape 20"/>
          <p:cNvSpPr/>
          <p:nvPr/>
        </p:nvSpPr>
        <p:spPr>
          <a:xfrm>
            <a:off x="6446520" y="3374136"/>
            <a:ext cx="548640" cy="548640"/>
          </a:xfrm>
          <a:prstGeom prst="ellipse">
            <a:avLst/>
          </a:prstGeom>
          <a:solidFill>
            <a:srgbClr val="00ACC1"/>
          </a:solidFill>
          <a:ln w="12700">
            <a:solidFill>
              <a:srgbClr val="00ACC1"/>
            </a:solidFill>
            <a:prstDash val="solid"/>
          </a:ln>
        </p:spPr>
      </p:sp>
      <p:sp>
        <p:nvSpPr>
          <p:cNvPr id="25" name="Text 21"/>
          <p:cNvSpPr/>
          <p:nvPr/>
        </p:nvSpPr>
        <p:spPr>
          <a:xfrm>
            <a:off x="6446520" y="3374136"/>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6" name="Text 22"/>
          <p:cNvSpPr/>
          <p:nvPr/>
        </p:nvSpPr>
        <p:spPr>
          <a:xfrm>
            <a:off x="7114032" y="3337560"/>
            <a:ext cx="470916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AI Insight Generation</a:t>
            </a:r>
            <a:endParaRPr lang="en-US" sz="1250" dirty="0"/>
          </a:p>
        </p:txBody>
      </p:sp>
      <p:sp>
        <p:nvSpPr>
          <p:cNvPr id="27" name="Text 23"/>
          <p:cNvSpPr/>
          <p:nvPr/>
        </p:nvSpPr>
        <p:spPr>
          <a:xfrm>
            <a:off x="7114032" y="3703320"/>
            <a:ext cx="4709160" cy="658368"/>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Use OpenRouter AI (Trinity-Large + Qwen3 fallback) to generate automated insights and natural language chatbot queries.</a:t>
            </a:r>
            <a:endParaRPr lang="en-US" sz="1050" dirty="0"/>
          </a:p>
        </p:txBody>
      </p:sp>
      <p:sp>
        <p:nvSpPr>
          <p:cNvPr id="28" name="Shape 24"/>
          <p:cNvSpPr/>
          <p:nvPr/>
        </p:nvSpPr>
        <p:spPr>
          <a:xfrm>
            <a:off x="320040" y="4654296"/>
            <a:ext cx="5669280" cy="1325880"/>
          </a:xfrm>
          <a:prstGeom prst="roundRect">
            <a:avLst>
              <a:gd name="adj" fmla="val 6897"/>
            </a:avLst>
          </a:prstGeom>
          <a:solidFill>
            <a:srgbClr val="FFFFFF"/>
          </a:solidFill>
          <a:ln w="15240">
            <a:solidFill>
              <a:srgbClr val="BBDEFB"/>
            </a:solidFill>
            <a:prstDash val="solid"/>
          </a:ln>
        </p:spPr>
      </p:sp>
      <p:sp>
        <p:nvSpPr>
          <p:cNvPr id="29" name="Shape 25"/>
          <p:cNvSpPr/>
          <p:nvPr/>
        </p:nvSpPr>
        <p:spPr>
          <a:xfrm>
            <a:off x="457200" y="4855464"/>
            <a:ext cx="548640" cy="548640"/>
          </a:xfrm>
          <a:prstGeom prst="ellipse">
            <a:avLst/>
          </a:prstGeom>
          <a:solidFill>
            <a:srgbClr val="8064A2"/>
          </a:solidFill>
          <a:ln w="12700">
            <a:solidFill>
              <a:srgbClr val="8064A2"/>
            </a:solidFill>
            <a:prstDash val="solid"/>
          </a:ln>
        </p:spPr>
      </p:sp>
      <p:sp>
        <p:nvSpPr>
          <p:cNvPr id="30" name="Text 26"/>
          <p:cNvSpPr/>
          <p:nvPr/>
        </p:nvSpPr>
        <p:spPr>
          <a:xfrm>
            <a:off x="457200" y="4855464"/>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1" name="Text 27"/>
          <p:cNvSpPr/>
          <p:nvPr/>
        </p:nvSpPr>
        <p:spPr>
          <a:xfrm>
            <a:off x="1124712" y="4818888"/>
            <a:ext cx="470916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Interactive Dashboard</a:t>
            </a:r>
            <a:endParaRPr lang="en-US" sz="1250" dirty="0"/>
          </a:p>
        </p:txBody>
      </p:sp>
      <p:sp>
        <p:nvSpPr>
          <p:cNvPr id="32" name="Text 28"/>
          <p:cNvSpPr/>
          <p:nvPr/>
        </p:nvSpPr>
        <p:spPr>
          <a:xfrm>
            <a:off x="1124712" y="5184648"/>
            <a:ext cx="4709160" cy="658368"/>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Render a Flask-powered web dashboard with charts, aging summaries, vendor risk tables, and an AI intelligence page.</a:t>
            </a:r>
            <a:endParaRPr lang="en-US" sz="1050" dirty="0"/>
          </a:p>
        </p:txBody>
      </p:sp>
      <p:sp>
        <p:nvSpPr>
          <p:cNvPr id="33" name="Shape 29"/>
          <p:cNvSpPr/>
          <p:nvPr/>
        </p:nvSpPr>
        <p:spPr>
          <a:xfrm>
            <a:off x="6309360" y="4654296"/>
            <a:ext cx="5669280" cy="1325880"/>
          </a:xfrm>
          <a:prstGeom prst="roundRect">
            <a:avLst>
              <a:gd name="adj" fmla="val 6897"/>
            </a:avLst>
          </a:prstGeom>
          <a:solidFill>
            <a:srgbClr val="FFFFFF"/>
          </a:solidFill>
          <a:ln w="15240">
            <a:solidFill>
              <a:srgbClr val="BBDEFB"/>
            </a:solidFill>
            <a:prstDash val="solid"/>
          </a:ln>
        </p:spPr>
      </p:sp>
      <p:sp>
        <p:nvSpPr>
          <p:cNvPr id="34" name="Shape 30"/>
          <p:cNvSpPr/>
          <p:nvPr/>
        </p:nvSpPr>
        <p:spPr>
          <a:xfrm>
            <a:off x="6446520" y="4855464"/>
            <a:ext cx="548640" cy="548640"/>
          </a:xfrm>
          <a:prstGeom prst="ellipse">
            <a:avLst/>
          </a:prstGeom>
          <a:solidFill>
            <a:srgbClr val="E53935"/>
          </a:solidFill>
          <a:ln w="12700">
            <a:solidFill>
              <a:srgbClr val="E53935"/>
            </a:solidFill>
            <a:prstDash val="solid"/>
          </a:ln>
        </p:spPr>
      </p:sp>
      <p:sp>
        <p:nvSpPr>
          <p:cNvPr id="35" name="Text 31"/>
          <p:cNvSpPr/>
          <p:nvPr/>
        </p:nvSpPr>
        <p:spPr>
          <a:xfrm>
            <a:off x="6446520" y="4855464"/>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6" name="Text 32"/>
          <p:cNvSpPr/>
          <p:nvPr/>
        </p:nvSpPr>
        <p:spPr>
          <a:xfrm>
            <a:off x="7114032" y="4818888"/>
            <a:ext cx="470916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Performance Optimization</a:t>
            </a:r>
            <a:endParaRPr lang="en-US" sz="1250" dirty="0"/>
          </a:p>
        </p:txBody>
      </p:sp>
      <p:sp>
        <p:nvSpPr>
          <p:cNvPr id="37" name="Text 33"/>
          <p:cNvSpPr/>
          <p:nvPr/>
        </p:nvSpPr>
        <p:spPr>
          <a:xfrm>
            <a:off x="7114032" y="5184648"/>
            <a:ext cx="4709160" cy="658368"/>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Achieve ~90% payload reduction using gzip compression, 7-day static caching, and async JSON data loading.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305288" y="73152"/>
            <a:ext cx="1673352" cy="704088"/>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Solution Overview</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End-to-End SAP Vendor Risk Monitoring System</a:t>
            </a:r>
            <a:endParaRPr lang="en-US" sz="1300" dirty="0"/>
          </a:p>
        </p:txBody>
      </p:sp>
      <p:sp>
        <p:nvSpPr>
          <p:cNvPr id="8" name="Shape 4"/>
          <p:cNvSpPr/>
          <p:nvPr/>
        </p:nvSpPr>
        <p:spPr>
          <a:xfrm>
            <a:off x="320040" y="1737360"/>
            <a:ext cx="1600200" cy="1600200"/>
          </a:xfrm>
          <a:prstGeom prst="ellipse">
            <a:avLst/>
          </a:prstGeom>
          <a:solidFill>
            <a:srgbClr val="289BE8"/>
          </a:solidFill>
          <a:ln w="12700">
            <a:solidFill>
              <a:srgbClr val="289BE8"/>
            </a:solidFill>
            <a:prstDash val="solid"/>
          </a:ln>
        </p:spPr>
      </p:sp>
      <p:sp>
        <p:nvSpPr>
          <p:cNvPr id="9" name="Text 5"/>
          <p:cNvSpPr/>
          <p:nvPr/>
        </p:nvSpPr>
        <p:spPr>
          <a:xfrm>
            <a:off x="320040" y="1828800"/>
            <a:ext cx="16002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6"/>
          <p:cNvSpPr/>
          <p:nvPr/>
        </p:nvSpPr>
        <p:spPr>
          <a:xfrm>
            <a:off x="320040" y="2468880"/>
            <a:ext cx="1600200" cy="6400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SAP Data</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Upload</a:t>
            </a:r>
            <a:endParaRPr lang="en-US" sz="950" dirty="0"/>
          </a:p>
        </p:txBody>
      </p:sp>
      <p:sp>
        <p:nvSpPr>
          <p:cNvPr id="11" name="Shape 7"/>
          <p:cNvSpPr/>
          <p:nvPr/>
        </p:nvSpPr>
        <p:spPr>
          <a:xfrm>
            <a:off x="1920240" y="2487168"/>
            <a:ext cx="365760" cy="73152"/>
          </a:xfrm>
          <a:prstGeom prst="rect">
            <a:avLst/>
          </a:prstGeom>
          <a:solidFill>
            <a:srgbClr val="B0BEC5"/>
          </a:solidFill>
          <a:ln w="12700">
            <a:solidFill>
              <a:srgbClr val="B0BEC5"/>
            </a:solidFill>
            <a:prstDash val="solid"/>
          </a:ln>
        </p:spPr>
      </p:sp>
      <p:sp>
        <p:nvSpPr>
          <p:cNvPr id="12" name="Shape 8"/>
          <p:cNvSpPr/>
          <p:nvPr/>
        </p:nvSpPr>
        <p:spPr>
          <a:xfrm rot="5400000">
            <a:off x="2203704" y="2423160"/>
            <a:ext cx="128016" cy="201168"/>
          </a:xfrm>
          <a:prstGeom prst="triangle">
            <a:avLst/>
          </a:prstGeom>
          <a:solidFill>
            <a:srgbClr val="B0BEC5"/>
          </a:solidFill>
          <a:ln w="12700">
            <a:solidFill>
              <a:srgbClr val="B0BEC5"/>
            </a:solidFill>
            <a:prstDash val="solid"/>
          </a:ln>
        </p:spPr>
      </p:sp>
      <p:sp>
        <p:nvSpPr>
          <p:cNvPr id="13" name="Shape 9"/>
          <p:cNvSpPr/>
          <p:nvPr/>
        </p:nvSpPr>
        <p:spPr>
          <a:xfrm>
            <a:off x="2286000" y="1737360"/>
            <a:ext cx="1600200" cy="1600200"/>
          </a:xfrm>
          <a:prstGeom prst="ellipse">
            <a:avLst/>
          </a:prstGeom>
          <a:solidFill>
            <a:srgbClr val="1565C0"/>
          </a:solidFill>
          <a:ln w="12700">
            <a:solidFill>
              <a:srgbClr val="1565C0"/>
            </a:solidFill>
            <a:prstDash val="solid"/>
          </a:ln>
        </p:spPr>
      </p:sp>
      <p:sp>
        <p:nvSpPr>
          <p:cNvPr id="14" name="Text 10"/>
          <p:cNvSpPr/>
          <p:nvPr/>
        </p:nvSpPr>
        <p:spPr>
          <a:xfrm>
            <a:off x="2286000" y="1828800"/>
            <a:ext cx="16002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1"/>
          <p:cNvSpPr/>
          <p:nvPr/>
        </p:nvSpPr>
        <p:spPr>
          <a:xfrm>
            <a:off x="2286000" y="2468880"/>
            <a:ext cx="1600200" cy="6400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Processing</a:t>
            </a:r>
            <a:endParaRPr lang="en-US" sz="950" dirty="0"/>
          </a:p>
        </p:txBody>
      </p:sp>
      <p:sp>
        <p:nvSpPr>
          <p:cNvPr id="16" name="Shape 12"/>
          <p:cNvSpPr/>
          <p:nvPr/>
        </p:nvSpPr>
        <p:spPr>
          <a:xfrm>
            <a:off x="3886200" y="2487168"/>
            <a:ext cx="365760" cy="73152"/>
          </a:xfrm>
          <a:prstGeom prst="rect">
            <a:avLst/>
          </a:prstGeom>
          <a:solidFill>
            <a:srgbClr val="B0BEC5"/>
          </a:solidFill>
          <a:ln w="12700">
            <a:solidFill>
              <a:srgbClr val="B0BEC5"/>
            </a:solidFill>
            <a:prstDash val="solid"/>
          </a:ln>
        </p:spPr>
      </p:sp>
      <p:sp>
        <p:nvSpPr>
          <p:cNvPr id="17" name="Shape 13"/>
          <p:cNvSpPr/>
          <p:nvPr/>
        </p:nvSpPr>
        <p:spPr>
          <a:xfrm rot="5400000">
            <a:off x="4169664" y="2423160"/>
            <a:ext cx="128016" cy="201168"/>
          </a:xfrm>
          <a:prstGeom prst="triangle">
            <a:avLst/>
          </a:prstGeom>
          <a:solidFill>
            <a:srgbClr val="B0BEC5"/>
          </a:solidFill>
          <a:ln w="12700">
            <a:solidFill>
              <a:srgbClr val="B0BEC5"/>
            </a:solidFill>
            <a:prstDash val="solid"/>
          </a:ln>
        </p:spPr>
      </p:sp>
      <p:sp>
        <p:nvSpPr>
          <p:cNvPr id="18" name="Shape 14"/>
          <p:cNvSpPr/>
          <p:nvPr/>
        </p:nvSpPr>
        <p:spPr>
          <a:xfrm>
            <a:off x="4251960" y="1737360"/>
            <a:ext cx="1600200" cy="1600200"/>
          </a:xfrm>
          <a:prstGeom prst="ellipse">
            <a:avLst/>
          </a:prstGeom>
          <a:solidFill>
            <a:srgbClr val="F79646"/>
          </a:solidFill>
          <a:ln w="12700">
            <a:solidFill>
              <a:srgbClr val="F79646"/>
            </a:solidFill>
            <a:prstDash val="solid"/>
          </a:ln>
        </p:spPr>
      </p:sp>
      <p:sp>
        <p:nvSpPr>
          <p:cNvPr id="19" name="Text 15"/>
          <p:cNvSpPr/>
          <p:nvPr/>
        </p:nvSpPr>
        <p:spPr>
          <a:xfrm>
            <a:off x="4251960" y="1828800"/>
            <a:ext cx="16002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16"/>
          <p:cNvSpPr/>
          <p:nvPr/>
        </p:nvSpPr>
        <p:spPr>
          <a:xfrm>
            <a:off x="4251960" y="2468880"/>
            <a:ext cx="1600200" cy="6400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Aging</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Calculation</a:t>
            </a:r>
            <a:endParaRPr lang="en-US" sz="950" dirty="0"/>
          </a:p>
        </p:txBody>
      </p:sp>
      <p:sp>
        <p:nvSpPr>
          <p:cNvPr id="21" name="Shape 17"/>
          <p:cNvSpPr/>
          <p:nvPr/>
        </p:nvSpPr>
        <p:spPr>
          <a:xfrm>
            <a:off x="5852160" y="2487168"/>
            <a:ext cx="365760" cy="73152"/>
          </a:xfrm>
          <a:prstGeom prst="rect">
            <a:avLst/>
          </a:prstGeom>
          <a:solidFill>
            <a:srgbClr val="B0BEC5"/>
          </a:solidFill>
          <a:ln w="12700">
            <a:solidFill>
              <a:srgbClr val="B0BEC5"/>
            </a:solidFill>
            <a:prstDash val="solid"/>
          </a:ln>
        </p:spPr>
      </p:sp>
      <p:sp>
        <p:nvSpPr>
          <p:cNvPr id="22" name="Shape 18"/>
          <p:cNvSpPr/>
          <p:nvPr/>
        </p:nvSpPr>
        <p:spPr>
          <a:xfrm rot="5400000">
            <a:off x="6135624" y="2423160"/>
            <a:ext cx="128016" cy="201168"/>
          </a:xfrm>
          <a:prstGeom prst="triangle">
            <a:avLst/>
          </a:prstGeom>
          <a:solidFill>
            <a:srgbClr val="B0BEC5"/>
          </a:solidFill>
          <a:ln w="12700">
            <a:solidFill>
              <a:srgbClr val="B0BEC5"/>
            </a:solidFill>
            <a:prstDash val="solid"/>
          </a:ln>
        </p:spPr>
      </p:sp>
      <p:sp>
        <p:nvSpPr>
          <p:cNvPr id="23" name="Shape 19"/>
          <p:cNvSpPr/>
          <p:nvPr/>
        </p:nvSpPr>
        <p:spPr>
          <a:xfrm>
            <a:off x="6217920" y="1737360"/>
            <a:ext cx="1600200" cy="1600200"/>
          </a:xfrm>
          <a:prstGeom prst="ellipse">
            <a:avLst/>
          </a:prstGeom>
          <a:solidFill>
            <a:srgbClr val="00ACC1"/>
          </a:solidFill>
          <a:ln w="12700">
            <a:solidFill>
              <a:srgbClr val="00ACC1"/>
            </a:solidFill>
            <a:prstDash val="solid"/>
          </a:ln>
        </p:spPr>
      </p:sp>
      <p:sp>
        <p:nvSpPr>
          <p:cNvPr id="24" name="Text 20"/>
          <p:cNvSpPr/>
          <p:nvPr/>
        </p:nvSpPr>
        <p:spPr>
          <a:xfrm>
            <a:off x="6217920" y="1828800"/>
            <a:ext cx="16002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5" name="Text 21"/>
          <p:cNvSpPr/>
          <p:nvPr/>
        </p:nvSpPr>
        <p:spPr>
          <a:xfrm>
            <a:off x="6217920" y="2468880"/>
            <a:ext cx="1600200" cy="6400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ML Risk</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Clustering</a:t>
            </a:r>
            <a:endParaRPr lang="en-US" sz="950" dirty="0"/>
          </a:p>
        </p:txBody>
      </p:sp>
      <p:sp>
        <p:nvSpPr>
          <p:cNvPr id="26" name="Shape 22"/>
          <p:cNvSpPr/>
          <p:nvPr/>
        </p:nvSpPr>
        <p:spPr>
          <a:xfrm>
            <a:off x="7818120" y="2487168"/>
            <a:ext cx="365760" cy="73152"/>
          </a:xfrm>
          <a:prstGeom prst="rect">
            <a:avLst/>
          </a:prstGeom>
          <a:solidFill>
            <a:srgbClr val="B0BEC5"/>
          </a:solidFill>
          <a:ln w="12700">
            <a:solidFill>
              <a:srgbClr val="B0BEC5"/>
            </a:solidFill>
            <a:prstDash val="solid"/>
          </a:ln>
        </p:spPr>
      </p:sp>
      <p:sp>
        <p:nvSpPr>
          <p:cNvPr id="27" name="Shape 23"/>
          <p:cNvSpPr/>
          <p:nvPr/>
        </p:nvSpPr>
        <p:spPr>
          <a:xfrm rot="5400000">
            <a:off x="8101584" y="2423160"/>
            <a:ext cx="128016" cy="201168"/>
          </a:xfrm>
          <a:prstGeom prst="triangle">
            <a:avLst/>
          </a:prstGeom>
          <a:solidFill>
            <a:srgbClr val="B0BEC5"/>
          </a:solidFill>
          <a:ln w="12700">
            <a:solidFill>
              <a:srgbClr val="B0BEC5"/>
            </a:solidFill>
            <a:prstDash val="solid"/>
          </a:ln>
        </p:spPr>
      </p:sp>
      <p:sp>
        <p:nvSpPr>
          <p:cNvPr id="28" name="Shape 24"/>
          <p:cNvSpPr/>
          <p:nvPr/>
        </p:nvSpPr>
        <p:spPr>
          <a:xfrm>
            <a:off x="8183880" y="1737360"/>
            <a:ext cx="1600200" cy="1600200"/>
          </a:xfrm>
          <a:prstGeom prst="ellipse">
            <a:avLst/>
          </a:prstGeom>
          <a:solidFill>
            <a:srgbClr val="8064A2"/>
          </a:solidFill>
          <a:ln w="12700">
            <a:solidFill>
              <a:srgbClr val="8064A2"/>
            </a:solidFill>
            <a:prstDash val="solid"/>
          </a:ln>
        </p:spPr>
      </p:sp>
      <p:sp>
        <p:nvSpPr>
          <p:cNvPr id="29" name="Text 25"/>
          <p:cNvSpPr/>
          <p:nvPr/>
        </p:nvSpPr>
        <p:spPr>
          <a:xfrm>
            <a:off x="8183880" y="1828800"/>
            <a:ext cx="16002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0" name="Text 26"/>
          <p:cNvSpPr/>
          <p:nvPr/>
        </p:nvSpPr>
        <p:spPr>
          <a:xfrm>
            <a:off x="8183880" y="2468880"/>
            <a:ext cx="1600200" cy="6400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AI</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Insights</a:t>
            </a:r>
            <a:endParaRPr lang="en-US" sz="950" dirty="0"/>
          </a:p>
        </p:txBody>
      </p:sp>
      <p:sp>
        <p:nvSpPr>
          <p:cNvPr id="31" name="Shape 27"/>
          <p:cNvSpPr/>
          <p:nvPr/>
        </p:nvSpPr>
        <p:spPr>
          <a:xfrm>
            <a:off x="9784080" y="2487168"/>
            <a:ext cx="365760" cy="73152"/>
          </a:xfrm>
          <a:prstGeom prst="rect">
            <a:avLst/>
          </a:prstGeom>
          <a:solidFill>
            <a:srgbClr val="B0BEC5"/>
          </a:solidFill>
          <a:ln w="12700">
            <a:solidFill>
              <a:srgbClr val="B0BEC5"/>
            </a:solidFill>
            <a:prstDash val="solid"/>
          </a:ln>
        </p:spPr>
      </p:sp>
      <p:sp>
        <p:nvSpPr>
          <p:cNvPr id="32" name="Shape 28"/>
          <p:cNvSpPr/>
          <p:nvPr/>
        </p:nvSpPr>
        <p:spPr>
          <a:xfrm rot="5400000">
            <a:off x="10067544" y="2423160"/>
            <a:ext cx="128016" cy="201168"/>
          </a:xfrm>
          <a:prstGeom prst="triangle">
            <a:avLst/>
          </a:prstGeom>
          <a:solidFill>
            <a:srgbClr val="B0BEC5"/>
          </a:solidFill>
          <a:ln w="12700">
            <a:solidFill>
              <a:srgbClr val="B0BEC5"/>
            </a:solidFill>
            <a:prstDash val="solid"/>
          </a:ln>
        </p:spPr>
      </p:sp>
      <p:sp>
        <p:nvSpPr>
          <p:cNvPr id="33" name="Shape 29"/>
          <p:cNvSpPr/>
          <p:nvPr/>
        </p:nvSpPr>
        <p:spPr>
          <a:xfrm>
            <a:off x="10149840" y="1737360"/>
            <a:ext cx="1600200" cy="1600200"/>
          </a:xfrm>
          <a:prstGeom prst="ellipse">
            <a:avLst/>
          </a:prstGeom>
          <a:solidFill>
            <a:srgbClr val="E53935"/>
          </a:solidFill>
          <a:ln w="12700">
            <a:solidFill>
              <a:srgbClr val="E53935"/>
            </a:solidFill>
            <a:prstDash val="solid"/>
          </a:ln>
        </p:spPr>
      </p:sp>
      <p:sp>
        <p:nvSpPr>
          <p:cNvPr id="34" name="Text 30"/>
          <p:cNvSpPr/>
          <p:nvPr/>
        </p:nvSpPr>
        <p:spPr>
          <a:xfrm>
            <a:off x="10149840" y="1828800"/>
            <a:ext cx="16002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5" name="Text 31"/>
          <p:cNvSpPr/>
          <p:nvPr/>
        </p:nvSpPr>
        <p:spPr>
          <a:xfrm>
            <a:off x="10149840" y="2468880"/>
            <a:ext cx="1600200" cy="6400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Dashboard</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&amp; Alerts</a:t>
            </a:r>
            <a:endParaRPr lang="en-US" sz="950" dirty="0"/>
          </a:p>
        </p:txBody>
      </p:sp>
      <p:sp>
        <p:nvSpPr>
          <p:cNvPr id="36" name="Shape 32"/>
          <p:cNvSpPr/>
          <p:nvPr/>
        </p:nvSpPr>
        <p:spPr>
          <a:xfrm>
            <a:off x="320040" y="3703320"/>
            <a:ext cx="2788920" cy="2514600"/>
          </a:xfrm>
          <a:prstGeom prst="roundRect">
            <a:avLst>
              <a:gd name="adj" fmla="val 3636"/>
            </a:avLst>
          </a:prstGeom>
          <a:solidFill>
            <a:srgbClr val="F0F7FF"/>
          </a:solidFill>
          <a:ln w="15240">
            <a:solidFill>
              <a:srgbClr val="BBDEFB"/>
            </a:solidFill>
            <a:prstDash val="solid"/>
          </a:ln>
        </p:spPr>
      </p:sp>
      <p:sp>
        <p:nvSpPr>
          <p:cNvPr id="37" name="Shape 33"/>
          <p:cNvSpPr/>
          <p:nvPr/>
        </p:nvSpPr>
        <p:spPr>
          <a:xfrm>
            <a:off x="320040" y="3703320"/>
            <a:ext cx="2788920" cy="64008"/>
          </a:xfrm>
          <a:prstGeom prst="rect">
            <a:avLst/>
          </a:prstGeom>
          <a:solidFill>
            <a:srgbClr val="289BE8"/>
          </a:solidFill>
          <a:ln w="12700">
            <a:solidFill>
              <a:srgbClr val="289BE8"/>
            </a:solidFill>
            <a:prstDash val="solid"/>
          </a:ln>
        </p:spPr>
      </p:sp>
      <p:sp>
        <p:nvSpPr>
          <p:cNvPr id="38" name="Text 34"/>
          <p:cNvSpPr/>
          <p:nvPr/>
        </p:nvSpPr>
        <p:spPr>
          <a:xfrm>
            <a:off x="484632" y="3858768"/>
            <a:ext cx="2450592" cy="384048"/>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Stateless Architecture</a:t>
            </a:r>
            <a:endParaRPr lang="en-US" sz="1200" dirty="0"/>
          </a:p>
        </p:txBody>
      </p:sp>
      <p:sp>
        <p:nvSpPr>
          <p:cNvPr id="39" name="Text 35"/>
          <p:cNvSpPr/>
          <p:nvPr/>
        </p:nvSpPr>
        <p:spPr>
          <a:xfrm>
            <a:off x="484632" y="4297680"/>
            <a:ext cx="2450592" cy="1783080"/>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Flask backend processes per request. No persistent DB — results saved as UUID-keyed JSON for 24 hours.</a:t>
            </a:r>
            <a:endParaRPr lang="en-US" sz="1050" dirty="0"/>
          </a:p>
        </p:txBody>
      </p:sp>
      <p:sp>
        <p:nvSpPr>
          <p:cNvPr id="40" name="Shape 36"/>
          <p:cNvSpPr/>
          <p:nvPr/>
        </p:nvSpPr>
        <p:spPr>
          <a:xfrm>
            <a:off x="3291840" y="3703320"/>
            <a:ext cx="2788920" cy="2514600"/>
          </a:xfrm>
          <a:prstGeom prst="roundRect">
            <a:avLst>
              <a:gd name="adj" fmla="val 3636"/>
            </a:avLst>
          </a:prstGeom>
          <a:solidFill>
            <a:srgbClr val="F0F7FF"/>
          </a:solidFill>
          <a:ln w="15240">
            <a:solidFill>
              <a:srgbClr val="BBDEFB"/>
            </a:solidFill>
            <a:prstDash val="solid"/>
          </a:ln>
        </p:spPr>
      </p:sp>
      <p:sp>
        <p:nvSpPr>
          <p:cNvPr id="41" name="Shape 37"/>
          <p:cNvSpPr/>
          <p:nvPr/>
        </p:nvSpPr>
        <p:spPr>
          <a:xfrm>
            <a:off x="3291840" y="3703320"/>
            <a:ext cx="2788920" cy="64008"/>
          </a:xfrm>
          <a:prstGeom prst="rect">
            <a:avLst/>
          </a:prstGeom>
          <a:solidFill>
            <a:srgbClr val="1565C0"/>
          </a:solidFill>
          <a:ln w="12700">
            <a:solidFill>
              <a:srgbClr val="1565C0"/>
            </a:solidFill>
            <a:prstDash val="solid"/>
          </a:ln>
        </p:spPr>
      </p:sp>
      <p:sp>
        <p:nvSpPr>
          <p:cNvPr id="42" name="Text 38"/>
          <p:cNvSpPr/>
          <p:nvPr/>
        </p:nvSpPr>
        <p:spPr>
          <a:xfrm>
            <a:off x="3456432" y="3858768"/>
            <a:ext cx="2450592" cy="384048"/>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Dual AI Model Fallback</a:t>
            </a:r>
            <a:endParaRPr lang="en-US" sz="1200" dirty="0"/>
          </a:p>
        </p:txBody>
      </p:sp>
      <p:sp>
        <p:nvSpPr>
          <p:cNvPr id="43" name="Text 39"/>
          <p:cNvSpPr/>
          <p:nvPr/>
        </p:nvSpPr>
        <p:spPr>
          <a:xfrm>
            <a:off x="3456432" y="4297680"/>
            <a:ext cx="2450592" cy="1783080"/>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Primary: Trinity-Large (128K context). Fallback: Qwen3 (1M context) with chain-of-thought reasoning.</a:t>
            </a:r>
            <a:endParaRPr lang="en-US" sz="1050" dirty="0"/>
          </a:p>
        </p:txBody>
      </p:sp>
      <p:sp>
        <p:nvSpPr>
          <p:cNvPr id="44" name="Shape 40"/>
          <p:cNvSpPr/>
          <p:nvPr/>
        </p:nvSpPr>
        <p:spPr>
          <a:xfrm>
            <a:off x="6263640" y="3703320"/>
            <a:ext cx="2788920" cy="2514600"/>
          </a:xfrm>
          <a:prstGeom prst="roundRect">
            <a:avLst>
              <a:gd name="adj" fmla="val 3636"/>
            </a:avLst>
          </a:prstGeom>
          <a:solidFill>
            <a:srgbClr val="F0F7FF"/>
          </a:solidFill>
          <a:ln w="15240">
            <a:solidFill>
              <a:srgbClr val="BBDEFB"/>
            </a:solidFill>
            <a:prstDash val="solid"/>
          </a:ln>
        </p:spPr>
      </p:sp>
      <p:sp>
        <p:nvSpPr>
          <p:cNvPr id="45" name="Shape 41"/>
          <p:cNvSpPr/>
          <p:nvPr/>
        </p:nvSpPr>
        <p:spPr>
          <a:xfrm>
            <a:off x="6263640" y="3703320"/>
            <a:ext cx="2788920" cy="64008"/>
          </a:xfrm>
          <a:prstGeom prst="rect">
            <a:avLst/>
          </a:prstGeom>
          <a:solidFill>
            <a:srgbClr val="00ACC1"/>
          </a:solidFill>
          <a:ln w="12700">
            <a:solidFill>
              <a:srgbClr val="00ACC1"/>
            </a:solidFill>
            <a:prstDash val="solid"/>
          </a:ln>
        </p:spPr>
      </p:sp>
      <p:sp>
        <p:nvSpPr>
          <p:cNvPr id="46" name="Text 42"/>
          <p:cNvSpPr/>
          <p:nvPr/>
        </p:nvSpPr>
        <p:spPr>
          <a:xfrm>
            <a:off x="6428232" y="3858768"/>
            <a:ext cx="2450592" cy="384048"/>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90% Compression</a:t>
            </a:r>
            <a:endParaRPr lang="en-US" sz="1200" dirty="0"/>
          </a:p>
        </p:txBody>
      </p:sp>
      <p:sp>
        <p:nvSpPr>
          <p:cNvPr id="47" name="Text 43"/>
          <p:cNvSpPr/>
          <p:nvPr/>
        </p:nvSpPr>
        <p:spPr>
          <a:xfrm>
            <a:off x="6428232" y="4297680"/>
            <a:ext cx="2450592" cy="1783080"/>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Gzip middleware reduces 4.4MB payloads to ~400KB. 7-day static caching with async data fetch.</a:t>
            </a:r>
            <a:endParaRPr lang="en-US" sz="1050" dirty="0"/>
          </a:p>
        </p:txBody>
      </p:sp>
      <p:sp>
        <p:nvSpPr>
          <p:cNvPr id="48" name="Shape 44"/>
          <p:cNvSpPr/>
          <p:nvPr/>
        </p:nvSpPr>
        <p:spPr>
          <a:xfrm>
            <a:off x="9235440" y="3703320"/>
            <a:ext cx="2788920" cy="2514600"/>
          </a:xfrm>
          <a:prstGeom prst="roundRect">
            <a:avLst>
              <a:gd name="adj" fmla="val 3636"/>
            </a:avLst>
          </a:prstGeom>
          <a:solidFill>
            <a:srgbClr val="F0F7FF"/>
          </a:solidFill>
          <a:ln w="15240">
            <a:solidFill>
              <a:srgbClr val="BBDEFB"/>
            </a:solidFill>
            <a:prstDash val="solid"/>
          </a:ln>
        </p:spPr>
      </p:sp>
      <p:sp>
        <p:nvSpPr>
          <p:cNvPr id="49" name="Shape 45"/>
          <p:cNvSpPr/>
          <p:nvPr/>
        </p:nvSpPr>
        <p:spPr>
          <a:xfrm>
            <a:off x="9235440" y="3703320"/>
            <a:ext cx="2788920" cy="64008"/>
          </a:xfrm>
          <a:prstGeom prst="rect">
            <a:avLst/>
          </a:prstGeom>
          <a:solidFill>
            <a:srgbClr val="8064A2"/>
          </a:solidFill>
          <a:ln w="12700">
            <a:solidFill>
              <a:srgbClr val="8064A2"/>
            </a:solidFill>
            <a:prstDash val="solid"/>
          </a:ln>
        </p:spPr>
      </p:sp>
      <p:sp>
        <p:nvSpPr>
          <p:cNvPr id="50" name="Text 46"/>
          <p:cNvSpPr/>
          <p:nvPr/>
        </p:nvSpPr>
        <p:spPr>
          <a:xfrm>
            <a:off x="9400032" y="3858768"/>
            <a:ext cx="2450592" cy="384048"/>
          </a:xfrm>
          <a:prstGeom prst="rect">
            <a:avLst/>
          </a:prstGeom>
          <a:noFill/>
          <a:ln/>
        </p:spPr>
        <p:txBody>
          <a:bodyPr wrap="square" rtlCol="0" anchor="ctr"/>
          <a:lstStyle/>
          <a:p>
            <a:pPr marL="0" indent="0">
              <a:buNone/>
            </a:pPr>
            <a:r>
              <a:rPr lang="en-US" sz="1200" b="1" dirty="0">
                <a:solidFill>
                  <a:srgbClr val="1F3A6E"/>
                </a:solidFill>
                <a:latin typeface="Calibri" pitchFamily="34" charset="0"/>
                <a:ea typeface="Calibri" pitchFamily="34" charset="-122"/>
                <a:cs typeface="Calibri" pitchFamily="34" charset="-120"/>
              </a:rPr>
              <a:t>Natural Language Query</a:t>
            </a:r>
            <a:endParaRPr lang="en-US" sz="1200" dirty="0"/>
          </a:p>
        </p:txBody>
      </p:sp>
      <p:sp>
        <p:nvSpPr>
          <p:cNvPr id="51" name="Text 47"/>
          <p:cNvSpPr/>
          <p:nvPr/>
        </p:nvSpPr>
        <p:spPr>
          <a:xfrm>
            <a:off x="9400032" y="4297680"/>
            <a:ext cx="2450592" cy="1783080"/>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AI chatbot answers questions about vendor risk, aging stats, overdue invoices using the dataset snapshot.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204704" y="73152"/>
            <a:ext cx="1773936" cy="640080"/>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Data Sources — SAP Tables</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Three core SAP Financial Accounting tables integrated via LIFNR</a:t>
            </a:r>
            <a:endParaRPr lang="en-US" sz="1300" dirty="0"/>
          </a:p>
        </p:txBody>
      </p:sp>
      <p:sp>
        <p:nvSpPr>
          <p:cNvPr id="8" name="Shape 4"/>
          <p:cNvSpPr/>
          <p:nvPr/>
        </p:nvSpPr>
        <p:spPr>
          <a:xfrm>
            <a:off x="320040" y="1664208"/>
            <a:ext cx="3749040" cy="4572000"/>
          </a:xfrm>
          <a:prstGeom prst="roundRect">
            <a:avLst>
              <a:gd name="adj" fmla="val 2439"/>
            </a:avLst>
          </a:prstGeom>
          <a:solidFill>
            <a:srgbClr val="FFFFFF"/>
          </a:solidFill>
          <a:ln w="15240">
            <a:solidFill>
              <a:srgbClr val="BBDEFB"/>
            </a:solidFill>
            <a:prstDash val="solid"/>
          </a:ln>
        </p:spPr>
      </p:sp>
      <p:sp>
        <p:nvSpPr>
          <p:cNvPr id="9" name="Shape 5"/>
          <p:cNvSpPr/>
          <p:nvPr/>
        </p:nvSpPr>
        <p:spPr>
          <a:xfrm>
            <a:off x="320040" y="1664208"/>
            <a:ext cx="3749040" cy="685800"/>
          </a:xfrm>
          <a:prstGeom prst="roundRect">
            <a:avLst>
              <a:gd name="adj" fmla="val 10667"/>
            </a:avLst>
          </a:prstGeom>
          <a:solidFill>
            <a:srgbClr val="289BE8"/>
          </a:solidFill>
          <a:ln w="12700">
            <a:solidFill>
              <a:srgbClr val="289BE8"/>
            </a:solidFill>
            <a:prstDash val="solid"/>
          </a:ln>
        </p:spPr>
      </p:sp>
      <p:sp>
        <p:nvSpPr>
          <p:cNvPr id="10" name="Text 6"/>
          <p:cNvSpPr/>
          <p:nvPr/>
        </p:nvSpPr>
        <p:spPr>
          <a:xfrm>
            <a:off x="457200" y="1709928"/>
            <a:ext cx="1828800" cy="3657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BSIK</a:t>
            </a:r>
            <a:endParaRPr lang="en-US" sz="2200" dirty="0"/>
          </a:p>
        </p:txBody>
      </p:sp>
      <p:sp>
        <p:nvSpPr>
          <p:cNvPr id="11" name="Text 7"/>
          <p:cNvSpPr/>
          <p:nvPr/>
        </p:nvSpPr>
        <p:spPr>
          <a:xfrm>
            <a:off x="457200" y="2029968"/>
            <a:ext cx="3383280" cy="256032"/>
          </a:xfrm>
          <a:prstGeom prst="rect">
            <a:avLst/>
          </a:prstGeom>
          <a:noFill/>
          <a:ln/>
        </p:spPr>
        <p:txBody>
          <a:bodyPr wrap="square" rtlCol="0" anchor="ctr"/>
          <a:lstStyle/>
          <a:p>
            <a:pPr marL="0" indent="0">
              <a:buNone/>
            </a:pPr>
            <a:r>
              <a:rPr lang="en-US" sz="950" i="1" dirty="0">
                <a:solidFill>
                  <a:srgbClr val="D0ECFF"/>
                </a:solidFill>
                <a:latin typeface="Calibri" pitchFamily="34" charset="0"/>
                <a:ea typeface="Calibri" pitchFamily="34" charset="-122"/>
                <a:cs typeface="Calibri" pitchFamily="34" charset="-120"/>
              </a:rPr>
              <a:t>Open Vendor Items</a:t>
            </a:r>
            <a:endParaRPr lang="en-US" sz="950" dirty="0"/>
          </a:p>
        </p:txBody>
      </p:sp>
      <p:sp>
        <p:nvSpPr>
          <p:cNvPr id="12" name="Text 8"/>
          <p:cNvSpPr/>
          <p:nvPr/>
        </p:nvSpPr>
        <p:spPr>
          <a:xfrm>
            <a:off x="484632" y="2487168"/>
            <a:ext cx="3383280" cy="274320"/>
          </a:xfrm>
          <a:prstGeom prst="rect">
            <a:avLst/>
          </a:prstGeom>
          <a:noFill/>
          <a:ln/>
        </p:spPr>
        <p:txBody>
          <a:bodyPr wrap="square" rtlCol="0" anchor="ctr"/>
          <a:lstStyle/>
          <a:p>
            <a:pPr marL="0" indent="0">
              <a:buNone/>
            </a:pPr>
            <a:r>
              <a:rPr lang="en-US" sz="1000" b="1" i="1" dirty="0">
                <a:solidFill>
                  <a:srgbClr val="289BE8"/>
                </a:solidFill>
                <a:latin typeface="Calibri" pitchFamily="34" charset="0"/>
                <a:ea typeface="Calibri" pitchFamily="34" charset="-122"/>
                <a:cs typeface="Calibri" pitchFamily="34" charset="-120"/>
              </a:rPr>
              <a:t>Core Transaction Table</a:t>
            </a:r>
            <a:endParaRPr lang="en-US" sz="1000" dirty="0"/>
          </a:p>
        </p:txBody>
      </p:sp>
      <p:sp>
        <p:nvSpPr>
          <p:cNvPr id="13" name="Shape 9"/>
          <p:cNvSpPr/>
          <p:nvPr/>
        </p:nvSpPr>
        <p:spPr>
          <a:xfrm>
            <a:off x="429768" y="2816352"/>
            <a:ext cx="3520440" cy="292608"/>
          </a:xfrm>
          <a:prstGeom prst="rect">
            <a:avLst/>
          </a:prstGeom>
          <a:solidFill>
            <a:srgbClr val="F0F7FF"/>
          </a:solidFill>
          <a:ln w="12700">
            <a:solidFill>
              <a:srgbClr val="BBDEFB"/>
            </a:solidFill>
            <a:prstDash val="solid"/>
          </a:ln>
        </p:spPr>
      </p:sp>
      <p:sp>
        <p:nvSpPr>
          <p:cNvPr id="14" name="Text 10"/>
          <p:cNvSpPr/>
          <p:nvPr/>
        </p:nvSpPr>
        <p:spPr>
          <a:xfrm>
            <a:off x="457200" y="2834640"/>
            <a:ext cx="77724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Field</a:t>
            </a:r>
            <a:endParaRPr lang="en-US" sz="900" dirty="0"/>
          </a:p>
        </p:txBody>
      </p:sp>
      <p:sp>
        <p:nvSpPr>
          <p:cNvPr id="15" name="Text 11"/>
          <p:cNvSpPr/>
          <p:nvPr/>
        </p:nvSpPr>
        <p:spPr>
          <a:xfrm>
            <a:off x="1280160" y="2834640"/>
            <a:ext cx="77724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Type</a:t>
            </a:r>
            <a:endParaRPr lang="en-US" sz="900" dirty="0"/>
          </a:p>
        </p:txBody>
      </p:sp>
      <p:sp>
        <p:nvSpPr>
          <p:cNvPr id="16" name="Text 12"/>
          <p:cNvSpPr/>
          <p:nvPr/>
        </p:nvSpPr>
        <p:spPr>
          <a:xfrm>
            <a:off x="2057400" y="2834640"/>
            <a:ext cx="182880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Meaning</a:t>
            </a:r>
            <a:endParaRPr lang="en-US" sz="900" dirty="0"/>
          </a:p>
        </p:txBody>
      </p:sp>
      <p:sp>
        <p:nvSpPr>
          <p:cNvPr id="17" name="Shape 13"/>
          <p:cNvSpPr/>
          <p:nvPr/>
        </p:nvSpPr>
        <p:spPr>
          <a:xfrm>
            <a:off x="429768" y="3090672"/>
            <a:ext cx="3520440" cy="329184"/>
          </a:xfrm>
          <a:prstGeom prst="rect">
            <a:avLst/>
          </a:prstGeom>
          <a:solidFill>
            <a:srgbClr val="F8FBFF"/>
          </a:solidFill>
          <a:ln w="12700">
            <a:solidFill>
              <a:srgbClr val="F8FBFF"/>
            </a:solidFill>
            <a:prstDash val="solid"/>
          </a:ln>
        </p:spPr>
      </p:sp>
      <p:sp>
        <p:nvSpPr>
          <p:cNvPr id="18" name="Text 14"/>
          <p:cNvSpPr/>
          <p:nvPr/>
        </p:nvSpPr>
        <p:spPr>
          <a:xfrm>
            <a:off x="457200" y="3127248"/>
            <a:ext cx="777240" cy="256032"/>
          </a:xfrm>
          <a:prstGeom prst="rect">
            <a:avLst/>
          </a:prstGeom>
          <a:noFill/>
          <a:ln/>
        </p:spPr>
        <p:txBody>
          <a:bodyPr wrap="square" rtlCol="0" anchor="ctr"/>
          <a:lstStyle/>
          <a:p>
            <a:pPr marL="0" indent="0">
              <a:buNone/>
            </a:pPr>
            <a:r>
              <a:rPr lang="en-US" sz="900" b="1" dirty="0">
                <a:solidFill>
                  <a:srgbClr val="289BE8"/>
                </a:solidFill>
                <a:latin typeface="Calibri" pitchFamily="34" charset="0"/>
                <a:ea typeface="Calibri" pitchFamily="34" charset="-122"/>
                <a:cs typeface="Calibri" pitchFamily="34" charset="-120"/>
              </a:rPr>
              <a:t>LIFNR</a:t>
            </a:r>
            <a:endParaRPr lang="en-US" sz="900" dirty="0"/>
          </a:p>
        </p:txBody>
      </p:sp>
      <p:sp>
        <p:nvSpPr>
          <p:cNvPr id="19" name="Text 15"/>
          <p:cNvSpPr/>
          <p:nvPr/>
        </p:nvSpPr>
        <p:spPr>
          <a:xfrm>
            <a:off x="1280160" y="3127248"/>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Char(10)</a:t>
            </a:r>
            <a:endParaRPr lang="en-US" sz="850" dirty="0"/>
          </a:p>
        </p:txBody>
      </p:sp>
      <p:sp>
        <p:nvSpPr>
          <p:cNvPr id="20" name="Text 16"/>
          <p:cNvSpPr/>
          <p:nvPr/>
        </p:nvSpPr>
        <p:spPr>
          <a:xfrm>
            <a:off x="2057400" y="3127248"/>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Vendor Number (FK joins all tables)</a:t>
            </a:r>
            <a:endParaRPr lang="en-US" sz="850" dirty="0"/>
          </a:p>
        </p:txBody>
      </p:sp>
      <p:sp>
        <p:nvSpPr>
          <p:cNvPr id="21" name="Text 17"/>
          <p:cNvSpPr/>
          <p:nvPr/>
        </p:nvSpPr>
        <p:spPr>
          <a:xfrm>
            <a:off x="457200" y="3474720"/>
            <a:ext cx="777240" cy="256032"/>
          </a:xfrm>
          <a:prstGeom prst="rect">
            <a:avLst/>
          </a:prstGeom>
          <a:noFill/>
          <a:ln/>
        </p:spPr>
        <p:txBody>
          <a:bodyPr wrap="square" rtlCol="0" anchor="ctr"/>
          <a:lstStyle/>
          <a:p>
            <a:pPr marL="0" indent="0">
              <a:buNone/>
            </a:pPr>
            <a:r>
              <a:rPr lang="en-US" sz="900" b="1" dirty="0">
                <a:solidFill>
                  <a:srgbClr val="289BE8"/>
                </a:solidFill>
                <a:latin typeface="Calibri" pitchFamily="34" charset="0"/>
                <a:ea typeface="Calibri" pitchFamily="34" charset="-122"/>
                <a:cs typeface="Calibri" pitchFamily="34" charset="-120"/>
              </a:rPr>
              <a:t>BLDAT</a:t>
            </a:r>
            <a:endParaRPr lang="en-US" sz="900" dirty="0"/>
          </a:p>
        </p:txBody>
      </p:sp>
      <p:sp>
        <p:nvSpPr>
          <p:cNvPr id="22" name="Text 18"/>
          <p:cNvSpPr/>
          <p:nvPr/>
        </p:nvSpPr>
        <p:spPr>
          <a:xfrm>
            <a:off x="1280160" y="3474720"/>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Date</a:t>
            </a:r>
            <a:endParaRPr lang="en-US" sz="850" dirty="0"/>
          </a:p>
        </p:txBody>
      </p:sp>
      <p:sp>
        <p:nvSpPr>
          <p:cNvPr id="23" name="Text 19"/>
          <p:cNvSpPr/>
          <p:nvPr/>
        </p:nvSpPr>
        <p:spPr>
          <a:xfrm>
            <a:off x="2057400" y="3474720"/>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Invoice Date</a:t>
            </a:r>
            <a:endParaRPr lang="en-US" sz="850" dirty="0"/>
          </a:p>
        </p:txBody>
      </p:sp>
      <p:sp>
        <p:nvSpPr>
          <p:cNvPr id="24" name="Shape 20"/>
          <p:cNvSpPr/>
          <p:nvPr/>
        </p:nvSpPr>
        <p:spPr>
          <a:xfrm>
            <a:off x="429768" y="3785616"/>
            <a:ext cx="3520440" cy="329184"/>
          </a:xfrm>
          <a:prstGeom prst="rect">
            <a:avLst/>
          </a:prstGeom>
          <a:solidFill>
            <a:srgbClr val="F8FBFF"/>
          </a:solidFill>
          <a:ln w="12700">
            <a:solidFill>
              <a:srgbClr val="F8FBFF"/>
            </a:solidFill>
            <a:prstDash val="solid"/>
          </a:ln>
        </p:spPr>
      </p:sp>
      <p:sp>
        <p:nvSpPr>
          <p:cNvPr id="25" name="Text 21"/>
          <p:cNvSpPr/>
          <p:nvPr/>
        </p:nvSpPr>
        <p:spPr>
          <a:xfrm>
            <a:off x="457200" y="3822192"/>
            <a:ext cx="777240" cy="256032"/>
          </a:xfrm>
          <a:prstGeom prst="rect">
            <a:avLst/>
          </a:prstGeom>
          <a:noFill/>
          <a:ln/>
        </p:spPr>
        <p:txBody>
          <a:bodyPr wrap="square" rtlCol="0" anchor="ctr"/>
          <a:lstStyle/>
          <a:p>
            <a:pPr marL="0" indent="0">
              <a:buNone/>
            </a:pPr>
            <a:r>
              <a:rPr lang="en-US" sz="900" b="1" dirty="0">
                <a:solidFill>
                  <a:srgbClr val="289BE8"/>
                </a:solidFill>
                <a:latin typeface="Calibri" pitchFamily="34" charset="0"/>
                <a:ea typeface="Calibri" pitchFamily="34" charset="-122"/>
                <a:cs typeface="Calibri" pitchFamily="34" charset="-120"/>
              </a:rPr>
              <a:t>BUDAT</a:t>
            </a:r>
            <a:endParaRPr lang="en-US" sz="900" dirty="0"/>
          </a:p>
        </p:txBody>
      </p:sp>
      <p:sp>
        <p:nvSpPr>
          <p:cNvPr id="26" name="Text 22"/>
          <p:cNvSpPr/>
          <p:nvPr/>
        </p:nvSpPr>
        <p:spPr>
          <a:xfrm>
            <a:off x="1280160" y="3822192"/>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Date</a:t>
            </a:r>
            <a:endParaRPr lang="en-US" sz="850" dirty="0"/>
          </a:p>
        </p:txBody>
      </p:sp>
      <p:sp>
        <p:nvSpPr>
          <p:cNvPr id="27" name="Text 23"/>
          <p:cNvSpPr/>
          <p:nvPr/>
        </p:nvSpPr>
        <p:spPr>
          <a:xfrm>
            <a:off x="2057400" y="3822192"/>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Posting Date</a:t>
            </a:r>
            <a:endParaRPr lang="en-US" sz="850" dirty="0"/>
          </a:p>
        </p:txBody>
      </p:sp>
      <p:sp>
        <p:nvSpPr>
          <p:cNvPr id="28" name="Text 24"/>
          <p:cNvSpPr/>
          <p:nvPr/>
        </p:nvSpPr>
        <p:spPr>
          <a:xfrm>
            <a:off x="457200" y="4169664"/>
            <a:ext cx="777240" cy="256032"/>
          </a:xfrm>
          <a:prstGeom prst="rect">
            <a:avLst/>
          </a:prstGeom>
          <a:noFill/>
          <a:ln/>
        </p:spPr>
        <p:txBody>
          <a:bodyPr wrap="square" rtlCol="0" anchor="ctr"/>
          <a:lstStyle/>
          <a:p>
            <a:pPr marL="0" indent="0">
              <a:buNone/>
            </a:pPr>
            <a:r>
              <a:rPr lang="en-US" sz="900" b="1" dirty="0">
                <a:solidFill>
                  <a:srgbClr val="289BE8"/>
                </a:solidFill>
                <a:latin typeface="Calibri" pitchFamily="34" charset="0"/>
                <a:ea typeface="Calibri" pitchFamily="34" charset="-122"/>
                <a:cs typeface="Calibri" pitchFamily="34" charset="-120"/>
              </a:rPr>
              <a:t>ZFBDT</a:t>
            </a:r>
            <a:endParaRPr lang="en-US" sz="900" dirty="0"/>
          </a:p>
        </p:txBody>
      </p:sp>
      <p:sp>
        <p:nvSpPr>
          <p:cNvPr id="29" name="Text 25"/>
          <p:cNvSpPr/>
          <p:nvPr/>
        </p:nvSpPr>
        <p:spPr>
          <a:xfrm>
            <a:off x="1280160" y="4169664"/>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Date</a:t>
            </a:r>
            <a:endParaRPr lang="en-US" sz="850" dirty="0"/>
          </a:p>
        </p:txBody>
      </p:sp>
      <p:sp>
        <p:nvSpPr>
          <p:cNvPr id="30" name="Text 26"/>
          <p:cNvSpPr/>
          <p:nvPr/>
        </p:nvSpPr>
        <p:spPr>
          <a:xfrm>
            <a:off x="2057400" y="4169664"/>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Baseline Date — payment start</a:t>
            </a:r>
            <a:endParaRPr lang="en-US" sz="850" dirty="0"/>
          </a:p>
        </p:txBody>
      </p:sp>
      <p:sp>
        <p:nvSpPr>
          <p:cNvPr id="31" name="Shape 27"/>
          <p:cNvSpPr/>
          <p:nvPr/>
        </p:nvSpPr>
        <p:spPr>
          <a:xfrm>
            <a:off x="429768" y="4480560"/>
            <a:ext cx="3520440" cy="329184"/>
          </a:xfrm>
          <a:prstGeom prst="rect">
            <a:avLst/>
          </a:prstGeom>
          <a:solidFill>
            <a:srgbClr val="F8FBFF"/>
          </a:solidFill>
          <a:ln w="12700">
            <a:solidFill>
              <a:srgbClr val="F8FBFF"/>
            </a:solidFill>
            <a:prstDash val="solid"/>
          </a:ln>
        </p:spPr>
      </p:sp>
      <p:sp>
        <p:nvSpPr>
          <p:cNvPr id="32" name="Text 28"/>
          <p:cNvSpPr/>
          <p:nvPr/>
        </p:nvSpPr>
        <p:spPr>
          <a:xfrm>
            <a:off x="457200" y="4517136"/>
            <a:ext cx="777240" cy="256032"/>
          </a:xfrm>
          <a:prstGeom prst="rect">
            <a:avLst/>
          </a:prstGeom>
          <a:noFill/>
          <a:ln/>
        </p:spPr>
        <p:txBody>
          <a:bodyPr wrap="square" rtlCol="0" anchor="ctr"/>
          <a:lstStyle/>
          <a:p>
            <a:pPr marL="0" indent="0">
              <a:buNone/>
            </a:pPr>
            <a:r>
              <a:rPr lang="en-US" sz="900" b="1" dirty="0">
                <a:solidFill>
                  <a:srgbClr val="289BE8"/>
                </a:solidFill>
                <a:latin typeface="Calibri" pitchFamily="34" charset="0"/>
                <a:ea typeface="Calibri" pitchFamily="34" charset="-122"/>
                <a:cs typeface="Calibri" pitchFamily="34" charset="-120"/>
              </a:rPr>
              <a:t>WRBTR</a:t>
            </a:r>
            <a:endParaRPr lang="en-US" sz="900" dirty="0"/>
          </a:p>
        </p:txBody>
      </p:sp>
      <p:sp>
        <p:nvSpPr>
          <p:cNvPr id="33" name="Text 29"/>
          <p:cNvSpPr/>
          <p:nvPr/>
        </p:nvSpPr>
        <p:spPr>
          <a:xfrm>
            <a:off x="1280160" y="4517136"/>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Currency</a:t>
            </a:r>
            <a:endParaRPr lang="en-US" sz="850" dirty="0"/>
          </a:p>
        </p:txBody>
      </p:sp>
      <p:sp>
        <p:nvSpPr>
          <p:cNvPr id="34" name="Text 30"/>
          <p:cNvSpPr/>
          <p:nvPr/>
        </p:nvSpPr>
        <p:spPr>
          <a:xfrm>
            <a:off x="2057400" y="4517136"/>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Invoice Amount (transaction currency)</a:t>
            </a:r>
            <a:endParaRPr lang="en-US" sz="850" dirty="0"/>
          </a:p>
        </p:txBody>
      </p:sp>
      <p:sp>
        <p:nvSpPr>
          <p:cNvPr id="35" name="Text 31"/>
          <p:cNvSpPr/>
          <p:nvPr/>
        </p:nvSpPr>
        <p:spPr>
          <a:xfrm>
            <a:off x="457200" y="4864608"/>
            <a:ext cx="777240" cy="256032"/>
          </a:xfrm>
          <a:prstGeom prst="rect">
            <a:avLst/>
          </a:prstGeom>
          <a:noFill/>
          <a:ln/>
        </p:spPr>
        <p:txBody>
          <a:bodyPr wrap="square" rtlCol="0" anchor="ctr"/>
          <a:lstStyle/>
          <a:p>
            <a:pPr marL="0" indent="0">
              <a:buNone/>
            </a:pPr>
            <a:r>
              <a:rPr lang="en-US" sz="900" b="1" dirty="0">
                <a:solidFill>
                  <a:srgbClr val="289BE8"/>
                </a:solidFill>
                <a:latin typeface="Calibri" pitchFamily="34" charset="0"/>
                <a:ea typeface="Calibri" pitchFamily="34" charset="-122"/>
                <a:cs typeface="Calibri" pitchFamily="34" charset="-120"/>
              </a:rPr>
              <a:t>ZTERM</a:t>
            </a:r>
            <a:endParaRPr lang="en-US" sz="900" dirty="0"/>
          </a:p>
        </p:txBody>
      </p:sp>
      <p:sp>
        <p:nvSpPr>
          <p:cNvPr id="36" name="Text 32"/>
          <p:cNvSpPr/>
          <p:nvPr/>
        </p:nvSpPr>
        <p:spPr>
          <a:xfrm>
            <a:off x="1280160" y="4864608"/>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Char(4)</a:t>
            </a:r>
            <a:endParaRPr lang="en-US" sz="850" dirty="0"/>
          </a:p>
        </p:txBody>
      </p:sp>
      <p:sp>
        <p:nvSpPr>
          <p:cNvPr id="37" name="Text 33"/>
          <p:cNvSpPr/>
          <p:nvPr/>
        </p:nvSpPr>
        <p:spPr>
          <a:xfrm>
            <a:off x="2057400" y="4864608"/>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Payment Terms code</a:t>
            </a:r>
            <a:endParaRPr lang="en-US" sz="850" dirty="0"/>
          </a:p>
        </p:txBody>
      </p:sp>
      <p:sp>
        <p:nvSpPr>
          <p:cNvPr id="38" name="Shape 34"/>
          <p:cNvSpPr/>
          <p:nvPr/>
        </p:nvSpPr>
        <p:spPr>
          <a:xfrm>
            <a:off x="4279392" y="1664208"/>
            <a:ext cx="3749040" cy="4572000"/>
          </a:xfrm>
          <a:prstGeom prst="roundRect">
            <a:avLst>
              <a:gd name="adj" fmla="val 2439"/>
            </a:avLst>
          </a:prstGeom>
          <a:solidFill>
            <a:srgbClr val="FFFFFF"/>
          </a:solidFill>
          <a:ln w="15240">
            <a:solidFill>
              <a:srgbClr val="BBDEFB"/>
            </a:solidFill>
            <a:prstDash val="solid"/>
          </a:ln>
        </p:spPr>
      </p:sp>
      <p:sp>
        <p:nvSpPr>
          <p:cNvPr id="39" name="Shape 35"/>
          <p:cNvSpPr/>
          <p:nvPr/>
        </p:nvSpPr>
        <p:spPr>
          <a:xfrm>
            <a:off x="4279392" y="1664208"/>
            <a:ext cx="3749040" cy="685800"/>
          </a:xfrm>
          <a:prstGeom prst="roundRect">
            <a:avLst>
              <a:gd name="adj" fmla="val 10667"/>
            </a:avLst>
          </a:prstGeom>
          <a:solidFill>
            <a:srgbClr val="1565C0"/>
          </a:solidFill>
          <a:ln w="12700">
            <a:solidFill>
              <a:srgbClr val="1565C0"/>
            </a:solidFill>
            <a:prstDash val="solid"/>
          </a:ln>
        </p:spPr>
      </p:sp>
      <p:sp>
        <p:nvSpPr>
          <p:cNvPr id="40" name="Text 36"/>
          <p:cNvSpPr/>
          <p:nvPr/>
        </p:nvSpPr>
        <p:spPr>
          <a:xfrm>
            <a:off x="4416552" y="1709928"/>
            <a:ext cx="1828800" cy="3657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LFA1</a:t>
            </a:r>
            <a:endParaRPr lang="en-US" sz="2200" dirty="0"/>
          </a:p>
        </p:txBody>
      </p:sp>
      <p:sp>
        <p:nvSpPr>
          <p:cNvPr id="41" name="Text 37"/>
          <p:cNvSpPr/>
          <p:nvPr/>
        </p:nvSpPr>
        <p:spPr>
          <a:xfrm>
            <a:off x="4416552" y="2029968"/>
            <a:ext cx="3383280" cy="256032"/>
          </a:xfrm>
          <a:prstGeom prst="rect">
            <a:avLst/>
          </a:prstGeom>
          <a:noFill/>
          <a:ln/>
        </p:spPr>
        <p:txBody>
          <a:bodyPr wrap="square" rtlCol="0" anchor="ctr"/>
          <a:lstStyle/>
          <a:p>
            <a:pPr marL="0" indent="0">
              <a:buNone/>
            </a:pPr>
            <a:r>
              <a:rPr lang="en-US" sz="950" i="1" dirty="0">
                <a:solidFill>
                  <a:srgbClr val="D0ECFF"/>
                </a:solidFill>
                <a:latin typeface="Calibri" pitchFamily="34" charset="0"/>
                <a:ea typeface="Calibri" pitchFamily="34" charset="-122"/>
                <a:cs typeface="Calibri" pitchFamily="34" charset="-120"/>
              </a:rPr>
              <a:t>Vendor Master — General</a:t>
            </a:r>
            <a:endParaRPr lang="en-US" sz="950" dirty="0"/>
          </a:p>
        </p:txBody>
      </p:sp>
      <p:sp>
        <p:nvSpPr>
          <p:cNvPr id="42" name="Text 38"/>
          <p:cNvSpPr/>
          <p:nvPr/>
        </p:nvSpPr>
        <p:spPr>
          <a:xfrm>
            <a:off x="4443984" y="2487168"/>
            <a:ext cx="3383280" cy="274320"/>
          </a:xfrm>
          <a:prstGeom prst="rect">
            <a:avLst/>
          </a:prstGeom>
          <a:noFill/>
          <a:ln/>
        </p:spPr>
        <p:txBody>
          <a:bodyPr wrap="square" rtlCol="0" anchor="ctr"/>
          <a:lstStyle/>
          <a:p>
            <a:pPr marL="0" indent="0">
              <a:buNone/>
            </a:pPr>
            <a:r>
              <a:rPr lang="en-US" sz="1000" b="1" i="1" dirty="0">
                <a:solidFill>
                  <a:srgbClr val="1565C0"/>
                </a:solidFill>
                <a:latin typeface="Calibri" pitchFamily="34" charset="0"/>
                <a:ea typeface="Calibri" pitchFamily="34" charset="-122"/>
                <a:cs typeface="Calibri" pitchFamily="34" charset="-120"/>
              </a:rPr>
              <a:t>Vendor Identity Table</a:t>
            </a:r>
            <a:endParaRPr lang="en-US" sz="1000" dirty="0"/>
          </a:p>
        </p:txBody>
      </p:sp>
      <p:sp>
        <p:nvSpPr>
          <p:cNvPr id="43" name="Shape 39"/>
          <p:cNvSpPr/>
          <p:nvPr/>
        </p:nvSpPr>
        <p:spPr>
          <a:xfrm>
            <a:off x="4389120" y="2816352"/>
            <a:ext cx="3520440" cy="292608"/>
          </a:xfrm>
          <a:prstGeom prst="rect">
            <a:avLst/>
          </a:prstGeom>
          <a:solidFill>
            <a:srgbClr val="F0F7FF"/>
          </a:solidFill>
          <a:ln w="12700">
            <a:solidFill>
              <a:srgbClr val="BBDEFB"/>
            </a:solidFill>
            <a:prstDash val="solid"/>
          </a:ln>
        </p:spPr>
      </p:sp>
      <p:sp>
        <p:nvSpPr>
          <p:cNvPr id="44" name="Text 40"/>
          <p:cNvSpPr/>
          <p:nvPr/>
        </p:nvSpPr>
        <p:spPr>
          <a:xfrm>
            <a:off x="4416552" y="2834640"/>
            <a:ext cx="77724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Field</a:t>
            </a:r>
            <a:endParaRPr lang="en-US" sz="900" dirty="0"/>
          </a:p>
        </p:txBody>
      </p:sp>
      <p:sp>
        <p:nvSpPr>
          <p:cNvPr id="45" name="Text 41"/>
          <p:cNvSpPr/>
          <p:nvPr/>
        </p:nvSpPr>
        <p:spPr>
          <a:xfrm>
            <a:off x="5239512" y="2834640"/>
            <a:ext cx="77724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Type</a:t>
            </a:r>
            <a:endParaRPr lang="en-US" sz="900" dirty="0"/>
          </a:p>
        </p:txBody>
      </p:sp>
      <p:sp>
        <p:nvSpPr>
          <p:cNvPr id="46" name="Text 42"/>
          <p:cNvSpPr/>
          <p:nvPr/>
        </p:nvSpPr>
        <p:spPr>
          <a:xfrm>
            <a:off x="6016752" y="2834640"/>
            <a:ext cx="182880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Meaning</a:t>
            </a:r>
            <a:endParaRPr lang="en-US" sz="900" dirty="0"/>
          </a:p>
        </p:txBody>
      </p:sp>
      <p:sp>
        <p:nvSpPr>
          <p:cNvPr id="47" name="Shape 43"/>
          <p:cNvSpPr/>
          <p:nvPr/>
        </p:nvSpPr>
        <p:spPr>
          <a:xfrm>
            <a:off x="4389120" y="3090672"/>
            <a:ext cx="3520440" cy="329184"/>
          </a:xfrm>
          <a:prstGeom prst="rect">
            <a:avLst/>
          </a:prstGeom>
          <a:solidFill>
            <a:srgbClr val="F8FBFF"/>
          </a:solidFill>
          <a:ln w="12700">
            <a:solidFill>
              <a:srgbClr val="F8FBFF"/>
            </a:solidFill>
            <a:prstDash val="solid"/>
          </a:ln>
        </p:spPr>
      </p:sp>
      <p:sp>
        <p:nvSpPr>
          <p:cNvPr id="48" name="Text 44"/>
          <p:cNvSpPr/>
          <p:nvPr/>
        </p:nvSpPr>
        <p:spPr>
          <a:xfrm>
            <a:off x="4416552" y="3127248"/>
            <a:ext cx="777240" cy="256032"/>
          </a:xfrm>
          <a:prstGeom prst="rect">
            <a:avLst/>
          </a:prstGeom>
          <a:noFill/>
          <a:ln/>
        </p:spPr>
        <p:txBody>
          <a:bodyPr wrap="square" rtlCol="0" anchor="ctr"/>
          <a:lstStyle/>
          <a:p>
            <a:pPr marL="0" indent="0">
              <a:buNone/>
            </a:pPr>
            <a:r>
              <a:rPr lang="en-US" sz="900" b="1" dirty="0">
                <a:solidFill>
                  <a:srgbClr val="1565C0"/>
                </a:solidFill>
                <a:latin typeface="Calibri" pitchFamily="34" charset="0"/>
                <a:ea typeface="Calibri" pitchFamily="34" charset="-122"/>
                <a:cs typeface="Calibri" pitchFamily="34" charset="-120"/>
              </a:rPr>
              <a:t>LIFNR</a:t>
            </a:r>
            <a:endParaRPr lang="en-US" sz="900" dirty="0"/>
          </a:p>
        </p:txBody>
      </p:sp>
      <p:sp>
        <p:nvSpPr>
          <p:cNvPr id="49" name="Text 45"/>
          <p:cNvSpPr/>
          <p:nvPr/>
        </p:nvSpPr>
        <p:spPr>
          <a:xfrm>
            <a:off x="5239512" y="3127248"/>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Char(10)</a:t>
            </a:r>
            <a:endParaRPr lang="en-US" sz="850" dirty="0"/>
          </a:p>
        </p:txBody>
      </p:sp>
      <p:sp>
        <p:nvSpPr>
          <p:cNvPr id="50" name="Text 46"/>
          <p:cNvSpPr/>
          <p:nvPr/>
        </p:nvSpPr>
        <p:spPr>
          <a:xfrm>
            <a:off x="6016752" y="3127248"/>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Vendor Number (Primary Key)</a:t>
            </a:r>
            <a:endParaRPr lang="en-US" sz="850" dirty="0"/>
          </a:p>
        </p:txBody>
      </p:sp>
      <p:sp>
        <p:nvSpPr>
          <p:cNvPr id="51" name="Text 47"/>
          <p:cNvSpPr/>
          <p:nvPr/>
        </p:nvSpPr>
        <p:spPr>
          <a:xfrm>
            <a:off x="4416552" y="3474720"/>
            <a:ext cx="777240" cy="256032"/>
          </a:xfrm>
          <a:prstGeom prst="rect">
            <a:avLst/>
          </a:prstGeom>
          <a:noFill/>
          <a:ln/>
        </p:spPr>
        <p:txBody>
          <a:bodyPr wrap="square" rtlCol="0" anchor="ctr"/>
          <a:lstStyle/>
          <a:p>
            <a:pPr marL="0" indent="0">
              <a:buNone/>
            </a:pPr>
            <a:r>
              <a:rPr lang="en-US" sz="900" b="1" dirty="0">
                <a:solidFill>
                  <a:srgbClr val="1565C0"/>
                </a:solidFill>
                <a:latin typeface="Calibri" pitchFamily="34" charset="0"/>
                <a:ea typeface="Calibri" pitchFamily="34" charset="-122"/>
                <a:cs typeface="Calibri" pitchFamily="34" charset="-120"/>
              </a:rPr>
              <a:t>NAME1</a:t>
            </a:r>
            <a:endParaRPr lang="en-US" sz="900" dirty="0"/>
          </a:p>
        </p:txBody>
      </p:sp>
      <p:sp>
        <p:nvSpPr>
          <p:cNvPr id="52" name="Text 48"/>
          <p:cNvSpPr/>
          <p:nvPr/>
        </p:nvSpPr>
        <p:spPr>
          <a:xfrm>
            <a:off x="5239512" y="3474720"/>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Char(35)</a:t>
            </a:r>
            <a:endParaRPr lang="en-US" sz="850" dirty="0"/>
          </a:p>
        </p:txBody>
      </p:sp>
      <p:sp>
        <p:nvSpPr>
          <p:cNvPr id="53" name="Text 49"/>
          <p:cNvSpPr/>
          <p:nvPr/>
        </p:nvSpPr>
        <p:spPr>
          <a:xfrm>
            <a:off x="6016752" y="3474720"/>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Vendor Name</a:t>
            </a:r>
            <a:endParaRPr lang="en-US" sz="850" dirty="0"/>
          </a:p>
        </p:txBody>
      </p:sp>
      <p:sp>
        <p:nvSpPr>
          <p:cNvPr id="54" name="Shape 50"/>
          <p:cNvSpPr/>
          <p:nvPr/>
        </p:nvSpPr>
        <p:spPr>
          <a:xfrm>
            <a:off x="4389120" y="3785616"/>
            <a:ext cx="3520440" cy="329184"/>
          </a:xfrm>
          <a:prstGeom prst="rect">
            <a:avLst/>
          </a:prstGeom>
          <a:solidFill>
            <a:srgbClr val="F8FBFF"/>
          </a:solidFill>
          <a:ln w="12700">
            <a:solidFill>
              <a:srgbClr val="F8FBFF"/>
            </a:solidFill>
            <a:prstDash val="solid"/>
          </a:ln>
        </p:spPr>
      </p:sp>
      <p:sp>
        <p:nvSpPr>
          <p:cNvPr id="55" name="Text 51"/>
          <p:cNvSpPr/>
          <p:nvPr/>
        </p:nvSpPr>
        <p:spPr>
          <a:xfrm>
            <a:off x="4416552" y="3822192"/>
            <a:ext cx="777240" cy="256032"/>
          </a:xfrm>
          <a:prstGeom prst="rect">
            <a:avLst/>
          </a:prstGeom>
          <a:noFill/>
          <a:ln/>
        </p:spPr>
        <p:txBody>
          <a:bodyPr wrap="square" rtlCol="0" anchor="ctr"/>
          <a:lstStyle/>
          <a:p>
            <a:pPr marL="0" indent="0">
              <a:buNone/>
            </a:pPr>
            <a:r>
              <a:rPr lang="en-US" sz="900" b="1" dirty="0">
                <a:solidFill>
                  <a:srgbClr val="1565C0"/>
                </a:solidFill>
                <a:latin typeface="Calibri" pitchFamily="34" charset="0"/>
                <a:ea typeface="Calibri" pitchFamily="34" charset="-122"/>
                <a:cs typeface="Calibri" pitchFamily="34" charset="-120"/>
              </a:rPr>
              <a:t>LAND1</a:t>
            </a:r>
            <a:endParaRPr lang="en-US" sz="900" dirty="0"/>
          </a:p>
        </p:txBody>
      </p:sp>
      <p:sp>
        <p:nvSpPr>
          <p:cNvPr id="56" name="Text 52"/>
          <p:cNvSpPr/>
          <p:nvPr/>
        </p:nvSpPr>
        <p:spPr>
          <a:xfrm>
            <a:off x="5239512" y="3822192"/>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Char(3)</a:t>
            </a:r>
            <a:endParaRPr lang="en-US" sz="850" dirty="0"/>
          </a:p>
        </p:txBody>
      </p:sp>
      <p:sp>
        <p:nvSpPr>
          <p:cNvPr id="57" name="Text 53"/>
          <p:cNvSpPr/>
          <p:nvPr/>
        </p:nvSpPr>
        <p:spPr>
          <a:xfrm>
            <a:off x="6016752" y="3822192"/>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Country Code (ISO)</a:t>
            </a:r>
            <a:endParaRPr lang="en-US" sz="850" dirty="0"/>
          </a:p>
        </p:txBody>
      </p:sp>
      <p:sp>
        <p:nvSpPr>
          <p:cNvPr id="58" name="Shape 54"/>
          <p:cNvSpPr/>
          <p:nvPr/>
        </p:nvSpPr>
        <p:spPr>
          <a:xfrm>
            <a:off x="8238744" y="1664208"/>
            <a:ext cx="3749040" cy="4572000"/>
          </a:xfrm>
          <a:prstGeom prst="roundRect">
            <a:avLst>
              <a:gd name="adj" fmla="val 2439"/>
            </a:avLst>
          </a:prstGeom>
          <a:solidFill>
            <a:srgbClr val="FFFFFF"/>
          </a:solidFill>
          <a:ln w="15240">
            <a:solidFill>
              <a:srgbClr val="BBDEFB"/>
            </a:solidFill>
            <a:prstDash val="solid"/>
          </a:ln>
        </p:spPr>
      </p:sp>
      <p:sp>
        <p:nvSpPr>
          <p:cNvPr id="59" name="Shape 55"/>
          <p:cNvSpPr/>
          <p:nvPr/>
        </p:nvSpPr>
        <p:spPr>
          <a:xfrm>
            <a:off x="8238744" y="1664208"/>
            <a:ext cx="3749040" cy="685800"/>
          </a:xfrm>
          <a:prstGeom prst="roundRect">
            <a:avLst>
              <a:gd name="adj" fmla="val 10667"/>
            </a:avLst>
          </a:prstGeom>
          <a:solidFill>
            <a:srgbClr val="00ACC1"/>
          </a:solidFill>
          <a:ln w="12700">
            <a:solidFill>
              <a:srgbClr val="00ACC1"/>
            </a:solidFill>
            <a:prstDash val="solid"/>
          </a:ln>
        </p:spPr>
      </p:sp>
      <p:sp>
        <p:nvSpPr>
          <p:cNvPr id="60" name="Text 56"/>
          <p:cNvSpPr/>
          <p:nvPr/>
        </p:nvSpPr>
        <p:spPr>
          <a:xfrm>
            <a:off x="8375904" y="1709928"/>
            <a:ext cx="1828800" cy="3657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LFB1</a:t>
            </a:r>
            <a:endParaRPr lang="en-US" sz="2200" dirty="0"/>
          </a:p>
        </p:txBody>
      </p:sp>
      <p:sp>
        <p:nvSpPr>
          <p:cNvPr id="61" name="Text 57"/>
          <p:cNvSpPr/>
          <p:nvPr/>
        </p:nvSpPr>
        <p:spPr>
          <a:xfrm>
            <a:off x="8375904" y="2029968"/>
            <a:ext cx="3383280" cy="256032"/>
          </a:xfrm>
          <a:prstGeom prst="rect">
            <a:avLst/>
          </a:prstGeom>
          <a:noFill/>
          <a:ln/>
        </p:spPr>
        <p:txBody>
          <a:bodyPr wrap="square" rtlCol="0" anchor="ctr"/>
          <a:lstStyle/>
          <a:p>
            <a:pPr marL="0" indent="0">
              <a:buNone/>
            </a:pPr>
            <a:r>
              <a:rPr lang="en-US" sz="950" i="1" dirty="0">
                <a:solidFill>
                  <a:srgbClr val="D0ECFF"/>
                </a:solidFill>
                <a:latin typeface="Calibri" pitchFamily="34" charset="0"/>
                <a:ea typeface="Calibri" pitchFamily="34" charset="-122"/>
                <a:cs typeface="Calibri" pitchFamily="34" charset="-120"/>
              </a:rPr>
              <a:t>Vendor Master — Company</a:t>
            </a:r>
            <a:endParaRPr lang="en-US" sz="950" dirty="0"/>
          </a:p>
        </p:txBody>
      </p:sp>
      <p:sp>
        <p:nvSpPr>
          <p:cNvPr id="62" name="Text 58"/>
          <p:cNvSpPr/>
          <p:nvPr/>
        </p:nvSpPr>
        <p:spPr>
          <a:xfrm>
            <a:off x="8403336" y="2487168"/>
            <a:ext cx="3383280" cy="274320"/>
          </a:xfrm>
          <a:prstGeom prst="rect">
            <a:avLst/>
          </a:prstGeom>
          <a:noFill/>
          <a:ln/>
        </p:spPr>
        <p:txBody>
          <a:bodyPr wrap="square" rtlCol="0" anchor="ctr"/>
          <a:lstStyle/>
          <a:p>
            <a:pPr marL="0" indent="0">
              <a:buNone/>
            </a:pPr>
            <a:r>
              <a:rPr lang="en-US" sz="1000" b="1" i="1" dirty="0">
                <a:solidFill>
                  <a:srgbClr val="00ACC1"/>
                </a:solidFill>
                <a:latin typeface="Calibri" pitchFamily="34" charset="0"/>
                <a:ea typeface="Calibri" pitchFamily="34" charset="-122"/>
                <a:cs typeface="Calibri" pitchFamily="34" charset="-120"/>
              </a:rPr>
              <a:t>Payment Terms Config</a:t>
            </a:r>
            <a:endParaRPr lang="en-US" sz="1000" dirty="0"/>
          </a:p>
        </p:txBody>
      </p:sp>
      <p:sp>
        <p:nvSpPr>
          <p:cNvPr id="63" name="Shape 59"/>
          <p:cNvSpPr/>
          <p:nvPr/>
        </p:nvSpPr>
        <p:spPr>
          <a:xfrm>
            <a:off x="8348472" y="2816352"/>
            <a:ext cx="3520440" cy="292608"/>
          </a:xfrm>
          <a:prstGeom prst="rect">
            <a:avLst/>
          </a:prstGeom>
          <a:solidFill>
            <a:srgbClr val="F0F7FF"/>
          </a:solidFill>
          <a:ln w="12700">
            <a:solidFill>
              <a:srgbClr val="BBDEFB"/>
            </a:solidFill>
            <a:prstDash val="solid"/>
          </a:ln>
        </p:spPr>
      </p:sp>
      <p:sp>
        <p:nvSpPr>
          <p:cNvPr id="64" name="Text 60"/>
          <p:cNvSpPr/>
          <p:nvPr/>
        </p:nvSpPr>
        <p:spPr>
          <a:xfrm>
            <a:off x="8375904" y="2834640"/>
            <a:ext cx="77724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Field</a:t>
            </a:r>
            <a:endParaRPr lang="en-US" sz="900" dirty="0"/>
          </a:p>
        </p:txBody>
      </p:sp>
      <p:sp>
        <p:nvSpPr>
          <p:cNvPr id="65" name="Text 61"/>
          <p:cNvSpPr/>
          <p:nvPr/>
        </p:nvSpPr>
        <p:spPr>
          <a:xfrm>
            <a:off x="9198864" y="2834640"/>
            <a:ext cx="77724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Type</a:t>
            </a:r>
            <a:endParaRPr lang="en-US" sz="900" dirty="0"/>
          </a:p>
        </p:txBody>
      </p:sp>
      <p:sp>
        <p:nvSpPr>
          <p:cNvPr id="66" name="Text 62"/>
          <p:cNvSpPr/>
          <p:nvPr/>
        </p:nvSpPr>
        <p:spPr>
          <a:xfrm>
            <a:off x="9976104" y="2834640"/>
            <a:ext cx="1828800" cy="256032"/>
          </a:xfrm>
          <a:prstGeom prst="rect">
            <a:avLst/>
          </a:prstGeom>
          <a:noFill/>
          <a:ln/>
        </p:spPr>
        <p:txBody>
          <a:bodyPr wrap="square" rtlCol="0" anchor="ctr"/>
          <a:lstStyle/>
          <a:p>
            <a:pPr marL="0" indent="0">
              <a:buNone/>
            </a:pPr>
            <a:r>
              <a:rPr lang="en-US" sz="900" b="1" dirty="0">
                <a:solidFill>
                  <a:srgbClr val="1F3A6E"/>
                </a:solidFill>
                <a:latin typeface="Calibri" pitchFamily="34" charset="0"/>
                <a:ea typeface="Calibri" pitchFamily="34" charset="-122"/>
                <a:cs typeface="Calibri" pitchFamily="34" charset="-120"/>
              </a:rPr>
              <a:t>Meaning</a:t>
            </a:r>
            <a:endParaRPr lang="en-US" sz="900" dirty="0"/>
          </a:p>
        </p:txBody>
      </p:sp>
      <p:sp>
        <p:nvSpPr>
          <p:cNvPr id="67" name="Shape 63"/>
          <p:cNvSpPr/>
          <p:nvPr/>
        </p:nvSpPr>
        <p:spPr>
          <a:xfrm>
            <a:off x="8348472" y="3090672"/>
            <a:ext cx="3520440" cy="329184"/>
          </a:xfrm>
          <a:prstGeom prst="rect">
            <a:avLst/>
          </a:prstGeom>
          <a:solidFill>
            <a:srgbClr val="F8FBFF"/>
          </a:solidFill>
          <a:ln w="12700">
            <a:solidFill>
              <a:srgbClr val="F8FBFF"/>
            </a:solidFill>
            <a:prstDash val="solid"/>
          </a:ln>
        </p:spPr>
      </p:sp>
      <p:sp>
        <p:nvSpPr>
          <p:cNvPr id="68" name="Text 64"/>
          <p:cNvSpPr/>
          <p:nvPr/>
        </p:nvSpPr>
        <p:spPr>
          <a:xfrm>
            <a:off x="8375904" y="3127248"/>
            <a:ext cx="777240" cy="256032"/>
          </a:xfrm>
          <a:prstGeom prst="rect">
            <a:avLst/>
          </a:prstGeom>
          <a:noFill/>
          <a:ln/>
        </p:spPr>
        <p:txBody>
          <a:bodyPr wrap="square"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LIFNR</a:t>
            </a:r>
            <a:endParaRPr lang="en-US" sz="900" dirty="0"/>
          </a:p>
        </p:txBody>
      </p:sp>
      <p:sp>
        <p:nvSpPr>
          <p:cNvPr id="69" name="Text 65"/>
          <p:cNvSpPr/>
          <p:nvPr/>
        </p:nvSpPr>
        <p:spPr>
          <a:xfrm>
            <a:off x="9198864" y="3127248"/>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Char(10)</a:t>
            </a:r>
            <a:endParaRPr lang="en-US" sz="850" dirty="0"/>
          </a:p>
        </p:txBody>
      </p:sp>
      <p:sp>
        <p:nvSpPr>
          <p:cNvPr id="70" name="Text 66"/>
          <p:cNvSpPr/>
          <p:nvPr/>
        </p:nvSpPr>
        <p:spPr>
          <a:xfrm>
            <a:off x="9976104" y="3127248"/>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Vendor Number (FK)</a:t>
            </a:r>
            <a:endParaRPr lang="en-US" sz="850" dirty="0"/>
          </a:p>
        </p:txBody>
      </p:sp>
      <p:sp>
        <p:nvSpPr>
          <p:cNvPr id="71" name="Text 67"/>
          <p:cNvSpPr/>
          <p:nvPr/>
        </p:nvSpPr>
        <p:spPr>
          <a:xfrm>
            <a:off x="8375904" y="3474720"/>
            <a:ext cx="777240" cy="256032"/>
          </a:xfrm>
          <a:prstGeom prst="rect">
            <a:avLst/>
          </a:prstGeom>
          <a:noFill/>
          <a:ln/>
        </p:spPr>
        <p:txBody>
          <a:bodyPr wrap="square"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BUKRS</a:t>
            </a:r>
            <a:endParaRPr lang="en-US" sz="900" dirty="0"/>
          </a:p>
        </p:txBody>
      </p:sp>
      <p:sp>
        <p:nvSpPr>
          <p:cNvPr id="72" name="Text 68"/>
          <p:cNvSpPr/>
          <p:nvPr/>
        </p:nvSpPr>
        <p:spPr>
          <a:xfrm>
            <a:off x="9198864" y="3474720"/>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Char(4)</a:t>
            </a:r>
            <a:endParaRPr lang="en-US" sz="850" dirty="0"/>
          </a:p>
        </p:txBody>
      </p:sp>
      <p:sp>
        <p:nvSpPr>
          <p:cNvPr id="73" name="Text 69"/>
          <p:cNvSpPr/>
          <p:nvPr/>
        </p:nvSpPr>
        <p:spPr>
          <a:xfrm>
            <a:off x="9976104" y="3474720"/>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Company Code</a:t>
            </a:r>
            <a:endParaRPr lang="en-US" sz="850" dirty="0"/>
          </a:p>
        </p:txBody>
      </p:sp>
      <p:sp>
        <p:nvSpPr>
          <p:cNvPr id="74" name="Shape 70"/>
          <p:cNvSpPr/>
          <p:nvPr/>
        </p:nvSpPr>
        <p:spPr>
          <a:xfrm>
            <a:off x="8348472" y="3785616"/>
            <a:ext cx="3520440" cy="329184"/>
          </a:xfrm>
          <a:prstGeom prst="rect">
            <a:avLst/>
          </a:prstGeom>
          <a:solidFill>
            <a:srgbClr val="F8FBFF"/>
          </a:solidFill>
          <a:ln w="12700">
            <a:solidFill>
              <a:srgbClr val="F8FBFF"/>
            </a:solidFill>
            <a:prstDash val="solid"/>
          </a:ln>
        </p:spPr>
      </p:sp>
      <p:sp>
        <p:nvSpPr>
          <p:cNvPr id="75" name="Text 71"/>
          <p:cNvSpPr/>
          <p:nvPr/>
        </p:nvSpPr>
        <p:spPr>
          <a:xfrm>
            <a:off x="8375904" y="3822192"/>
            <a:ext cx="777240" cy="256032"/>
          </a:xfrm>
          <a:prstGeom prst="rect">
            <a:avLst/>
          </a:prstGeom>
          <a:noFill/>
          <a:ln/>
        </p:spPr>
        <p:txBody>
          <a:bodyPr wrap="square" rtlCol="0" anchor="ctr"/>
          <a:lstStyle/>
          <a:p>
            <a:pPr marL="0" indent="0">
              <a:buNone/>
            </a:pPr>
            <a:r>
              <a:rPr lang="en-US" sz="900" b="1" dirty="0">
                <a:solidFill>
                  <a:srgbClr val="00ACC1"/>
                </a:solidFill>
                <a:latin typeface="Calibri" pitchFamily="34" charset="0"/>
                <a:ea typeface="Calibri" pitchFamily="34" charset="-122"/>
                <a:cs typeface="Calibri" pitchFamily="34" charset="-120"/>
              </a:rPr>
              <a:t>ZTERM</a:t>
            </a:r>
            <a:endParaRPr lang="en-US" sz="900" dirty="0"/>
          </a:p>
        </p:txBody>
      </p:sp>
      <p:sp>
        <p:nvSpPr>
          <p:cNvPr id="76" name="Text 72"/>
          <p:cNvSpPr/>
          <p:nvPr/>
        </p:nvSpPr>
        <p:spPr>
          <a:xfrm>
            <a:off x="9198864" y="3822192"/>
            <a:ext cx="77724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Char(4)</a:t>
            </a:r>
            <a:endParaRPr lang="en-US" sz="850" dirty="0"/>
          </a:p>
        </p:txBody>
      </p:sp>
      <p:sp>
        <p:nvSpPr>
          <p:cNvPr id="77" name="Text 73"/>
          <p:cNvSpPr/>
          <p:nvPr/>
        </p:nvSpPr>
        <p:spPr>
          <a:xfrm>
            <a:off x="9976104" y="3822192"/>
            <a:ext cx="1874520" cy="256032"/>
          </a:xfrm>
          <a:prstGeom prst="rect">
            <a:avLst/>
          </a:prstGeom>
          <a:noFill/>
          <a:ln/>
        </p:spPr>
        <p:txBody>
          <a:bodyPr wrap="square" rtlCol="0" anchor="ctr"/>
          <a:lstStyle/>
          <a:p>
            <a:pPr marL="0" indent="0">
              <a:buNone/>
            </a:pPr>
            <a:r>
              <a:rPr lang="en-US" sz="850" dirty="0">
                <a:solidFill>
                  <a:srgbClr val="37474F"/>
                </a:solidFill>
                <a:latin typeface="Calibri" pitchFamily="34" charset="0"/>
                <a:ea typeface="Calibri" pitchFamily="34" charset="-122"/>
                <a:cs typeface="Calibri" pitchFamily="34" charset="-120"/>
              </a:rPr>
              <a:t>Payment Terms (credit days)</a:t>
            </a:r>
            <a:endParaRPr lang="en-US" sz="850" dirty="0"/>
          </a:p>
        </p:txBody>
      </p:sp>
      <p:sp>
        <p:nvSpPr>
          <p:cNvPr id="79" name="Text 75"/>
          <p:cNvSpPr/>
          <p:nvPr/>
        </p:nvSpPr>
        <p:spPr>
          <a:xfrm>
            <a:off x="457200" y="6428232"/>
            <a:ext cx="11247120" cy="274320"/>
          </a:xfrm>
          <a:prstGeom prst="rect">
            <a:avLst/>
          </a:prstGeom>
          <a:noFill/>
          <a:ln/>
        </p:spPr>
        <p:txBody>
          <a:bodyPr wrap="square" rtlCol="0" anchor="ctr"/>
          <a:lstStyle/>
          <a:p>
            <a:pPr marL="0" indent="0">
              <a:buNone/>
            </a:pP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243518" y="134874"/>
            <a:ext cx="1826562" cy="653796"/>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System Architecture</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Stateless web application — Flask backend + Browser rendering</a:t>
            </a:r>
            <a:endParaRPr lang="en-US" sz="1300" dirty="0"/>
          </a:p>
        </p:txBody>
      </p:sp>
      <p:sp>
        <p:nvSpPr>
          <p:cNvPr id="8" name="Shape 4"/>
          <p:cNvSpPr/>
          <p:nvPr/>
        </p:nvSpPr>
        <p:spPr>
          <a:xfrm>
            <a:off x="320040" y="1691640"/>
            <a:ext cx="7772400" cy="749808"/>
          </a:xfrm>
          <a:prstGeom prst="roundRect">
            <a:avLst>
              <a:gd name="adj" fmla="val 8537"/>
            </a:avLst>
          </a:prstGeom>
          <a:solidFill>
            <a:srgbClr val="8064A2"/>
          </a:solidFill>
          <a:ln w="12700">
            <a:solidFill>
              <a:srgbClr val="8064A2"/>
            </a:solidFill>
            <a:prstDash val="solid"/>
          </a:ln>
        </p:spPr>
      </p:sp>
      <p:sp>
        <p:nvSpPr>
          <p:cNvPr id="9" name="Text 5"/>
          <p:cNvSpPr/>
          <p:nvPr/>
        </p:nvSpPr>
        <p:spPr>
          <a:xfrm>
            <a:off x="502920" y="1737360"/>
            <a:ext cx="3200400" cy="34747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Browser (Frontend)</a:t>
            </a:r>
            <a:endParaRPr lang="en-US" sz="1250" dirty="0"/>
          </a:p>
        </p:txBody>
      </p:sp>
      <p:sp>
        <p:nvSpPr>
          <p:cNvPr id="10" name="Text 6"/>
          <p:cNvSpPr/>
          <p:nvPr/>
        </p:nvSpPr>
        <p:spPr>
          <a:xfrm>
            <a:off x="502920" y="2103120"/>
            <a:ext cx="7406640" cy="274320"/>
          </a:xfrm>
          <a:prstGeom prst="rect">
            <a:avLst/>
          </a:prstGeom>
          <a:noFill/>
          <a:ln/>
        </p:spPr>
        <p:txBody>
          <a:bodyPr wrap="square" rtlCol="0" anchor="ctr"/>
          <a:lstStyle/>
          <a:p>
            <a:pPr marL="0" indent="0">
              <a:buNone/>
            </a:pPr>
            <a:r>
              <a:rPr lang="en-US" sz="1000" i="1" dirty="0">
                <a:solidFill>
                  <a:srgbClr val="D0ECFF"/>
                </a:solidFill>
                <a:latin typeface="Calibri" pitchFamily="34" charset="0"/>
                <a:ea typeface="Calibri" pitchFamily="34" charset="-122"/>
                <a:cs typeface="Calibri" pitchFamily="34" charset="-120"/>
              </a:rPr>
              <a:t>index.html  results.html  vendors.html  intelligence.html</a:t>
            </a:r>
            <a:endParaRPr lang="en-US" sz="1000" dirty="0"/>
          </a:p>
        </p:txBody>
      </p:sp>
      <p:sp>
        <p:nvSpPr>
          <p:cNvPr id="11" name="Shape 7"/>
          <p:cNvSpPr/>
          <p:nvPr/>
        </p:nvSpPr>
        <p:spPr>
          <a:xfrm>
            <a:off x="3931920" y="2441448"/>
            <a:ext cx="54864" cy="146304"/>
          </a:xfrm>
          <a:prstGeom prst="rect">
            <a:avLst/>
          </a:prstGeom>
          <a:solidFill>
            <a:srgbClr val="B0BEC5"/>
          </a:solidFill>
          <a:ln w="12700">
            <a:solidFill>
              <a:srgbClr val="B0BEC5"/>
            </a:solidFill>
            <a:prstDash val="solid"/>
          </a:ln>
        </p:spPr>
      </p:sp>
      <p:sp>
        <p:nvSpPr>
          <p:cNvPr id="12" name="Shape 8"/>
          <p:cNvSpPr/>
          <p:nvPr/>
        </p:nvSpPr>
        <p:spPr>
          <a:xfrm>
            <a:off x="320040" y="2578608"/>
            <a:ext cx="7772400" cy="749808"/>
          </a:xfrm>
          <a:prstGeom prst="roundRect">
            <a:avLst>
              <a:gd name="adj" fmla="val 8537"/>
            </a:avLst>
          </a:prstGeom>
          <a:solidFill>
            <a:srgbClr val="1565C0"/>
          </a:solidFill>
          <a:ln w="12700">
            <a:solidFill>
              <a:srgbClr val="1565C0"/>
            </a:solidFill>
            <a:prstDash val="solid"/>
          </a:ln>
        </p:spPr>
      </p:sp>
      <p:sp>
        <p:nvSpPr>
          <p:cNvPr id="13" name="Text 9"/>
          <p:cNvSpPr/>
          <p:nvPr/>
        </p:nvSpPr>
        <p:spPr>
          <a:xfrm>
            <a:off x="502920" y="2624328"/>
            <a:ext cx="3200400" cy="34747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Flask Backend (app.py)</a:t>
            </a:r>
            <a:endParaRPr lang="en-US" sz="1250" dirty="0"/>
          </a:p>
        </p:txBody>
      </p:sp>
      <p:sp>
        <p:nvSpPr>
          <p:cNvPr id="14" name="Text 10"/>
          <p:cNvSpPr/>
          <p:nvPr/>
        </p:nvSpPr>
        <p:spPr>
          <a:xfrm>
            <a:off x="502920" y="2990088"/>
            <a:ext cx="7406640" cy="274320"/>
          </a:xfrm>
          <a:prstGeom prst="rect">
            <a:avLst/>
          </a:prstGeom>
          <a:noFill/>
          <a:ln/>
        </p:spPr>
        <p:txBody>
          <a:bodyPr wrap="square" rtlCol="0" anchor="ctr"/>
          <a:lstStyle/>
          <a:p>
            <a:pPr marL="0" indent="0">
              <a:buNone/>
            </a:pPr>
            <a:r>
              <a:rPr lang="en-US" sz="1000" i="1" dirty="0">
                <a:solidFill>
                  <a:srgbClr val="D0ECFF"/>
                </a:solidFill>
                <a:latin typeface="Calibri" pitchFamily="34" charset="0"/>
                <a:ea typeface="Calibri" pitchFamily="34" charset="-122"/>
                <a:cs typeface="Calibri" pitchFamily="34" charset="-120"/>
              </a:rPr>
              <a:t>Receives CSVs  •  Orchestrates pipeline  •  Jinja2 templates  •  AI proxy</a:t>
            </a:r>
            <a:endParaRPr lang="en-US" sz="1000" dirty="0"/>
          </a:p>
        </p:txBody>
      </p:sp>
      <p:sp>
        <p:nvSpPr>
          <p:cNvPr id="15" name="Shape 11"/>
          <p:cNvSpPr/>
          <p:nvPr/>
        </p:nvSpPr>
        <p:spPr>
          <a:xfrm>
            <a:off x="3931920" y="3328416"/>
            <a:ext cx="54864" cy="146304"/>
          </a:xfrm>
          <a:prstGeom prst="rect">
            <a:avLst/>
          </a:prstGeom>
          <a:solidFill>
            <a:srgbClr val="B0BEC5"/>
          </a:solidFill>
          <a:ln w="12700">
            <a:solidFill>
              <a:srgbClr val="B0BEC5"/>
            </a:solidFill>
            <a:prstDash val="solid"/>
          </a:ln>
        </p:spPr>
      </p:sp>
      <p:sp>
        <p:nvSpPr>
          <p:cNvPr id="16" name="Shape 12"/>
          <p:cNvSpPr/>
          <p:nvPr/>
        </p:nvSpPr>
        <p:spPr>
          <a:xfrm>
            <a:off x="320040" y="3465576"/>
            <a:ext cx="7772400" cy="749808"/>
          </a:xfrm>
          <a:prstGeom prst="roundRect">
            <a:avLst>
              <a:gd name="adj" fmla="val 8537"/>
            </a:avLst>
          </a:prstGeom>
          <a:solidFill>
            <a:srgbClr val="00ACC1"/>
          </a:solidFill>
          <a:ln w="12700">
            <a:solidFill>
              <a:srgbClr val="00ACC1"/>
            </a:solidFill>
            <a:prstDash val="solid"/>
          </a:ln>
        </p:spPr>
      </p:sp>
      <p:sp>
        <p:nvSpPr>
          <p:cNvPr id="17" name="Text 13"/>
          <p:cNvSpPr/>
          <p:nvPr/>
        </p:nvSpPr>
        <p:spPr>
          <a:xfrm>
            <a:off x="502920" y="3511296"/>
            <a:ext cx="3200400" cy="34747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ML Model (ml_model.py)</a:t>
            </a:r>
            <a:endParaRPr lang="en-US" sz="1250" dirty="0"/>
          </a:p>
        </p:txBody>
      </p:sp>
      <p:sp>
        <p:nvSpPr>
          <p:cNvPr id="18" name="Text 14"/>
          <p:cNvSpPr/>
          <p:nvPr/>
        </p:nvSpPr>
        <p:spPr>
          <a:xfrm>
            <a:off x="502920" y="3877056"/>
            <a:ext cx="7406640" cy="274320"/>
          </a:xfrm>
          <a:prstGeom prst="rect">
            <a:avLst/>
          </a:prstGeom>
          <a:noFill/>
          <a:ln/>
        </p:spPr>
        <p:txBody>
          <a:bodyPr wrap="square" rtlCol="0" anchor="ctr"/>
          <a:lstStyle/>
          <a:p>
            <a:pPr marL="0" indent="0">
              <a:buNone/>
            </a:pPr>
            <a:r>
              <a:rPr lang="en-US" sz="1000" i="1" dirty="0">
                <a:solidFill>
                  <a:srgbClr val="D0ECFF"/>
                </a:solidFill>
                <a:latin typeface="Calibri" pitchFamily="34" charset="0"/>
                <a:ea typeface="Calibri" pitchFamily="34" charset="-122"/>
                <a:cs typeface="Calibri" pitchFamily="34" charset="-120"/>
              </a:rPr>
              <a:t>K-Means Clustering  •  Risk Scoring (0–100)  •  Feature Normalization</a:t>
            </a:r>
            <a:endParaRPr lang="en-US" sz="1000" dirty="0"/>
          </a:p>
        </p:txBody>
      </p:sp>
      <p:sp>
        <p:nvSpPr>
          <p:cNvPr id="19" name="Shape 15"/>
          <p:cNvSpPr/>
          <p:nvPr/>
        </p:nvSpPr>
        <p:spPr>
          <a:xfrm>
            <a:off x="3931920" y="4215384"/>
            <a:ext cx="54864" cy="146304"/>
          </a:xfrm>
          <a:prstGeom prst="rect">
            <a:avLst/>
          </a:prstGeom>
          <a:solidFill>
            <a:srgbClr val="B0BEC5"/>
          </a:solidFill>
          <a:ln w="12700">
            <a:solidFill>
              <a:srgbClr val="B0BEC5"/>
            </a:solidFill>
            <a:prstDash val="solid"/>
          </a:ln>
        </p:spPr>
      </p:sp>
      <p:sp>
        <p:nvSpPr>
          <p:cNvPr id="20" name="Shape 16"/>
          <p:cNvSpPr/>
          <p:nvPr/>
        </p:nvSpPr>
        <p:spPr>
          <a:xfrm>
            <a:off x="320040" y="4352544"/>
            <a:ext cx="7772400" cy="749808"/>
          </a:xfrm>
          <a:prstGeom prst="roundRect">
            <a:avLst>
              <a:gd name="adj" fmla="val 8537"/>
            </a:avLst>
          </a:prstGeom>
          <a:solidFill>
            <a:srgbClr val="F79646"/>
          </a:solidFill>
          <a:ln w="12700">
            <a:solidFill>
              <a:srgbClr val="F79646"/>
            </a:solidFill>
            <a:prstDash val="solid"/>
          </a:ln>
        </p:spPr>
      </p:sp>
      <p:sp>
        <p:nvSpPr>
          <p:cNvPr id="21" name="Text 17"/>
          <p:cNvSpPr/>
          <p:nvPr/>
        </p:nvSpPr>
        <p:spPr>
          <a:xfrm>
            <a:off x="502920" y="4398264"/>
            <a:ext cx="3200400" cy="34747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File Storage</a:t>
            </a:r>
            <a:endParaRPr lang="en-US" sz="1250" dirty="0"/>
          </a:p>
        </p:txBody>
      </p:sp>
      <p:sp>
        <p:nvSpPr>
          <p:cNvPr id="22" name="Text 18"/>
          <p:cNvSpPr/>
          <p:nvPr/>
        </p:nvSpPr>
        <p:spPr>
          <a:xfrm>
            <a:off x="502920" y="4764024"/>
            <a:ext cx="7406640" cy="274320"/>
          </a:xfrm>
          <a:prstGeom prst="rect">
            <a:avLst/>
          </a:prstGeom>
          <a:noFill/>
          <a:ln/>
        </p:spPr>
        <p:txBody>
          <a:bodyPr wrap="square" rtlCol="0" anchor="ctr"/>
          <a:lstStyle/>
          <a:p>
            <a:pPr marL="0" indent="0">
              <a:buNone/>
            </a:pPr>
            <a:r>
              <a:rPr lang="en-US" sz="1000" i="1" dirty="0">
                <a:solidFill>
                  <a:srgbClr val="D0ECFF"/>
                </a:solidFill>
                <a:latin typeface="Calibri" pitchFamily="34" charset="0"/>
                <a:ea typeface="Calibri" pitchFamily="34" charset="-122"/>
                <a:cs typeface="Calibri" pitchFamily="34" charset="-120"/>
              </a:rPr>
              <a:t>uploads/ (auto-delete)  •  results/ UUID-keyed JSON (24hr expiry)</a:t>
            </a:r>
            <a:endParaRPr lang="en-US" sz="1000" dirty="0"/>
          </a:p>
        </p:txBody>
      </p:sp>
      <p:sp>
        <p:nvSpPr>
          <p:cNvPr id="23" name="Shape 19"/>
          <p:cNvSpPr/>
          <p:nvPr/>
        </p:nvSpPr>
        <p:spPr>
          <a:xfrm>
            <a:off x="3931920" y="5102352"/>
            <a:ext cx="54864" cy="146304"/>
          </a:xfrm>
          <a:prstGeom prst="rect">
            <a:avLst/>
          </a:prstGeom>
          <a:solidFill>
            <a:srgbClr val="B0BEC5"/>
          </a:solidFill>
          <a:ln w="12700">
            <a:solidFill>
              <a:srgbClr val="B0BEC5"/>
            </a:solidFill>
            <a:prstDash val="solid"/>
          </a:ln>
        </p:spPr>
      </p:sp>
      <p:sp>
        <p:nvSpPr>
          <p:cNvPr id="24" name="Shape 20"/>
          <p:cNvSpPr/>
          <p:nvPr/>
        </p:nvSpPr>
        <p:spPr>
          <a:xfrm>
            <a:off x="320040" y="5239512"/>
            <a:ext cx="7772400" cy="749808"/>
          </a:xfrm>
          <a:prstGeom prst="roundRect">
            <a:avLst>
              <a:gd name="adj" fmla="val 8537"/>
            </a:avLst>
          </a:prstGeom>
          <a:solidFill>
            <a:srgbClr val="E53935"/>
          </a:solidFill>
          <a:ln w="12700">
            <a:solidFill>
              <a:srgbClr val="E53935"/>
            </a:solidFill>
            <a:prstDash val="solid"/>
          </a:ln>
        </p:spPr>
      </p:sp>
      <p:sp>
        <p:nvSpPr>
          <p:cNvPr id="25" name="Text 21"/>
          <p:cNvSpPr/>
          <p:nvPr/>
        </p:nvSpPr>
        <p:spPr>
          <a:xfrm>
            <a:off x="502920" y="5285232"/>
            <a:ext cx="3200400" cy="347472"/>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OpenRouter AI Gateway</a:t>
            </a:r>
            <a:endParaRPr lang="en-US" sz="1250" dirty="0"/>
          </a:p>
        </p:txBody>
      </p:sp>
      <p:sp>
        <p:nvSpPr>
          <p:cNvPr id="26" name="Text 22"/>
          <p:cNvSpPr/>
          <p:nvPr/>
        </p:nvSpPr>
        <p:spPr>
          <a:xfrm>
            <a:off x="502920" y="5650992"/>
            <a:ext cx="7406640" cy="274320"/>
          </a:xfrm>
          <a:prstGeom prst="rect">
            <a:avLst/>
          </a:prstGeom>
          <a:noFill/>
          <a:ln/>
        </p:spPr>
        <p:txBody>
          <a:bodyPr wrap="square" rtlCol="0" anchor="ctr"/>
          <a:lstStyle/>
          <a:p>
            <a:pPr marL="0" indent="0">
              <a:buNone/>
            </a:pPr>
            <a:r>
              <a:rPr lang="en-US" sz="1000" i="1" dirty="0">
                <a:solidFill>
                  <a:srgbClr val="D0ECFF"/>
                </a:solidFill>
                <a:latin typeface="Calibri" pitchFamily="34" charset="0"/>
                <a:ea typeface="Calibri" pitchFamily="34" charset="-122"/>
                <a:cs typeface="Calibri" pitchFamily="34" charset="-120"/>
              </a:rPr>
              <a:t>Primary: Trinity-Large (128K)  •  Fallback: Qwen3-Plus (1M context)</a:t>
            </a:r>
            <a:endParaRPr lang="en-US" sz="1000" dirty="0"/>
          </a:p>
        </p:txBody>
      </p:sp>
      <p:sp>
        <p:nvSpPr>
          <p:cNvPr id="27" name="Shape 23"/>
          <p:cNvSpPr/>
          <p:nvPr/>
        </p:nvSpPr>
        <p:spPr>
          <a:xfrm>
            <a:off x="8412480" y="1691640"/>
            <a:ext cx="3566160" cy="4297680"/>
          </a:xfrm>
          <a:prstGeom prst="roundRect">
            <a:avLst>
              <a:gd name="adj" fmla="val 2564"/>
            </a:avLst>
          </a:prstGeom>
          <a:solidFill>
            <a:srgbClr val="F0F7FF"/>
          </a:solidFill>
          <a:ln w="15240">
            <a:solidFill>
              <a:srgbClr val="BBDEFB"/>
            </a:solidFill>
            <a:prstDash val="solid"/>
          </a:ln>
        </p:spPr>
      </p:sp>
      <p:sp>
        <p:nvSpPr>
          <p:cNvPr id="28" name="Text 24"/>
          <p:cNvSpPr/>
          <p:nvPr/>
        </p:nvSpPr>
        <p:spPr>
          <a:xfrm>
            <a:off x="8577072" y="1783080"/>
            <a:ext cx="3200400" cy="347472"/>
          </a:xfrm>
          <a:prstGeom prst="rect">
            <a:avLst/>
          </a:prstGeom>
          <a:noFill/>
          <a:ln/>
        </p:spPr>
        <p:txBody>
          <a:bodyPr wrap="square" rtlCol="0" anchor="ctr"/>
          <a:lstStyle/>
          <a:p>
            <a:pPr marL="0" indent="0">
              <a:buNone/>
            </a:pPr>
            <a:r>
              <a:rPr lang="en-US" sz="1300" b="1" dirty="0">
                <a:solidFill>
                  <a:srgbClr val="1F3A6E"/>
                </a:solidFill>
                <a:latin typeface="Calibri" pitchFamily="34" charset="0"/>
                <a:ea typeface="Calibri" pitchFamily="34" charset="-122"/>
                <a:cs typeface="Calibri" pitchFamily="34" charset="-120"/>
              </a:rPr>
              <a:t>⚡ Performance</a:t>
            </a:r>
            <a:endParaRPr lang="en-US" sz="1300" dirty="0"/>
          </a:p>
        </p:txBody>
      </p:sp>
      <p:sp>
        <p:nvSpPr>
          <p:cNvPr id="29" name="Shape 25"/>
          <p:cNvSpPr/>
          <p:nvPr/>
        </p:nvSpPr>
        <p:spPr>
          <a:xfrm>
            <a:off x="8412480" y="2249424"/>
            <a:ext cx="3566160" cy="45720"/>
          </a:xfrm>
          <a:prstGeom prst="rect">
            <a:avLst/>
          </a:prstGeom>
          <a:solidFill>
            <a:srgbClr val="BBDEFB"/>
          </a:solidFill>
          <a:ln w="12700">
            <a:solidFill>
              <a:srgbClr val="BBDEFB"/>
            </a:solidFill>
            <a:prstDash val="solid"/>
          </a:ln>
        </p:spPr>
      </p:sp>
      <p:sp>
        <p:nvSpPr>
          <p:cNvPr id="30" name="Text 26"/>
          <p:cNvSpPr/>
          <p:nvPr/>
        </p:nvSpPr>
        <p:spPr>
          <a:xfrm>
            <a:off x="8577072" y="2304288"/>
            <a:ext cx="1005840" cy="347472"/>
          </a:xfrm>
          <a:prstGeom prst="rect">
            <a:avLst/>
          </a:prstGeom>
          <a:noFill/>
          <a:ln/>
        </p:spPr>
        <p:txBody>
          <a:bodyPr wrap="square" rtlCol="0" anchor="ctr"/>
          <a:lstStyle/>
          <a:p>
            <a:pPr marL="0" indent="0">
              <a:buNone/>
            </a:pPr>
            <a:r>
              <a:rPr lang="en-US" sz="1600" b="1" dirty="0">
                <a:solidFill>
                  <a:srgbClr val="1565C0"/>
                </a:solidFill>
                <a:latin typeface="Calibri" pitchFamily="34" charset="0"/>
                <a:ea typeface="Calibri" pitchFamily="34" charset="-122"/>
                <a:cs typeface="Calibri" pitchFamily="34" charset="-120"/>
              </a:rPr>
              <a:t>~90%</a:t>
            </a:r>
            <a:endParaRPr lang="en-US" sz="1600" dirty="0"/>
          </a:p>
        </p:txBody>
      </p:sp>
      <p:sp>
        <p:nvSpPr>
          <p:cNvPr id="31" name="Text 27"/>
          <p:cNvSpPr/>
          <p:nvPr/>
        </p:nvSpPr>
        <p:spPr>
          <a:xfrm>
            <a:off x="9646920" y="2304288"/>
            <a:ext cx="2194560" cy="502920"/>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Payload Reduction</a:t>
            </a:r>
            <a:endParaRPr lang="en-US" sz="950" dirty="0"/>
          </a:p>
          <a:p>
            <a:pPr marL="0" indent="0">
              <a:buNone/>
            </a:pPr>
            <a:r>
              <a:rPr lang="en-US" sz="950" dirty="0">
                <a:solidFill>
                  <a:srgbClr val="37474F"/>
                </a:solidFill>
                <a:latin typeface="Calibri" pitchFamily="34" charset="0"/>
                <a:ea typeface="Calibri" pitchFamily="34" charset="-122"/>
                <a:cs typeface="Calibri" pitchFamily="34" charset="-120"/>
              </a:rPr>
              <a:t>Gzip compression: 4.4MB → 400KB</a:t>
            </a:r>
            <a:endParaRPr lang="en-US" sz="950" dirty="0"/>
          </a:p>
        </p:txBody>
      </p:sp>
      <p:sp>
        <p:nvSpPr>
          <p:cNvPr id="32" name="Shape 28"/>
          <p:cNvSpPr/>
          <p:nvPr/>
        </p:nvSpPr>
        <p:spPr>
          <a:xfrm>
            <a:off x="8412480" y="2980944"/>
            <a:ext cx="3566160" cy="45720"/>
          </a:xfrm>
          <a:prstGeom prst="rect">
            <a:avLst/>
          </a:prstGeom>
          <a:solidFill>
            <a:srgbClr val="BBDEFB"/>
          </a:solidFill>
          <a:ln w="12700">
            <a:solidFill>
              <a:srgbClr val="BBDEFB"/>
            </a:solidFill>
            <a:prstDash val="solid"/>
          </a:ln>
        </p:spPr>
      </p:sp>
      <p:sp>
        <p:nvSpPr>
          <p:cNvPr id="33" name="Text 29"/>
          <p:cNvSpPr/>
          <p:nvPr/>
        </p:nvSpPr>
        <p:spPr>
          <a:xfrm>
            <a:off x="8577072" y="3035808"/>
            <a:ext cx="1005840" cy="347472"/>
          </a:xfrm>
          <a:prstGeom prst="rect">
            <a:avLst/>
          </a:prstGeom>
          <a:noFill/>
          <a:ln/>
        </p:spPr>
        <p:txBody>
          <a:bodyPr wrap="square" rtlCol="0" anchor="ctr"/>
          <a:lstStyle/>
          <a:p>
            <a:pPr marL="0" indent="0">
              <a:buNone/>
            </a:pPr>
            <a:r>
              <a:rPr lang="en-US" sz="1600" b="1" dirty="0">
                <a:solidFill>
                  <a:srgbClr val="1565C0"/>
                </a:solidFill>
                <a:latin typeface="Calibri" pitchFamily="34" charset="0"/>
                <a:ea typeface="Calibri" pitchFamily="34" charset="-122"/>
                <a:cs typeface="Calibri" pitchFamily="34" charset="-120"/>
              </a:rPr>
              <a:t>7 days</a:t>
            </a:r>
            <a:endParaRPr lang="en-US" sz="1600" dirty="0"/>
          </a:p>
        </p:txBody>
      </p:sp>
      <p:sp>
        <p:nvSpPr>
          <p:cNvPr id="34" name="Text 30"/>
          <p:cNvSpPr/>
          <p:nvPr/>
        </p:nvSpPr>
        <p:spPr>
          <a:xfrm>
            <a:off x="9646920" y="3035808"/>
            <a:ext cx="2194560" cy="502920"/>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Static Cache</a:t>
            </a:r>
            <a:endParaRPr lang="en-US" sz="950" dirty="0"/>
          </a:p>
          <a:p>
            <a:pPr marL="0" indent="0">
              <a:buNone/>
            </a:pPr>
            <a:r>
              <a:rPr lang="en-US" sz="950" dirty="0">
                <a:solidFill>
                  <a:srgbClr val="37474F"/>
                </a:solidFill>
                <a:latin typeface="Calibri" pitchFamily="34" charset="0"/>
                <a:ea typeface="Calibri" pitchFamily="34" charset="-122"/>
                <a:cs typeface="Calibri" pitchFamily="34" charset="-120"/>
              </a:rPr>
              <a:t>Cache-Control immutable assets</a:t>
            </a:r>
            <a:endParaRPr lang="en-US" sz="950" dirty="0"/>
          </a:p>
        </p:txBody>
      </p:sp>
      <p:sp>
        <p:nvSpPr>
          <p:cNvPr id="35" name="Shape 31"/>
          <p:cNvSpPr/>
          <p:nvPr/>
        </p:nvSpPr>
        <p:spPr>
          <a:xfrm>
            <a:off x="8412480" y="3712464"/>
            <a:ext cx="3566160" cy="45720"/>
          </a:xfrm>
          <a:prstGeom prst="rect">
            <a:avLst/>
          </a:prstGeom>
          <a:solidFill>
            <a:srgbClr val="BBDEFB"/>
          </a:solidFill>
          <a:ln w="12700">
            <a:solidFill>
              <a:srgbClr val="BBDEFB"/>
            </a:solidFill>
            <a:prstDash val="solid"/>
          </a:ln>
        </p:spPr>
      </p:sp>
      <p:sp>
        <p:nvSpPr>
          <p:cNvPr id="36" name="Text 32"/>
          <p:cNvSpPr/>
          <p:nvPr/>
        </p:nvSpPr>
        <p:spPr>
          <a:xfrm>
            <a:off x="8577072" y="3767328"/>
            <a:ext cx="1005840" cy="347472"/>
          </a:xfrm>
          <a:prstGeom prst="rect">
            <a:avLst/>
          </a:prstGeom>
          <a:noFill/>
          <a:ln/>
        </p:spPr>
        <p:txBody>
          <a:bodyPr wrap="square" rtlCol="0" anchor="ctr"/>
          <a:lstStyle/>
          <a:p>
            <a:pPr marL="0" indent="0">
              <a:buNone/>
            </a:pPr>
            <a:r>
              <a:rPr lang="en-US" sz="1600" b="1" dirty="0">
                <a:solidFill>
                  <a:srgbClr val="1565C0"/>
                </a:solidFill>
                <a:latin typeface="Calibri" pitchFamily="34" charset="0"/>
                <a:ea typeface="Calibri" pitchFamily="34" charset="-122"/>
                <a:cs typeface="Calibri" pitchFamily="34" charset="-120"/>
              </a:rPr>
              <a:t>300s</a:t>
            </a:r>
            <a:endParaRPr lang="en-US" sz="1600" dirty="0"/>
          </a:p>
        </p:txBody>
      </p:sp>
      <p:sp>
        <p:nvSpPr>
          <p:cNvPr id="37" name="Text 33"/>
          <p:cNvSpPr/>
          <p:nvPr/>
        </p:nvSpPr>
        <p:spPr>
          <a:xfrm>
            <a:off x="9646920" y="3767328"/>
            <a:ext cx="2194560" cy="502920"/>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Data API Cache</a:t>
            </a:r>
            <a:endParaRPr lang="en-US" sz="950" dirty="0"/>
          </a:p>
          <a:p>
            <a:pPr marL="0" indent="0">
              <a:buNone/>
            </a:pPr>
            <a:r>
              <a:rPr lang="en-US" sz="950" dirty="0">
                <a:solidFill>
                  <a:srgbClr val="37474F"/>
                </a:solidFill>
                <a:latin typeface="Calibri" pitchFamily="34" charset="0"/>
                <a:ea typeface="Calibri" pitchFamily="34" charset="-122"/>
                <a:cs typeface="Calibri" pitchFamily="34" charset="-120"/>
              </a:rPr>
              <a:t>Private /api/data caching</a:t>
            </a:r>
            <a:endParaRPr lang="en-US" sz="950" dirty="0"/>
          </a:p>
        </p:txBody>
      </p:sp>
      <p:sp>
        <p:nvSpPr>
          <p:cNvPr id="38" name="Shape 34"/>
          <p:cNvSpPr/>
          <p:nvPr/>
        </p:nvSpPr>
        <p:spPr>
          <a:xfrm>
            <a:off x="8412480" y="4443984"/>
            <a:ext cx="3566160" cy="45720"/>
          </a:xfrm>
          <a:prstGeom prst="rect">
            <a:avLst/>
          </a:prstGeom>
          <a:solidFill>
            <a:srgbClr val="BBDEFB"/>
          </a:solidFill>
          <a:ln w="12700">
            <a:solidFill>
              <a:srgbClr val="BBDEFB"/>
            </a:solidFill>
            <a:prstDash val="solid"/>
          </a:ln>
        </p:spPr>
      </p:sp>
      <p:sp>
        <p:nvSpPr>
          <p:cNvPr id="39" name="Text 35"/>
          <p:cNvSpPr/>
          <p:nvPr/>
        </p:nvSpPr>
        <p:spPr>
          <a:xfrm>
            <a:off x="8577072" y="4498848"/>
            <a:ext cx="1005840" cy="347472"/>
          </a:xfrm>
          <a:prstGeom prst="rect">
            <a:avLst/>
          </a:prstGeom>
          <a:noFill/>
          <a:ln/>
        </p:spPr>
        <p:txBody>
          <a:bodyPr wrap="square" rtlCol="0" anchor="ctr"/>
          <a:lstStyle/>
          <a:p>
            <a:pPr marL="0" indent="0">
              <a:buNone/>
            </a:pPr>
            <a:r>
              <a:rPr lang="en-US" sz="1600" b="1" dirty="0">
                <a:solidFill>
                  <a:srgbClr val="1565C0"/>
                </a:solidFill>
                <a:latin typeface="Calibri" pitchFamily="34" charset="0"/>
                <a:ea typeface="Calibri" pitchFamily="34" charset="-122"/>
                <a:cs typeface="Calibri" pitchFamily="34" charset="-120"/>
              </a:rPr>
              <a:t>24 hrs</a:t>
            </a:r>
            <a:endParaRPr lang="en-US" sz="1600" dirty="0"/>
          </a:p>
        </p:txBody>
      </p:sp>
      <p:sp>
        <p:nvSpPr>
          <p:cNvPr id="40" name="Text 36"/>
          <p:cNvSpPr/>
          <p:nvPr/>
        </p:nvSpPr>
        <p:spPr>
          <a:xfrm>
            <a:off x="9646920" y="4498848"/>
            <a:ext cx="2194560" cy="502920"/>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Result Expiry</a:t>
            </a:r>
            <a:endParaRPr lang="en-US" sz="950" dirty="0"/>
          </a:p>
          <a:p>
            <a:pPr marL="0" indent="0">
              <a:buNone/>
            </a:pPr>
            <a:r>
              <a:rPr lang="en-US" sz="950" dirty="0">
                <a:solidFill>
                  <a:srgbClr val="37474F"/>
                </a:solidFill>
                <a:latin typeface="Calibri" pitchFamily="34" charset="0"/>
                <a:ea typeface="Calibri" pitchFamily="34" charset="-122"/>
                <a:cs typeface="Calibri" pitchFamily="34" charset="-120"/>
              </a:rPr>
              <a:t>UUID-keyed JSON auto-cleanup</a:t>
            </a:r>
            <a:endParaRPr lang="en-US" sz="950" dirty="0"/>
          </a:p>
        </p:txBody>
      </p:sp>
      <p:sp>
        <p:nvSpPr>
          <p:cNvPr id="41" name="Shape 37"/>
          <p:cNvSpPr/>
          <p:nvPr/>
        </p:nvSpPr>
        <p:spPr>
          <a:xfrm>
            <a:off x="8412480" y="5175504"/>
            <a:ext cx="3566160" cy="45720"/>
          </a:xfrm>
          <a:prstGeom prst="rect">
            <a:avLst/>
          </a:prstGeom>
          <a:solidFill>
            <a:srgbClr val="BBDEFB"/>
          </a:solidFill>
          <a:ln w="12700">
            <a:solidFill>
              <a:srgbClr val="BBDEFB"/>
            </a:solidFill>
            <a:prstDash val="solid"/>
          </a:ln>
        </p:spPr>
      </p:sp>
      <p:sp>
        <p:nvSpPr>
          <p:cNvPr id="42" name="Text 38"/>
          <p:cNvSpPr/>
          <p:nvPr/>
        </p:nvSpPr>
        <p:spPr>
          <a:xfrm>
            <a:off x="8577072" y="5230368"/>
            <a:ext cx="1005840" cy="347472"/>
          </a:xfrm>
          <a:prstGeom prst="rect">
            <a:avLst/>
          </a:prstGeom>
          <a:noFill/>
          <a:ln/>
        </p:spPr>
        <p:txBody>
          <a:bodyPr wrap="square" rtlCol="0" anchor="ctr"/>
          <a:lstStyle/>
          <a:p>
            <a:pPr marL="0" indent="0">
              <a:buNone/>
            </a:pPr>
            <a:r>
              <a:rPr lang="en-US" sz="1600" b="1" dirty="0">
                <a:solidFill>
                  <a:srgbClr val="1565C0"/>
                </a:solidFill>
                <a:latin typeface="Calibri" pitchFamily="34" charset="0"/>
                <a:ea typeface="Calibri" pitchFamily="34" charset="-122"/>
                <a:cs typeface="Calibri" pitchFamily="34" charset="-120"/>
              </a:rPr>
              <a:t>2-model</a:t>
            </a:r>
            <a:endParaRPr lang="en-US" sz="1600" dirty="0"/>
          </a:p>
        </p:txBody>
      </p:sp>
      <p:sp>
        <p:nvSpPr>
          <p:cNvPr id="43" name="Text 39"/>
          <p:cNvSpPr/>
          <p:nvPr/>
        </p:nvSpPr>
        <p:spPr>
          <a:xfrm>
            <a:off x="9646920" y="5230368"/>
            <a:ext cx="2194560" cy="502920"/>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AI Fallback</a:t>
            </a:r>
            <a:endParaRPr lang="en-US" sz="950" dirty="0"/>
          </a:p>
          <a:p>
            <a:pPr marL="0" indent="0">
              <a:buNone/>
            </a:pPr>
            <a:r>
              <a:rPr lang="en-US" sz="950" dirty="0">
                <a:solidFill>
                  <a:srgbClr val="37474F"/>
                </a:solidFill>
                <a:latin typeface="Calibri" pitchFamily="34" charset="0"/>
                <a:ea typeface="Calibri" pitchFamily="34" charset="-122"/>
                <a:cs typeface="Calibri" pitchFamily="34" charset="-120"/>
              </a:rPr>
              <a:t>High availability intelligence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235682" y="134454"/>
            <a:ext cx="1788678" cy="615354"/>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End-to-End Workflow</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From SAP CSV upload to interactive AI-powered dashboard</a:t>
            </a:r>
            <a:endParaRPr lang="en-US" sz="1300" dirty="0"/>
          </a:p>
        </p:txBody>
      </p:sp>
      <p:sp>
        <p:nvSpPr>
          <p:cNvPr id="8" name="Shape 4"/>
          <p:cNvSpPr/>
          <p:nvPr/>
        </p:nvSpPr>
        <p:spPr>
          <a:xfrm>
            <a:off x="320040" y="1691640"/>
            <a:ext cx="5669280" cy="1051560"/>
          </a:xfrm>
          <a:prstGeom prst="roundRect">
            <a:avLst>
              <a:gd name="adj" fmla="val 8696"/>
            </a:avLst>
          </a:prstGeom>
          <a:solidFill>
            <a:srgbClr val="FFFFFF"/>
          </a:solidFill>
          <a:ln w="15240">
            <a:solidFill>
              <a:srgbClr val="BBDEFB"/>
            </a:solidFill>
            <a:prstDash val="solid"/>
          </a:ln>
        </p:spPr>
      </p:sp>
      <p:sp>
        <p:nvSpPr>
          <p:cNvPr id="9" name="Shape 5"/>
          <p:cNvSpPr/>
          <p:nvPr/>
        </p:nvSpPr>
        <p:spPr>
          <a:xfrm>
            <a:off x="320040" y="1691640"/>
            <a:ext cx="54864" cy="1051560"/>
          </a:xfrm>
          <a:prstGeom prst="rect">
            <a:avLst/>
          </a:prstGeom>
          <a:solidFill>
            <a:srgbClr val="289BE8"/>
          </a:solidFill>
          <a:ln w="12700">
            <a:solidFill>
              <a:srgbClr val="289BE8"/>
            </a:solidFill>
            <a:prstDash val="solid"/>
          </a:ln>
        </p:spPr>
      </p:sp>
      <p:sp>
        <p:nvSpPr>
          <p:cNvPr id="10" name="Shape 6"/>
          <p:cNvSpPr/>
          <p:nvPr/>
        </p:nvSpPr>
        <p:spPr>
          <a:xfrm>
            <a:off x="457200" y="1938528"/>
            <a:ext cx="502920" cy="502920"/>
          </a:xfrm>
          <a:prstGeom prst="ellipse">
            <a:avLst/>
          </a:prstGeom>
          <a:solidFill>
            <a:srgbClr val="289BE8"/>
          </a:solidFill>
          <a:ln w="12700">
            <a:solidFill>
              <a:srgbClr val="289BE8"/>
            </a:solidFill>
            <a:prstDash val="solid"/>
          </a:ln>
        </p:spPr>
      </p:sp>
      <p:sp>
        <p:nvSpPr>
          <p:cNvPr id="11" name="Text 7"/>
          <p:cNvSpPr/>
          <p:nvPr/>
        </p:nvSpPr>
        <p:spPr>
          <a:xfrm>
            <a:off x="457200" y="193852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8"/>
          <p:cNvSpPr/>
          <p:nvPr/>
        </p:nvSpPr>
        <p:spPr>
          <a:xfrm>
            <a:off x="1097280" y="181965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Upload SAP Data</a:t>
            </a:r>
            <a:endParaRPr lang="en-US" sz="1250" dirty="0"/>
          </a:p>
        </p:txBody>
      </p:sp>
      <p:sp>
        <p:nvSpPr>
          <p:cNvPr id="13" name="Text 9"/>
          <p:cNvSpPr/>
          <p:nvPr/>
        </p:nvSpPr>
        <p:spPr>
          <a:xfrm>
            <a:off x="1097280" y="219456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User uploads BSIK, LFA1, LFB1 CSV files via browser</a:t>
            </a:r>
            <a:endParaRPr lang="en-US" sz="1050" dirty="0"/>
          </a:p>
        </p:txBody>
      </p:sp>
      <p:sp>
        <p:nvSpPr>
          <p:cNvPr id="14" name="Shape 10"/>
          <p:cNvSpPr/>
          <p:nvPr/>
        </p:nvSpPr>
        <p:spPr>
          <a:xfrm>
            <a:off x="6309360" y="1691640"/>
            <a:ext cx="5669280" cy="1051560"/>
          </a:xfrm>
          <a:prstGeom prst="roundRect">
            <a:avLst>
              <a:gd name="adj" fmla="val 8696"/>
            </a:avLst>
          </a:prstGeom>
          <a:solidFill>
            <a:srgbClr val="FFFFFF"/>
          </a:solidFill>
          <a:ln w="15240">
            <a:solidFill>
              <a:srgbClr val="BBDEFB"/>
            </a:solidFill>
            <a:prstDash val="solid"/>
          </a:ln>
        </p:spPr>
      </p:sp>
      <p:sp>
        <p:nvSpPr>
          <p:cNvPr id="15" name="Shape 11"/>
          <p:cNvSpPr/>
          <p:nvPr/>
        </p:nvSpPr>
        <p:spPr>
          <a:xfrm>
            <a:off x="6309360" y="1691640"/>
            <a:ext cx="54864" cy="1051560"/>
          </a:xfrm>
          <a:prstGeom prst="rect">
            <a:avLst/>
          </a:prstGeom>
          <a:solidFill>
            <a:srgbClr val="1565C0"/>
          </a:solidFill>
          <a:ln w="12700">
            <a:solidFill>
              <a:srgbClr val="1565C0"/>
            </a:solidFill>
            <a:prstDash val="solid"/>
          </a:ln>
        </p:spPr>
      </p:sp>
      <p:sp>
        <p:nvSpPr>
          <p:cNvPr id="16" name="Shape 12"/>
          <p:cNvSpPr/>
          <p:nvPr/>
        </p:nvSpPr>
        <p:spPr>
          <a:xfrm>
            <a:off x="6446520" y="1938528"/>
            <a:ext cx="502920" cy="502920"/>
          </a:xfrm>
          <a:prstGeom prst="ellipse">
            <a:avLst/>
          </a:prstGeom>
          <a:solidFill>
            <a:srgbClr val="1565C0"/>
          </a:solidFill>
          <a:ln w="12700">
            <a:solidFill>
              <a:srgbClr val="1565C0"/>
            </a:solidFill>
            <a:prstDash val="solid"/>
          </a:ln>
        </p:spPr>
      </p:sp>
      <p:sp>
        <p:nvSpPr>
          <p:cNvPr id="17" name="Text 13"/>
          <p:cNvSpPr/>
          <p:nvPr/>
        </p:nvSpPr>
        <p:spPr>
          <a:xfrm>
            <a:off x="6446520" y="193852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4"/>
          <p:cNvSpPr/>
          <p:nvPr/>
        </p:nvSpPr>
        <p:spPr>
          <a:xfrm>
            <a:off x="7086600" y="181965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File Validation</a:t>
            </a:r>
            <a:endParaRPr lang="en-US" sz="1250" dirty="0"/>
          </a:p>
        </p:txBody>
      </p:sp>
      <p:sp>
        <p:nvSpPr>
          <p:cNvPr id="19" name="Text 15"/>
          <p:cNvSpPr/>
          <p:nvPr/>
        </p:nvSpPr>
        <p:spPr>
          <a:xfrm>
            <a:off x="7086600" y="219456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Flask validates presence &amp; CSV format. HTTP 400 if invalid</a:t>
            </a:r>
            <a:endParaRPr lang="en-US" sz="1050" dirty="0"/>
          </a:p>
        </p:txBody>
      </p:sp>
      <p:sp>
        <p:nvSpPr>
          <p:cNvPr id="20" name="Shape 16"/>
          <p:cNvSpPr/>
          <p:nvPr/>
        </p:nvSpPr>
        <p:spPr>
          <a:xfrm>
            <a:off x="320040" y="2880360"/>
            <a:ext cx="5669280" cy="1051560"/>
          </a:xfrm>
          <a:prstGeom prst="roundRect">
            <a:avLst>
              <a:gd name="adj" fmla="val 8696"/>
            </a:avLst>
          </a:prstGeom>
          <a:solidFill>
            <a:srgbClr val="FFFFFF"/>
          </a:solidFill>
          <a:ln w="15240">
            <a:solidFill>
              <a:srgbClr val="BBDEFB"/>
            </a:solidFill>
            <a:prstDash val="solid"/>
          </a:ln>
        </p:spPr>
      </p:sp>
      <p:sp>
        <p:nvSpPr>
          <p:cNvPr id="21" name="Shape 17"/>
          <p:cNvSpPr/>
          <p:nvPr/>
        </p:nvSpPr>
        <p:spPr>
          <a:xfrm>
            <a:off x="320040" y="2880360"/>
            <a:ext cx="54864" cy="1051560"/>
          </a:xfrm>
          <a:prstGeom prst="rect">
            <a:avLst/>
          </a:prstGeom>
          <a:solidFill>
            <a:srgbClr val="00ACC1"/>
          </a:solidFill>
          <a:ln w="12700">
            <a:solidFill>
              <a:srgbClr val="00ACC1"/>
            </a:solidFill>
            <a:prstDash val="solid"/>
          </a:ln>
        </p:spPr>
      </p:sp>
      <p:sp>
        <p:nvSpPr>
          <p:cNvPr id="22" name="Shape 18"/>
          <p:cNvSpPr/>
          <p:nvPr/>
        </p:nvSpPr>
        <p:spPr>
          <a:xfrm>
            <a:off x="457200" y="3127248"/>
            <a:ext cx="502920" cy="502920"/>
          </a:xfrm>
          <a:prstGeom prst="ellipse">
            <a:avLst/>
          </a:prstGeom>
          <a:solidFill>
            <a:srgbClr val="00ACC1"/>
          </a:solidFill>
          <a:ln w="12700">
            <a:solidFill>
              <a:srgbClr val="00ACC1"/>
            </a:solidFill>
            <a:prstDash val="solid"/>
          </a:ln>
        </p:spPr>
      </p:sp>
      <p:sp>
        <p:nvSpPr>
          <p:cNvPr id="23" name="Text 19"/>
          <p:cNvSpPr/>
          <p:nvPr/>
        </p:nvSpPr>
        <p:spPr>
          <a:xfrm>
            <a:off x="457200" y="312724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0"/>
          <p:cNvSpPr/>
          <p:nvPr/>
        </p:nvSpPr>
        <p:spPr>
          <a:xfrm>
            <a:off x="1097280" y="300837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Data Processing</a:t>
            </a:r>
            <a:endParaRPr lang="en-US" sz="1250" dirty="0"/>
          </a:p>
        </p:txBody>
      </p:sp>
      <p:sp>
        <p:nvSpPr>
          <p:cNvPr id="25" name="Text 21"/>
          <p:cNvSpPr/>
          <p:nvPr/>
        </p:nvSpPr>
        <p:spPr>
          <a:xfrm>
            <a:off x="1097280" y="338328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Merge DataFrames on LIFNR, standardize dates, clean nulls</a:t>
            </a:r>
            <a:endParaRPr lang="en-US" sz="1050" dirty="0"/>
          </a:p>
        </p:txBody>
      </p:sp>
      <p:sp>
        <p:nvSpPr>
          <p:cNvPr id="26" name="Shape 22"/>
          <p:cNvSpPr/>
          <p:nvPr/>
        </p:nvSpPr>
        <p:spPr>
          <a:xfrm>
            <a:off x="6309360" y="2880360"/>
            <a:ext cx="5669280" cy="1051560"/>
          </a:xfrm>
          <a:prstGeom prst="roundRect">
            <a:avLst>
              <a:gd name="adj" fmla="val 8696"/>
            </a:avLst>
          </a:prstGeom>
          <a:solidFill>
            <a:srgbClr val="FFFFFF"/>
          </a:solidFill>
          <a:ln w="15240">
            <a:solidFill>
              <a:srgbClr val="BBDEFB"/>
            </a:solidFill>
            <a:prstDash val="solid"/>
          </a:ln>
        </p:spPr>
      </p:sp>
      <p:sp>
        <p:nvSpPr>
          <p:cNvPr id="27" name="Shape 23"/>
          <p:cNvSpPr/>
          <p:nvPr/>
        </p:nvSpPr>
        <p:spPr>
          <a:xfrm>
            <a:off x="6309360" y="2880360"/>
            <a:ext cx="54864" cy="1051560"/>
          </a:xfrm>
          <a:prstGeom prst="rect">
            <a:avLst/>
          </a:prstGeom>
          <a:solidFill>
            <a:srgbClr val="F79646"/>
          </a:solidFill>
          <a:ln w="12700">
            <a:solidFill>
              <a:srgbClr val="F79646"/>
            </a:solidFill>
            <a:prstDash val="solid"/>
          </a:ln>
        </p:spPr>
      </p:sp>
      <p:sp>
        <p:nvSpPr>
          <p:cNvPr id="28" name="Shape 24"/>
          <p:cNvSpPr/>
          <p:nvPr/>
        </p:nvSpPr>
        <p:spPr>
          <a:xfrm>
            <a:off x="6446520" y="3127248"/>
            <a:ext cx="502920" cy="502920"/>
          </a:xfrm>
          <a:prstGeom prst="ellipse">
            <a:avLst/>
          </a:prstGeom>
          <a:solidFill>
            <a:srgbClr val="F79646"/>
          </a:solidFill>
          <a:ln w="12700">
            <a:solidFill>
              <a:srgbClr val="F79646"/>
            </a:solidFill>
            <a:prstDash val="solid"/>
          </a:ln>
        </p:spPr>
      </p:sp>
      <p:sp>
        <p:nvSpPr>
          <p:cNvPr id="29" name="Text 25"/>
          <p:cNvSpPr/>
          <p:nvPr/>
        </p:nvSpPr>
        <p:spPr>
          <a:xfrm>
            <a:off x="6446520" y="312724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6"/>
          <p:cNvSpPr/>
          <p:nvPr/>
        </p:nvSpPr>
        <p:spPr>
          <a:xfrm>
            <a:off x="7086600" y="300837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Aging Calculation</a:t>
            </a:r>
            <a:endParaRPr lang="en-US" sz="1250" dirty="0"/>
          </a:p>
        </p:txBody>
      </p:sp>
      <p:sp>
        <p:nvSpPr>
          <p:cNvPr id="31" name="Text 27"/>
          <p:cNvSpPr/>
          <p:nvPr/>
        </p:nvSpPr>
        <p:spPr>
          <a:xfrm>
            <a:off x="7086600" y="338328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Compute due dates (Baseline + Credit Days), assign buckets</a:t>
            </a:r>
            <a:endParaRPr lang="en-US" sz="1050" dirty="0"/>
          </a:p>
        </p:txBody>
      </p:sp>
      <p:sp>
        <p:nvSpPr>
          <p:cNvPr id="32" name="Shape 28"/>
          <p:cNvSpPr/>
          <p:nvPr/>
        </p:nvSpPr>
        <p:spPr>
          <a:xfrm>
            <a:off x="320040" y="4069080"/>
            <a:ext cx="5669280" cy="1051560"/>
          </a:xfrm>
          <a:prstGeom prst="roundRect">
            <a:avLst>
              <a:gd name="adj" fmla="val 8696"/>
            </a:avLst>
          </a:prstGeom>
          <a:solidFill>
            <a:srgbClr val="FFFFFF"/>
          </a:solidFill>
          <a:ln w="15240">
            <a:solidFill>
              <a:srgbClr val="BBDEFB"/>
            </a:solidFill>
            <a:prstDash val="solid"/>
          </a:ln>
        </p:spPr>
      </p:sp>
      <p:sp>
        <p:nvSpPr>
          <p:cNvPr id="33" name="Shape 29"/>
          <p:cNvSpPr/>
          <p:nvPr/>
        </p:nvSpPr>
        <p:spPr>
          <a:xfrm>
            <a:off x="320040" y="4069080"/>
            <a:ext cx="54864" cy="1051560"/>
          </a:xfrm>
          <a:prstGeom prst="rect">
            <a:avLst/>
          </a:prstGeom>
          <a:solidFill>
            <a:srgbClr val="8064A2"/>
          </a:solidFill>
          <a:ln w="12700">
            <a:solidFill>
              <a:srgbClr val="8064A2"/>
            </a:solidFill>
            <a:prstDash val="solid"/>
          </a:ln>
        </p:spPr>
      </p:sp>
      <p:sp>
        <p:nvSpPr>
          <p:cNvPr id="34" name="Shape 30"/>
          <p:cNvSpPr/>
          <p:nvPr/>
        </p:nvSpPr>
        <p:spPr>
          <a:xfrm>
            <a:off x="457200" y="4315968"/>
            <a:ext cx="502920" cy="502920"/>
          </a:xfrm>
          <a:prstGeom prst="ellipse">
            <a:avLst/>
          </a:prstGeom>
          <a:solidFill>
            <a:srgbClr val="8064A2"/>
          </a:solidFill>
          <a:ln w="12700">
            <a:solidFill>
              <a:srgbClr val="8064A2"/>
            </a:solidFill>
            <a:prstDash val="solid"/>
          </a:ln>
        </p:spPr>
      </p:sp>
      <p:sp>
        <p:nvSpPr>
          <p:cNvPr id="35" name="Text 31"/>
          <p:cNvSpPr/>
          <p:nvPr/>
        </p:nvSpPr>
        <p:spPr>
          <a:xfrm>
            <a:off x="457200" y="431596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6" name="Text 32"/>
          <p:cNvSpPr/>
          <p:nvPr/>
        </p:nvSpPr>
        <p:spPr>
          <a:xfrm>
            <a:off x="1097280" y="419709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Vendor Risk Calculation</a:t>
            </a:r>
            <a:endParaRPr lang="en-US" sz="1250" dirty="0"/>
          </a:p>
        </p:txBody>
      </p:sp>
      <p:sp>
        <p:nvSpPr>
          <p:cNvPr id="37" name="Text 33"/>
          <p:cNvSpPr/>
          <p:nvPr/>
        </p:nvSpPr>
        <p:spPr>
          <a:xfrm>
            <a:off x="1097280" y="457200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Aggregate per vendor. Identify Top 10 overdue vendors</a:t>
            </a:r>
            <a:endParaRPr lang="en-US" sz="1050" dirty="0"/>
          </a:p>
        </p:txBody>
      </p:sp>
      <p:sp>
        <p:nvSpPr>
          <p:cNvPr id="38" name="Shape 34"/>
          <p:cNvSpPr/>
          <p:nvPr/>
        </p:nvSpPr>
        <p:spPr>
          <a:xfrm>
            <a:off x="6309360" y="4069080"/>
            <a:ext cx="5669280" cy="1051560"/>
          </a:xfrm>
          <a:prstGeom prst="roundRect">
            <a:avLst>
              <a:gd name="adj" fmla="val 8696"/>
            </a:avLst>
          </a:prstGeom>
          <a:solidFill>
            <a:srgbClr val="FFFFFF"/>
          </a:solidFill>
          <a:ln w="15240">
            <a:solidFill>
              <a:srgbClr val="BBDEFB"/>
            </a:solidFill>
            <a:prstDash val="solid"/>
          </a:ln>
        </p:spPr>
      </p:sp>
      <p:sp>
        <p:nvSpPr>
          <p:cNvPr id="39" name="Shape 35"/>
          <p:cNvSpPr/>
          <p:nvPr/>
        </p:nvSpPr>
        <p:spPr>
          <a:xfrm>
            <a:off x="6309360" y="4069080"/>
            <a:ext cx="54864" cy="1051560"/>
          </a:xfrm>
          <a:prstGeom prst="rect">
            <a:avLst/>
          </a:prstGeom>
          <a:solidFill>
            <a:srgbClr val="E53935"/>
          </a:solidFill>
          <a:ln w="12700">
            <a:solidFill>
              <a:srgbClr val="E53935"/>
            </a:solidFill>
            <a:prstDash val="solid"/>
          </a:ln>
        </p:spPr>
      </p:sp>
      <p:sp>
        <p:nvSpPr>
          <p:cNvPr id="40" name="Shape 36"/>
          <p:cNvSpPr/>
          <p:nvPr/>
        </p:nvSpPr>
        <p:spPr>
          <a:xfrm>
            <a:off x="6446520" y="4315968"/>
            <a:ext cx="502920" cy="502920"/>
          </a:xfrm>
          <a:prstGeom prst="ellipse">
            <a:avLst/>
          </a:prstGeom>
          <a:solidFill>
            <a:srgbClr val="E53935"/>
          </a:solidFill>
          <a:ln w="12700">
            <a:solidFill>
              <a:srgbClr val="E53935"/>
            </a:solidFill>
            <a:prstDash val="solid"/>
          </a:ln>
        </p:spPr>
      </p:sp>
      <p:sp>
        <p:nvSpPr>
          <p:cNvPr id="41" name="Text 37"/>
          <p:cNvSpPr/>
          <p:nvPr/>
        </p:nvSpPr>
        <p:spPr>
          <a:xfrm>
            <a:off x="6446520" y="431596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2" name="Text 38"/>
          <p:cNvSpPr/>
          <p:nvPr/>
        </p:nvSpPr>
        <p:spPr>
          <a:xfrm>
            <a:off x="7086600" y="419709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K-Means Clustering</a:t>
            </a:r>
            <a:endParaRPr lang="en-US" sz="1250" dirty="0"/>
          </a:p>
        </p:txBody>
      </p:sp>
      <p:sp>
        <p:nvSpPr>
          <p:cNvPr id="43" name="Text 39"/>
          <p:cNvSpPr/>
          <p:nvPr/>
        </p:nvSpPr>
        <p:spPr>
          <a:xfrm>
            <a:off x="7086600" y="457200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Normalize features → K-Means (k=4) → assign risk categories</a:t>
            </a:r>
            <a:endParaRPr lang="en-US" sz="1050" dirty="0"/>
          </a:p>
        </p:txBody>
      </p:sp>
      <p:sp>
        <p:nvSpPr>
          <p:cNvPr id="44" name="Shape 40"/>
          <p:cNvSpPr/>
          <p:nvPr/>
        </p:nvSpPr>
        <p:spPr>
          <a:xfrm>
            <a:off x="320040" y="5257800"/>
            <a:ext cx="5669280" cy="1051560"/>
          </a:xfrm>
          <a:prstGeom prst="roundRect">
            <a:avLst>
              <a:gd name="adj" fmla="val 8696"/>
            </a:avLst>
          </a:prstGeom>
          <a:solidFill>
            <a:srgbClr val="FFFFFF"/>
          </a:solidFill>
          <a:ln w="15240">
            <a:solidFill>
              <a:srgbClr val="BBDEFB"/>
            </a:solidFill>
            <a:prstDash val="solid"/>
          </a:ln>
        </p:spPr>
      </p:sp>
      <p:sp>
        <p:nvSpPr>
          <p:cNvPr id="45" name="Shape 41"/>
          <p:cNvSpPr/>
          <p:nvPr/>
        </p:nvSpPr>
        <p:spPr>
          <a:xfrm>
            <a:off x="320040" y="5257800"/>
            <a:ext cx="54864" cy="1051560"/>
          </a:xfrm>
          <a:prstGeom prst="rect">
            <a:avLst/>
          </a:prstGeom>
          <a:solidFill>
            <a:srgbClr val="1F3A6E"/>
          </a:solidFill>
          <a:ln w="12700">
            <a:solidFill>
              <a:srgbClr val="1F3A6E"/>
            </a:solidFill>
            <a:prstDash val="solid"/>
          </a:ln>
        </p:spPr>
      </p:sp>
      <p:sp>
        <p:nvSpPr>
          <p:cNvPr id="46" name="Shape 42"/>
          <p:cNvSpPr/>
          <p:nvPr/>
        </p:nvSpPr>
        <p:spPr>
          <a:xfrm>
            <a:off x="457200" y="5504688"/>
            <a:ext cx="502920" cy="502920"/>
          </a:xfrm>
          <a:prstGeom prst="ellipse">
            <a:avLst/>
          </a:prstGeom>
          <a:solidFill>
            <a:srgbClr val="1F3A6E"/>
          </a:solidFill>
          <a:ln w="12700">
            <a:solidFill>
              <a:srgbClr val="1F3A6E"/>
            </a:solidFill>
            <a:prstDash val="solid"/>
          </a:ln>
        </p:spPr>
      </p:sp>
      <p:sp>
        <p:nvSpPr>
          <p:cNvPr id="47" name="Text 43"/>
          <p:cNvSpPr/>
          <p:nvPr/>
        </p:nvSpPr>
        <p:spPr>
          <a:xfrm>
            <a:off x="457200" y="550468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8" name="Text 44"/>
          <p:cNvSpPr/>
          <p:nvPr/>
        </p:nvSpPr>
        <p:spPr>
          <a:xfrm>
            <a:off x="1097280" y="538581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Save JSON Result</a:t>
            </a:r>
            <a:endParaRPr lang="en-US" sz="1250" dirty="0"/>
          </a:p>
        </p:txBody>
      </p:sp>
      <p:sp>
        <p:nvSpPr>
          <p:cNvPr id="49" name="Text 45"/>
          <p:cNvSpPr/>
          <p:nvPr/>
        </p:nvSpPr>
        <p:spPr>
          <a:xfrm>
            <a:off x="1097280" y="576072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UUID-keyed result saved to results/ folder (24hr expiry)</a:t>
            </a:r>
            <a:endParaRPr lang="en-US" sz="1050" dirty="0"/>
          </a:p>
        </p:txBody>
      </p:sp>
      <p:sp>
        <p:nvSpPr>
          <p:cNvPr id="50" name="Shape 46"/>
          <p:cNvSpPr/>
          <p:nvPr/>
        </p:nvSpPr>
        <p:spPr>
          <a:xfrm>
            <a:off x="6309360" y="5257800"/>
            <a:ext cx="5669280" cy="1051560"/>
          </a:xfrm>
          <a:prstGeom prst="roundRect">
            <a:avLst>
              <a:gd name="adj" fmla="val 8696"/>
            </a:avLst>
          </a:prstGeom>
          <a:solidFill>
            <a:srgbClr val="FFFFFF"/>
          </a:solidFill>
          <a:ln w="15240">
            <a:solidFill>
              <a:srgbClr val="BBDEFB"/>
            </a:solidFill>
            <a:prstDash val="solid"/>
          </a:ln>
        </p:spPr>
      </p:sp>
      <p:sp>
        <p:nvSpPr>
          <p:cNvPr id="51" name="Shape 47"/>
          <p:cNvSpPr/>
          <p:nvPr/>
        </p:nvSpPr>
        <p:spPr>
          <a:xfrm>
            <a:off x="6309360" y="5257800"/>
            <a:ext cx="54864" cy="1051560"/>
          </a:xfrm>
          <a:prstGeom prst="rect">
            <a:avLst/>
          </a:prstGeom>
          <a:solidFill>
            <a:srgbClr val="1565C0"/>
          </a:solidFill>
          <a:ln w="12700">
            <a:solidFill>
              <a:srgbClr val="1565C0"/>
            </a:solidFill>
            <a:prstDash val="solid"/>
          </a:ln>
        </p:spPr>
      </p:sp>
      <p:sp>
        <p:nvSpPr>
          <p:cNvPr id="52" name="Shape 48"/>
          <p:cNvSpPr/>
          <p:nvPr/>
        </p:nvSpPr>
        <p:spPr>
          <a:xfrm>
            <a:off x="6446520" y="5504688"/>
            <a:ext cx="502920" cy="502920"/>
          </a:xfrm>
          <a:prstGeom prst="ellipse">
            <a:avLst/>
          </a:prstGeom>
          <a:solidFill>
            <a:srgbClr val="1565C0"/>
          </a:solidFill>
          <a:ln w="12700">
            <a:solidFill>
              <a:srgbClr val="1565C0"/>
            </a:solidFill>
            <a:prstDash val="solid"/>
          </a:ln>
        </p:spPr>
      </p:sp>
      <p:sp>
        <p:nvSpPr>
          <p:cNvPr id="53" name="Text 49"/>
          <p:cNvSpPr/>
          <p:nvPr/>
        </p:nvSpPr>
        <p:spPr>
          <a:xfrm>
            <a:off x="6446520" y="5504688"/>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54" name="Text 50"/>
          <p:cNvSpPr/>
          <p:nvPr/>
        </p:nvSpPr>
        <p:spPr>
          <a:xfrm>
            <a:off x="7086600" y="5385816"/>
            <a:ext cx="4754880" cy="347472"/>
          </a:xfrm>
          <a:prstGeom prst="rect">
            <a:avLst/>
          </a:prstGeom>
          <a:noFill/>
          <a:ln/>
        </p:spPr>
        <p:txBody>
          <a:bodyPr wrap="square" rtlCol="0" anchor="ctr"/>
          <a:lstStyle/>
          <a:p>
            <a:pPr marL="0" indent="0">
              <a:buNone/>
            </a:pPr>
            <a:r>
              <a:rPr lang="en-US" sz="1250" b="1" dirty="0">
                <a:solidFill>
                  <a:srgbClr val="1F3A6E"/>
                </a:solidFill>
                <a:latin typeface="Calibri" pitchFamily="34" charset="0"/>
                <a:ea typeface="Calibri" pitchFamily="34" charset="-122"/>
                <a:cs typeface="Calibri" pitchFamily="34" charset="-120"/>
              </a:rPr>
              <a:t>Render Dashboard</a:t>
            </a:r>
            <a:endParaRPr lang="en-US" sz="1250" dirty="0"/>
          </a:p>
        </p:txBody>
      </p:sp>
      <p:sp>
        <p:nvSpPr>
          <p:cNvPr id="55" name="Text 51"/>
          <p:cNvSpPr/>
          <p:nvPr/>
        </p:nvSpPr>
        <p:spPr>
          <a:xfrm>
            <a:off x="7086600" y="5760720"/>
            <a:ext cx="4754880" cy="41148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Browser fetches /api/data → renders charts, tables, AI cards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067543" y="100584"/>
            <a:ext cx="1967454" cy="676656"/>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Aging Buckets Classification</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Classifying overdue invoices into 5 risk tiers</a:t>
            </a:r>
            <a:endParaRPr lang="en-US" sz="1300" dirty="0"/>
          </a:p>
        </p:txBody>
      </p:sp>
      <p:sp>
        <p:nvSpPr>
          <p:cNvPr id="8" name="Shape 4"/>
          <p:cNvSpPr/>
          <p:nvPr/>
        </p:nvSpPr>
        <p:spPr>
          <a:xfrm>
            <a:off x="320040" y="1664208"/>
            <a:ext cx="1097280" cy="384048"/>
          </a:xfrm>
          <a:prstGeom prst="rect">
            <a:avLst/>
          </a:prstGeom>
          <a:solidFill>
            <a:srgbClr val="1F3A6E"/>
          </a:solidFill>
          <a:ln w="12700">
            <a:solidFill>
              <a:srgbClr val="1F3A6E"/>
            </a:solidFill>
            <a:prstDash val="solid"/>
          </a:ln>
        </p:spPr>
      </p:sp>
      <p:sp>
        <p:nvSpPr>
          <p:cNvPr id="9" name="Text 5"/>
          <p:cNvSpPr/>
          <p:nvPr/>
        </p:nvSpPr>
        <p:spPr>
          <a:xfrm>
            <a:off x="393192" y="1664208"/>
            <a:ext cx="98755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Bucket</a:t>
            </a:r>
            <a:endParaRPr lang="en-US" sz="1100" dirty="0"/>
          </a:p>
        </p:txBody>
      </p:sp>
      <p:sp>
        <p:nvSpPr>
          <p:cNvPr id="10" name="Shape 6"/>
          <p:cNvSpPr/>
          <p:nvPr/>
        </p:nvSpPr>
        <p:spPr>
          <a:xfrm>
            <a:off x="1481328" y="1664208"/>
            <a:ext cx="1353312" cy="384048"/>
          </a:xfrm>
          <a:prstGeom prst="rect">
            <a:avLst/>
          </a:prstGeom>
          <a:solidFill>
            <a:srgbClr val="1F3A6E"/>
          </a:solidFill>
          <a:ln w="12700">
            <a:solidFill>
              <a:srgbClr val="1F3A6E"/>
            </a:solidFill>
            <a:prstDash val="solid"/>
          </a:ln>
        </p:spPr>
      </p:sp>
      <p:sp>
        <p:nvSpPr>
          <p:cNvPr id="11" name="Text 7"/>
          <p:cNvSpPr/>
          <p:nvPr/>
        </p:nvSpPr>
        <p:spPr>
          <a:xfrm>
            <a:off x="1554480" y="1664208"/>
            <a:ext cx="1243584"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Days Overdue</a:t>
            </a:r>
            <a:endParaRPr lang="en-US" sz="1100" dirty="0"/>
          </a:p>
        </p:txBody>
      </p:sp>
      <p:sp>
        <p:nvSpPr>
          <p:cNvPr id="12" name="Shape 8"/>
          <p:cNvSpPr/>
          <p:nvPr/>
        </p:nvSpPr>
        <p:spPr>
          <a:xfrm>
            <a:off x="2880360" y="1664208"/>
            <a:ext cx="1691640" cy="384048"/>
          </a:xfrm>
          <a:prstGeom prst="rect">
            <a:avLst/>
          </a:prstGeom>
          <a:solidFill>
            <a:srgbClr val="1F3A6E"/>
          </a:solidFill>
          <a:ln w="12700">
            <a:solidFill>
              <a:srgbClr val="1F3A6E"/>
            </a:solidFill>
            <a:prstDash val="solid"/>
          </a:ln>
        </p:spPr>
      </p:sp>
      <p:sp>
        <p:nvSpPr>
          <p:cNvPr id="13" name="Text 9"/>
          <p:cNvSpPr/>
          <p:nvPr/>
        </p:nvSpPr>
        <p:spPr>
          <a:xfrm>
            <a:off x="2953512" y="1664208"/>
            <a:ext cx="158191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Risk Level</a:t>
            </a:r>
            <a:endParaRPr lang="en-US" sz="1100" dirty="0"/>
          </a:p>
        </p:txBody>
      </p:sp>
      <p:sp>
        <p:nvSpPr>
          <p:cNvPr id="14" name="Shape 10"/>
          <p:cNvSpPr/>
          <p:nvPr/>
        </p:nvSpPr>
        <p:spPr>
          <a:xfrm>
            <a:off x="4617720" y="1664208"/>
            <a:ext cx="5257800" cy="384048"/>
          </a:xfrm>
          <a:prstGeom prst="rect">
            <a:avLst/>
          </a:prstGeom>
          <a:solidFill>
            <a:srgbClr val="1F3A6E"/>
          </a:solidFill>
          <a:ln w="12700">
            <a:solidFill>
              <a:srgbClr val="1F3A6E"/>
            </a:solidFill>
            <a:prstDash val="solid"/>
          </a:ln>
        </p:spPr>
      </p:sp>
      <p:sp>
        <p:nvSpPr>
          <p:cNvPr id="15" name="Text 11"/>
          <p:cNvSpPr/>
          <p:nvPr/>
        </p:nvSpPr>
        <p:spPr>
          <a:xfrm>
            <a:off x="4690872" y="1664208"/>
            <a:ext cx="514807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Business Impact</a:t>
            </a:r>
            <a:endParaRPr lang="en-US" sz="1100" dirty="0"/>
          </a:p>
        </p:txBody>
      </p:sp>
      <p:sp>
        <p:nvSpPr>
          <p:cNvPr id="16" name="Shape 12"/>
          <p:cNvSpPr/>
          <p:nvPr/>
        </p:nvSpPr>
        <p:spPr>
          <a:xfrm>
            <a:off x="9921240" y="1664208"/>
            <a:ext cx="1600200" cy="384048"/>
          </a:xfrm>
          <a:prstGeom prst="rect">
            <a:avLst/>
          </a:prstGeom>
          <a:solidFill>
            <a:srgbClr val="1F3A6E"/>
          </a:solidFill>
          <a:ln w="12700">
            <a:solidFill>
              <a:srgbClr val="1F3A6E"/>
            </a:solidFill>
            <a:prstDash val="solid"/>
          </a:ln>
        </p:spPr>
      </p:sp>
      <p:sp>
        <p:nvSpPr>
          <p:cNvPr id="17" name="Text 13"/>
          <p:cNvSpPr/>
          <p:nvPr/>
        </p:nvSpPr>
        <p:spPr>
          <a:xfrm>
            <a:off x="9994392" y="1664208"/>
            <a:ext cx="149047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Urgency</a:t>
            </a:r>
            <a:endParaRPr lang="en-US" sz="1100" dirty="0"/>
          </a:p>
        </p:txBody>
      </p:sp>
      <p:sp>
        <p:nvSpPr>
          <p:cNvPr id="18" name="Shape 14"/>
          <p:cNvSpPr/>
          <p:nvPr/>
        </p:nvSpPr>
        <p:spPr>
          <a:xfrm>
            <a:off x="320040" y="2103120"/>
            <a:ext cx="11521440" cy="786384"/>
          </a:xfrm>
          <a:prstGeom prst="rect">
            <a:avLst/>
          </a:prstGeom>
          <a:solidFill>
            <a:srgbClr val="FFFFFF"/>
          </a:solidFill>
          <a:ln w="9525">
            <a:solidFill>
              <a:srgbClr val="BBDEFB"/>
            </a:solidFill>
            <a:prstDash val="solid"/>
          </a:ln>
        </p:spPr>
      </p:sp>
      <p:sp>
        <p:nvSpPr>
          <p:cNvPr id="19" name="Shape 15"/>
          <p:cNvSpPr/>
          <p:nvPr/>
        </p:nvSpPr>
        <p:spPr>
          <a:xfrm>
            <a:off x="320040" y="2103120"/>
            <a:ext cx="54864" cy="786384"/>
          </a:xfrm>
          <a:prstGeom prst="rect">
            <a:avLst/>
          </a:prstGeom>
          <a:solidFill>
            <a:srgbClr val="43A047"/>
          </a:solidFill>
          <a:ln w="12700">
            <a:solidFill>
              <a:srgbClr val="43A047"/>
            </a:solidFill>
            <a:prstDash val="solid"/>
          </a:ln>
        </p:spPr>
      </p:sp>
      <p:sp>
        <p:nvSpPr>
          <p:cNvPr id="20" name="Text 16"/>
          <p:cNvSpPr/>
          <p:nvPr/>
        </p:nvSpPr>
        <p:spPr>
          <a:xfrm>
            <a:off x="411480" y="2304288"/>
            <a:ext cx="1005840" cy="320040"/>
          </a:xfrm>
          <a:prstGeom prst="rect">
            <a:avLst/>
          </a:prstGeom>
          <a:noFill/>
          <a:ln/>
        </p:spPr>
        <p:txBody>
          <a:bodyPr wrap="square" rtlCol="0" anchor="ctr"/>
          <a:lstStyle/>
          <a:p>
            <a:pPr marL="0" indent="0">
              <a:buNone/>
            </a:pPr>
            <a:r>
              <a:rPr lang="en-US" sz="1050" b="1" dirty="0">
                <a:solidFill>
                  <a:srgbClr val="43A047"/>
                </a:solidFill>
                <a:latin typeface="Calibri" pitchFamily="34" charset="0"/>
                <a:ea typeface="Calibri" pitchFamily="34" charset="-122"/>
                <a:cs typeface="Calibri" pitchFamily="34" charset="-120"/>
              </a:rPr>
              <a:t>Bucket 1</a:t>
            </a:r>
            <a:endParaRPr lang="en-US" sz="1050" dirty="0"/>
          </a:p>
        </p:txBody>
      </p:sp>
      <p:sp>
        <p:nvSpPr>
          <p:cNvPr id="21" name="Text 17"/>
          <p:cNvSpPr/>
          <p:nvPr/>
        </p:nvSpPr>
        <p:spPr>
          <a:xfrm>
            <a:off x="1481328" y="2304288"/>
            <a:ext cx="132588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0 – 30 Days</a:t>
            </a:r>
            <a:endParaRPr lang="en-US" sz="1050" dirty="0"/>
          </a:p>
        </p:txBody>
      </p:sp>
      <p:sp>
        <p:nvSpPr>
          <p:cNvPr id="22" name="Text 18"/>
          <p:cNvSpPr/>
          <p:nvPr/>
        </p:nvSpPr>
        <p:spPr>
          <a:xfrm>
            <a:off x="2880360" y="2304288"/>
            <a:ext cx="1645920" cy="320040"/>
          </a:xfrm>
          <a:prstGeom prst="rect">
            <a:avLst/>
          </a:prstGeom>
          <a:noFill/>
          <a:ln/>
        </p:spPr>
        <p:txBody>
          <a:bodyPr wrap="square" rtlCol="0" anchor="ctr"/>
          <a:lstStyle/>
          <a:p>
            <a:pPr marL="0" indent="0">
              <a:buNone/>
            </a:pPr>
            <a:r>
              <a:rPr lang="en-US" sz="1050" b="1" dirty="0">
                <a:solidFill>
                  <a:srgbClr val="43A047"/>
                </a:solidFill>
                <a:latin typeface="Calibri" pitchFamily="34" charset="0"/>
                <a:ea typeface="Calibri" pitchFamily="34" charset="-122"/>
                <a:cs typeface="Calibri" pitchFamily="34" charset="-120"/>
              </a:rPr>
              <a:t>Mild Delay</a:t>
            </a:r>
            <a:endParaRPr lang="en-US" sz="1050" dirty="0"/>
          </a:p>
        </p:txBody>
      </p:sp>
      <p:sp>
        <p:nvSpPr>
          <p:cNvPr id="23" name="Text 19"/>
          <p:cNvSpPr/>
          <p:nvPr/>
        </p:nvSpPr>
        <p:spPr>
          <a:xfrm>
            <a:off x="4617720" y="2304288"/>
            <a:ext cx="516636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Acceptable — monitor regularly</a:t>
            </a:r>
            <a:endParaRPr lang="en-US" sz="1050" dirty="0"/>
          </a:p>
        </p:txBody>
      </p:sp>
      <p:sp>
        <p:nvSpPr>
          <p:cNvPr id="24" name="Shape 20"/>
          <p:cNvSpPr/>
          <p:nvPr/>
        </p:nvSpPr>
        <p:spPr>
          <a:xfrm>
            <a:off x="9921240" y="2359152"/>
            <a:ext cx="1440180" cy="256032"/>
          </a:xfrm>
          <a:prstGeom prst="rect">
            <a:avLst/>
          </a:prstGeom>
          <a:solidFill>
            <a:srgbClr val="E0E0E0"/>
          </a:solidFill>
          <a:ln w="12700">
            <a:solidFill>
              <a:srgbClr val="E0E0E0"/>
            </a:solidFill>
            <a:prstDash val="solid"/>
          </a:ln>
        </p:spPr>
      </p:sp>
      <p:sp>
        <p:nvSpPr>
          <p:cNvPr id="25" name="Shape 21"/>
          <p:cNvSpPr/>
          <p:nvPr/>
        </p:nvSpPr>
        <p:spPr>
          <a:xfrm>
            <a:off x="9921240" y="2359152"/>
            <a:ext cx="288036" cy="256032"/>
          </a:xfrm>
          <a:prstGeom prst="rect">
            <a:avLst/>
          </a:prstGeom>
          <a:solidFill>
            <a:srgbClr val="43A047"/>
          </a:solidFill>
          <a:ln w="12700">
            <a:solidFill>
              <a:srgbClr val="43A047"/>
            </a:solidFill>
            <a:prstDash val="solid"/>
          </a:ln>
        </p:spPr>
      </p:sp>
      <p:sp>
        <p:nvSpPr>
          <p:cNvPr id="26" name="Text 22"/>
          <p:cNvSpPr/>
          <p:nvPr/>
        </p:nvSpPr>
        <p:spPr>
          <a:xfrm>
            <a:off x="9921240" y="2633472"/>
            <a:ext cx="1371600" cy="201168"/>
          </a:xfrm>
          <a:prstGeom prst="rect">
            <a:avLst/>
          </a:prstGeom>
          <a:noFill/>
          <a:ln/>
        </p:spPr>
        <p:txBody>
          <a:bodyPr wrap="square" rtlCol="0" anchor="ctr"/>
          <a:lstStyle/>
          <a:p>
            <a:pPr marL="0" indent="0">
              <a:buNone/>
            </a:pPr>
            <a:r>
              <a:rPr lang="en-US" sz="850" b="1" dirty="0">
                <a:solidFill>
                  <a:srgbClr val="43A047"/>
                </a:solidFill>
                <a:latin typeface="Calibri" pitchFamily="34" charset="0"/>
                <a:ea typeface="Calibri" pitchFamily="34" charset="-122"/>
                <a:cs typeface="Calibri" pitchFamily="34" charset="-120"/>
              </a:rPr>
              <a:t>20%</a:t>
            </a:r>
            <a:endParaRPr lang="en-US" sz="850" dirty="0"/>
          </a:p>
        </p:txBody>
      </p:sp>
      <p:sp>
        <p:nvSpPr>
          <p:cNvPr id="27" name="Shape 23"/>
          <p:cNvSpPr/>
          <p:nvPr/>
        </p:nvSpPr>
        <p:spPr>
          <a:xfrm>
            <a:off x="320040" y="2944368"/>
            <a:ext cx="11521440" cy="786384"/>
          </a:xfrm>
          <a:prstGeom prst="rect">
            <a:avLst/>
          </a:prstGeom>
          <a:solidFill>
            <a:srgbClr val="F0F7FF"/>
          </a:solidFill>
          <a:ln w="9525">
            <a:solidFill>
              <a:srgbClr val="BBDEFB"/>
            </a:solidFill>
            <a:prstDash val="solid"/>
          </a:ln>
        </p:spPr>
      </p:sp>
      <p:sp>
        <p:nvSpPr>
          <p:cNvPr id="28" name="Shape 24"/>
          <p:cNvSpPr/>
          <p:nvPr/>
        </p:nvSpPr>
        <p:spPr>
          <a:xfrm>
            <a:off x="320040" y="2944368"/>
            <a:ext cx="54864" cy="786384"/>
          </a:xfrm>
          <a:prstGeom prst="rect">
            <a:avLst/>
          </a:prstGeom>
          <a:solidFill>
            <a:srgbClr val="FBC02D"/>
          </a:solidFill>
          <a:ln w="12700">
            <a:solidFill>
              <a:srgbClr val="FBC02D"/>
            </a:solidFill>
            <a:prstDash val="solid"/>
          </a:ln>
        </p:spPr>
      </p:sp>
      <p:sp>
        <p:nvSpPr>
          <p:cNvPr id="29" name="Text 25"/>
          <p:cNvSpPr/>
          <p:nvPr/>
        </p:nvSpPr>
        <p:spPr>
          <a:xfrm>
            <a:off x="411480" y="3145536"/>
            <a:ext cx="1005840" cy="320040"/>
          </a:xfrm>
          <a:prstGeom prst="rect">
            <a:avLst/>
          </a:prstGeom>
          <a:noFill/>
          <a:ln/>
        </p:spPr>
        <p:txBody>
          <a:bodyPr wrap="square" rtlCol="0" anchor="ctr"/>
          <a:lstStyle/>
          <a:p>
            <a:pPr marL="0" indent="0">
              <a:buNone/>
            </a:pPr>
            <a:r>
              <a:rPr lang="en-US" sz="1050" b="1" dirty="0">
                <a:solidFill>
                  <a:srgbClr val="FBC02D"/>
                </a:solidFill>
                <a:latin typeface="Calibri" pitchFamily="34" charset="0"/>
                <a:ea typeface="Calibri" pitchFamily="34" charset="-122"/>
                <a:cs typeface="Calibri" pitchFamily="34" charset="-120"/>
              </a:rPr>
              <a:t>Bucket 2</a:t>
            </a:r>
            <a:endParaRPr lang="en-US" sz="1050" dirty="0"/>
          </a:p>
        </p:txBody>
      </p:sp>
      <p:sp>
        <p:nvSpPr>
          <p:cNvPr id="30" name="Text 26"/>
          <p:cNvSpPr/>
          <p:nvPr/>
        </p:nvSpPr>
        <p:spPr>
          <a:xfrm>
            <a:off x="1481328" y="3145536"/>
            <a:ext cx="132588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31 – 60 Days</a:t>
            </a:r>
            <a:endParaRPr lang="en-US" sz="1050" dirty="0"/>
          </a:p>
        </p:txBody>
      </p:sp>
      <p:sp>
        <p:nvSpPr>
          <p:cNvPr id="31" name="Text 27"/>
          <p:cNvSpPr/>
          <p:nvPr/>
        </p:nvSpPr>
        <p:spPr>
          <a:xfrm>
            <a:off x="2880360" y="3145536"/>
            <a:ext cx="1645920" cy="320040"/>
          </a:xfrm>
          <a:prstGeom prst="rect">
            <a:avLst/>
          </a:prstGeom>
          <a:noFill/>
          <a:ln/>
        </p:spPr>
        <p:txBody>
          <a:bodyPr wrap="square" rtlCol="0" anchor="ctr"/>
          <a:lstStyle/>
          <a:p>
            <a:pPr marL="0" indent="0">
              <a:buNone/>
            </a:pPr>
            <a:r>
              <a:rPr lang="en-US" sz="1050" b="1" dirty="0">
                <a:solidFill>
                  <a:srgbClr val="FBC02D"/>
                </a:solidFill>
                <a:latin typeface="Calibri" pitchFamily="34" charset="0"/>
                <a:ea typeface="Calibri" pitchFamily="34" charset="-122"/>
                <a:cs typeface="Calibri" pitchFamily="34" charset="-120"/>
              </a:rPr>
              <a:t>Moderate Delay</a:t>
            </a:r>
            <a:endParaRPr lang="en-US" sz="1050" dirty="0"/>
          </a:p>
        </p:txBody>
      </p:sp>
      <p:sp>
        <p:nvSpPr>
          <p:cNvPr id="32" name="Text 28"/>
          <p:cNvSpPr/>
          <p:nvPr/>
        </p:nvSpPr>
        <p:spPr>
          <a:xfrm>
            <a:off x="4617720" y="3145536"/>
            <a:ext cx="516636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Follow up; risk of penalty interest</a:t>
            </a:r>
            <a:endParaRPr lang="en-US" sz="1050" dirty="0"/>
          </a:p>
        </p:txBody>
      </p:sp>
      <p:sp>
        <p:nvSpPr>
          <p:cNvPr id="33" name="Shape 29"/>
          <p:cNvSpPr/>
          <p:nvPr/>
        </p:nvSpPr>
        <p:spPr>
          <a:xfrm>
            <a:off x="9921240" y="3200400"/>
            <a:ext cx="1440180" cy="256032"/>
          </a:xfrm>
          <a:prstGeom prst="rect">
            <a:avLst/>
          </a:prstGeom>
          <a:solidFill>
            <a:srgbClr val="E0E0E0"/>
          </a:solidFill>
          <a:ln w="12700">
            <a:solidFill>
              <a:srgbClr val="E0E0E0"/>
            </a:solidFill>
            <a:prstDash val="solid"/>
          </a:ln>
        </p:spPr>
      </p:sp>
      <p:sp>
        <p:nvSpPr>
          <p:cNvPr id="34" name="Shape 30"/>
          <p:cNvSpPr/>
          <p:nvPr/>
        </p:nvSpPr>
        <p:spPr>
          <a:xfrm>
            <a:off x="9921240" y="3200400"/>
            <a:ext cx="576072" cy="256032"/>
          </a:xfrm>
          <a:prstGeom prst="rect">
            <a:avLst/>
          </a:prstGeom>
          <a:solidFill>
            <a:srgbClr val="FBC02D"/>
          </a:solidFill>
          <a:ln w="12700">
            <a:solidFill>
              <a:srgbClr val="FBC02D"/>
            </a:solidFill>
            <a:prstDash val="solid"/>
          </a:ln>
        </p:spPr>
      </p:sp>
      <p:sp>
        <p:nvSpPr>
          <p:cNvPr id="35" name="Text 31"/>
          <p:cNvSpPr/>
          <p:nvPr/>
        </p:nvSpPr>
        <p:spPr>
          <a:xfrm>
            <a:off x="9921240" y="3474720"/>
            <a:ext cx="1371600" cy="201168"/>
          </a:xfrm>
          <a:prstGeom prst="rect">
            <a:avLst/>
          </a:prstGeom>
          <a:noFill/>
          <a:ln/>
        </p:spPr>
        <p:txBody>
          <a:bodyPr wrap="square" rtlCol="0" anchor="ctr"/>
          <a:lstStyle/>
          <a:p>
            <a:pPr marL="0" indent="0">
              <a:buNone/>
            </a:pPr>
            <a:r>
              <a:rPr lang="en-US" sz="850" b="1" dirty="0">
                <a:solidFill>
                  <a:srgbClr val="FBC02D"/>
                </a:solidFill>
                <a:latin typeface="Calibri" pitchFamily="34" charset="0"/>
                <a:ea typeface="Calibri" pitchFamily="34" charset="-122"/>
                <a:cs typeface="Calibri" pitchFamily="34" charset="-120"/>
              </a:rPr>
              <a:t>40%</a:t>
            </a:r>
            <a:endParaRPr lang="en-US" sz="850" dirty="0"/>
          </a:p>
        </p:txBody>
      </p:sp>
      <p:sp>
        <p:nvSpPr>
          <p:cNvPr id="36" name="Shape 32"/>
          <p:cNvSpPr/>
          <p:nvPr/>
        </p:nvSpPr>
        <p:spPr>
          <a:xfrm>
            <a:off x="320040" y="3785616"/>
            <a:ext cx="11521440" cy="786384"/>
          </a:xfrm>
          <a:prstGeom prst="rect">
            <a:avLst/>
          </a:prstGeom>
          <a:solidFill>
            <a:srgbClr val="FFFFFF"/>
          </a:solidFill>
          <a:ln w="9525">
            <a:solidFill>
              <a:srgbClr val="BBDEFB"/>
            </a:solidFill>
            <a:prstDash val="solid"/>
          </a:ln>
        </p:spPr>
      </p:sp>
      <p:sp>
        <p:nvSpPr>
          <p:cNvPr id="37" name="Shape 33"/>
          <p:cNvSpPr/>
          <p:nvPr/>
        </p:nvSpPr>
        <p:spPr>
          <a:xfrm>
            <a:off x="320040" y="3785616"/>
            <a:ext cx="54864" cy="786384"/>
          </a:xfrm>
          <a:prstGeom prst="rect">
            <a:avLst/>
          </a:prstGeom>
          <a:solidFill>
            <a:srgbClr val="F57C00"/>
          </a:solidFill>
          <a:ln w="12700">
            <a:solidFill>
              <a:srgbClr val="F57C00"/>
            </a:solidFill>
            <a:prstDash val="solid"/>
          </a:ln>
        </p:spPr>
      </p:sp>
      <p:sp>
        <p:nvSpPr>
          <p:cNvPr id="38" name="Text 34"/>
          <p:cNvSpPr/>
          <p:nvPr/>
        </p:nvSpPr>
        <p:spPr>
          <a:xfrm>
            <a:off x="411480" y="3986784"/>
            <a:ext cx="1005840" cy="320040"/>
          </a:xfrm>
          <a:prstGeom prst="rect">
            <a:avLst/>
          </a:prstGeom>
          <a:noFill/>
          <a:ln/>
        </p:spPr>
        <p:txBody>
          <a:bodyPr wrap="square" rtlCol="0" anchor="ctr"/>
          <a:lstStyle/>
          <a:p>
            <a:pPr marL="0" indent="0">
              <a:buNone/>
            </a:pPr>
            <a:r>
              <a:rPr lang="en-US" sz="1050" b="1" dirty="0">
                <a:solidFill>
                  <a:srgbClr val="F57C00"/>
                </a:solidFill>
                <a:latin typeface="Calibri" pitchFamily="34" charset="0"/>
                <a:ea typeface="Calibri" pitchFamily="34" charset="-122"/>
                <a:cs typeface="Calibri" pitchFamily="34" charset="-120"/>
              </a:rPr>
              <a:t>Bucket 3</a:t>
            </a:r>
            <a:endParaRPr lang="en-US" sz="1050" dirty="0"/>
          </a:p>
        </p:txBody>
      </p:sp>
      <p:sp>
        <p:nvSpPr>
          <p:cNvPr id="39" name="Text 35"/>
          <p:cNvSpPr/>
          <p:nvPr/>
        </p:nvSpPr>
        <p:spPr>
          <a:xfrm>
            <a:off x="1481328" y="3986784"/>
            <a:ext cx="132588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61 – 90 Days</a:t>
            </a:r>
            <a:endParaRPr lang="en-US" sz="1050" dirty="0"/>
          </a:p>
        </p:txBody>
      </p:sp>
      <p:sp>
        <p:nvSpPr>
          <p:cNvPr id="40" name="Text 36"/>
          <p:cNvSpPr/>
          <p:nvPr/>
        </p:nvSpPr>
        <p:spPr>
          <a:xfrm>
            <a:off x="2880360" y="3986784"/>
            <a:ext cx="1645920" cy="320040"/>
          </a:xfrm>
          <a:prstGeom prst="rect">
            <a:avLst/>
          </a:prstGeom>
          <a:noFill/>
          <a:ln/>
        </p:spPr>
        <p:txBody>
          <a:bodyPr wrap="square" rtlCol="0" anchor="ctr"/>
          <a:lstStyle/>
          <a:p>
            <a:pPr marL="0" indent="0">
              <a:buNone/>
            </a:pPr>
            <a:r>
              <a:rPr lang="en-US" sz="1050" b="1" dirty="0">
                <a:solidFill>
                  <a:srgbClr val="F57C00"/>
                </a:solidFill>
                <a:latin typeface="Calibri" pitchFamily="34" charset="0"/>
                <a:ea typeface="Calibri" pitchFamily="34" charset="-122"/>
                <a:cs typeface="Calibri" pitchFamily="34" charset="-120"/>
              </a:rPr>
              <a:t>High Delay</a:t>
            </a:r>
            <a:endParaRPr lang="en-US" sz="1050" dirty="0"/>
          </a:p>
        </p:txBody>
      </p:sp>
      <p:sp>
        <p:nvSpPr>
          <p:cNvPr id="41" name="Text 37"/>
          <p:cNvSpPr/>
          <p:nvPr/>
        </p:nvSpPr>
        <p:spPr>
          <a:xfrm>
            <a:off x="4617720" y="3986784"/>
            <a:ext cx="516636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Escalate — possible supply disruption</a:t>
            </a:r>
            <a:endParaRPr lang="en-US" sz="1050" dirty="0"/>
          </a:p>
        </p:txBody>
      </p:sp>
      <p:sp>
        <p:nvSpPr>
          <p:cNvPr id="42" name="Shape 38"/>
          <p:cNvSpPr/>
          <p:nvPr/>
        </p:nvSpPr>
        <p:spPr>
          <a:xfrm>
            <a:off x="9921240" y="4041648"/>
            <a:ext cx="1440180" cy="256032"/>
          </a:xfrm>
          <a:prstGeom prst="rect">
            <a:avLst/>
          </a:prstGeom>
          <a:solidFill>
            <a:srgbClr val="E0E0E0"/>
          </a:solidFill>
          <a:ln w="12700">
            <a:solidFill>
              <a:srgbClr val="E0E0E0"/>
            </a:solidFill>
            <a:prstDash val="solid"/>
          </a:ln>
        </p:spPr>
      </p:sp>
      <p:sp>
        <p:nvSpPr>
          <p:cNvPr id="43" name="Shape 39"/>
          <p:cNvSpPr/>
          <p:nvPr/>
        </p:nvSpPr>
        <p:spPr>
          <a:xfrm>
            <a:off x="9921240" y="4041648"/>
            <a:ext cx="864108" cy="256032"/>
          </a:xfrm>
          <a:prstGeom prst="rect">
            <a:avLst/>
          </a:prstGeom>
          <a:solidFill>
            <a:srgbClr val="F57C00"/>
          </a:solidFill>
          <a:ln w="12700">
            <a:solidFill>
              <a:srgbClr val="F57C00"/>
            </a:solidFill>
            <a:prstDash val="solid"/>
          </a:ln>
        </p:spPr>
      </p:sp>
      <p:sp>
        <p:nvSpPr>
          <p:cNvPr id="44" name="Text 40"/>
          <p:cNvSpPr/>
          <p:nvPr/>
        </p:nvSpPr>
        <p:spPr>
          <a:xfrm>
            <a:off x="9921240" y="4315968"/>
            <a:ext cx="1371600" cy="201168"/>
          </a:xfrm>
          <a:prstGeom prst="rect">
            <a:avLst/>
          </a:prstGeom>
          <a:noFill/>
          <a:ln/>
        </p:spPr>
        <p:txBody>
          <a:bodyPr wrap="square" rtlCol="0" anchor="ctr"/>
          <a:lstStyle/>
          <a:p>
            <a:pPr marL="0" indent="0">
              <a:buNone/>
            </a:pPr>
            <a:r>
              <a:rPr lang="en-US" sz="850" b="1" dirty="0">
                <a:solidFill>
                  <a:srgbClr val="F57C00"/>
                </a:solidFill>
                <a:latin typeface="Calibri" pitchFamily="34" charset="0"/>
                <a:ea typeface="Calibri" pitchFamily="34" charset="-122"/>
                <a:cs typeface="Calibri" pitchFamily="34" charset="-120"/>
              </a:rPr>
              <a:t>60%</a:t>
            </a:r>
            <a:endParaRPr lang="en-US" sz="850" dirty="0"/>
          </a:p>
        </p:txBody>
      </p:sp>
      <p:sp>
        <p:nvSpPr>
          <p:cNvPr id="45" name="Shape 41"/>
          <p:cNvSpPr/>
          <p:nvPr/>
        </p:nvSpPr>
        <p:spPr>
          <a:xfrm>
            <a:off x="320040" y="4626864"/>
            <a:ext cx="11521440" cy="786384"/>
          </a:xfrm>
          <a:prstGeom prst="rect">
            <a:avLst/>
          </a:prstGeom>
          <a:solidFill>
            <a:srgbClr val="F0F7FF"/>
          </a:solidFill>
          <a:ln w="9525">
            <a:solidFill>
              <a:srgbClr val="BBDEFB"/>
            </a:solidFill>
            <a:prstDash val="solid"/>
          </a:ln>
        </p:spPr>
      </p:sp>
      <p:sp>
        <p:nvSpPr>
          <p:cNvPr id="46" name="Shape 42"/>
          <p:cNvSpPr/>
          <p:nvPr/>
        </p:nvSpPr>
        <p:spPr>
          <a:xfrm>
            <a:off x="320040" y="4626864"/>
            <a:ext cx="54864" cy="786384"/>
          </a:xfrm>
          <a:prstGeom prst="rect">
            <a:avLst/>
          </a:prstGeom>
          <a:solidFill>
            <a:srgbClr val="E53935"/>
          </a:solidFill>
          <a:ln w="12700">
            <a:solidFill>
              <a:srgbClr val="E53935"/>
            </a:solidFill>
            <a:prstDash val="solid"/>
          </a:ln>
        </p:spPr>
      </p:sp>
      <p:sp>
        <p:nvSpPr>
          <p:cNvPr id="47" name="Text 43"/>
          <p:cNvSpPr/>
          <p:nvPr/>
        </p:nvSpPr>
        <p:spPr>
          <a:xfrm>
            <a:off x="411480" y="4828032"/>
            <a:ext cx="1005840" cy="320040"/>
          </a:xfrm>
          <a:prstGeom prst="rect">
            <a:avLst/>
          </a:prstGeom>
          <a:noFill/>
          <a:ln/>
        </p:spPr>
        <p:txBody>
          <a:bodyPr wrap="square" rtlCol="0" anchor="ctr"/>
          <a:lstStyle/>
          <a:p>
            <a:pPr marL="0" indent="0">
              <a:buNone/>
            </a:pPr>
            <a:r>
              <a:rPr lang="en-US" sz="1050" b="1" dirty="0">
                <a:solidFill>
                  <a:srgbClr val="E53935"/>
                </a:solidFill>
                <a:latin typeface="Calibri" pitchFamily="34" charset="0"/>
                <a:ea typeface="Calibri" pitchFamily="34" charset="-122"/>
                <a:cs typeface="Calibri" pitchFamily="34" charset="-120"/>
              </a:rPr>
              <a:t>Bucket 4</a:t>
            </a:r>
            <a:endParaRPr lang="en-US" sz="1050" dirty="0"/>
          </a:p>
        </p:txBody>
      </p:sp>
      <p:sp>
        <p:nvSpPr>
          <p:cNvPr id="48" name="Text 44"/>
          <p:cNvSpPr/>
          <p:nvPr/>
        </p:nvSpPr>
        <p:spPr>
          <a:xfrm>
            <a:off x="1481328" y="4828032"/>
            <a:ext cx="132588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91 – 120 Days</a:t>
            </a:r>
            <a:endParaRPr lang="en-US" sz="1050" dirty="0"/>
          </a:p>
        </p:txBody>
      </p:sp>
      <p:sp>
        <p:nvSpPr>
          <p:cNvPr id="49" name="Text 45"/>
          <p:cNvSpPr/>
          <p:nvPr/>
        </p:nvSpPr>
        <p:spPr>
          <a:xfrm>
            <a:off x="2880360" y="4828032"/>
            <a:ext cx="1645920" cy="320040"/>
          </a:xfrm>
          <a:prstGeom prst="rect">
            <a:avLst/>
          </a:prstGeom>
          <a:noFill/>
          <a:ln/>
        </p:spPr>
        <p:txBody>
          <a:bodyPr wrap="square" rtlCol="0" anchor="ctr"/>
          <a:lstStyle/>
          <a:p>
            <a:pPr marL="0" indent="0">
              <a:buNone/>
            </a:pPr>
            <a:r>
              <a:rPr lang="en-US" sz="1050" b="1" dirty="0">
                <a:solidFill>
                  <a:srgbClr val="E53935"/>
                </a:solidFill>
                <a:latin typeface="Calibri" pitchFamily="34" charset="0"/>
                <a:ea typeface="Calibri" pitchFamily="34" charset="-122"/>
                <a:cs typeface="Calibri" pitchFamily="34" charset="-120"/>
              </a:rPr>
              <a:t>Severe Delay</a:t>
            </a:r>
            <a:endParaRPr lang="en-US" sz="1050" dirty="0"/>
          </a:p>
        </p:txBody>
      </p:sp>
      <p:sp>
        <p:nvSpPr>
          <p:cNvPr id="50" name="Text 46"/>
          <p:cNvSpPr/>
          <p:nvPr/>
        </p:nvSpPr>
        <p:spPr>
          <a:xfrm>
            <a:off x="4617720" y="4828032"/>
            <a:ext cx="516636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Urgent action; vendor may block orders</a:t>
            </a:r>
            <a:endParaRPr lang="en-US" sz="1050" dirty="0"/>
          </a:p>
        </p:txBody>
      </p:sp>
      <p:sp>
        <p:nvSpPr>
          <p:cNvPr id="51" name="Shape 47"/>
          <p:cNvSpPr/>
          <p:nvPr/>
        </p:nvSpPr>
        <p:spPr>
          <a:xfrm>
            <a:off x="9921240" y="4882896"/>
            <a:ext cx="1440180" cy="256032"/>
          </a:xfrm>
          <a:prstGeom prst="rect">
            <a:avLst/>
          </a:prstGeom>
          <a:solidFill>
            <a:srgbClr val="E0E0E0"/>
          </a:solidFill>
          <a:ln w="12700">
            <a:solidFill>
              <a:srgbClr val="E0E0E0"/>
            </a:solidFill>
            <a:prstDash val="solid"/>
          </a:ln>
        </p:spPr>
      </p:sp>
      <p:sp>
        <p:nvSpPr>
          <p:cNvPr id="52" name="Shape 48"/>
          <p:cNvSpPr/>
          <p:nvPr/>
        </p:nvSpPr>
        <p:spPr>
          <a:xfrm>
            <a:off x="9921240" y="4882896"/>
            <a:ext cx="1152144" cy="256032"/>
          </a:xfrm>
          <a:prstGeom prst="rect">
            <a:avLst/>
          </a:prstGeom>
          <a:solidFill>
            <a:srgbClr val="E53935"/>
          </a:solidFill>
          <a:ln w="12700">
            <a:solidFill>
              <a:srgbClr val="E53935"/>
            </a:solidFill>
            <a:prstDash val="solid"/>
          </a:ln>
        </p:spPr>
      </p:sp>
      <p:sp>
        <p:nvSpPr>
          <p:cNvPr id="53" name="Text 49"/>
          <p:cNvSpPr/>
          <p:nvPr/>
        </p:nvSpPr>
        <p:spPr>
          <a:xfrm>
            <a:off x="9921240" y="5157216"/>
            <a:ext cx="1371600" cy="201168"/>
          </a:xfrm>
          <a:prstGeom prst="rect">
            <a:avLst/>
          </a:prstGeom>
          <a:noFill/>
          <a:ln/>
        </p:spPr>
        <p:txBody>
          <a:bodyPr wrap="square" rtlCol="0" anchor="ctr"/>
          <a:lstStyle/>
          <a:p>
            <a:pPr marL="0" indent="0">
              <a:buNone/>
            </a:pPr>
            <a:r>
              <a:rPr lang="en-US" sz="850" b="1" dirty="0">
                <a:solidFill>
                  <a:srgbClr val="E53935"/>
                </a:solidFill>
                <a:latin typeface="Calibri" pitchFamily="34" charset="0"/>
                <a:ea typeface="Calibri" pitchFamily="34" charset="-122"/>
                <a:cs typeface="Calibri" pitchFamily="34" charset="-120"/>
              </a:rPr>
              <a:t>80%</a:t>
            </a:r>
            <a:endParaRPr lang="en-US" sz="850" dirty="0"/>
          </a:p>
        </p:txBody>
      </p:sp>
      <p:sp>
        <p:nvSpPr>
          <p:cNvPr id="54" name="Shape 50"/>
          <p:cNvSpPr/>
          <p:nvPr/>
        </p:nvSpPr>
        <p:spPr>
          <a:xfrm>
            <a:off x="320040" y="5468112"/>
            <a:ext cx="11521440" cy="786384"/>
          </a:xfrm>
          <a:prstGeom prst="rect">
            <a:avLst/>
          </a:prstGeom>
          <a:solidFill>
            <a:srgbClr val="FFFFFF"/>
          </a:solidFill>
          <a:ln w="9525">
            <a:solidFill>
              <a:srgbClr val="BBDEFB"/>
            </a:solidFill>
            <a:prstDash val="solid"/>
          </a:ln>
        </p:spPr>
      </p:sp>
      <p:sp>
        <p:nvSpPr>
          <p:cNvPr id="55" name="Shape 51"/>
          <p:cNvSpPr/>
          <p:nvPr/>
        </p:nvSpPr>
        <p:spPr>
          <a:xfrm>
            <a:off x="320040" y="5468112"/>
            <a:ext cx="54864" cy="786384"/>
          </a:xfrm>
          <a:prstGeom prst="rect">
            <a:avLst/>
          </a:prstGeom>
          <a:solidFill>
            <a:srgbClr val="880E4F"/>
          </a:solidFill>
          <a:ln w="12700">
            <a:solidFill>
              <a:srgbClr val="880E4F"/>
            </a:solidFill>
            <a:prstDash val="solid"/>
          </a:ln>
        </p:spPr>
      </p:sp>
      <p:sp>
        <p:nvSpPr>
          <p:cNvPr id="56" name="Text 52"/>
          <p:cNvSpPr/>
          <p:nvPr/>
        </p:nvSpPr>
        <p:spPr>
          <a:xfrm>
            <a:off x="411480" y="5669280"/>
            <a:ext cx="1005840" cy="320040"/>
          </a:xfrm>
          <a:prstGeom prst="rect">
            <a:avLst/>
          </a:prstGeom>
          <a:noFill/>
          <a:ln/>
        </p:spPr>
        <p:txBody>
          <a:bodyPr wrap="square" rtlCol="0" anchor="ctr"/>
          <a:lstStyle/>
          <a:p>
            <a:pPr marL="0" indent="0">
              <a:buNone/>
            </a:pPr>
            <a:r>
              <a:rPr lang="en-US" sz="1050" b="1" dirty="0">
                <a:solidFill>
                  <a:srgbClr val="880E4F"/>
                </a:solidFill>
                <a:latin typeface="Calibri" pitchFamily="34" charset="0"/>
                <a:ea typeface="Calibri" pitchFamily="34" charset="-122"/>
                <a:cs typeface="Calibri" pitchFamily="34" charset="-120"/>
              </a:rPr>
              <a:t>Bucket 5</a:t>
            </a:r>
            <a:endParaRPr lang="en-US" sz="1050" dirty="0"/>
          </a:p>
        </p:txBody>
      </p:sp>
      <p:sp>
        <p:nvSpPr>
          <p:cNvPr id="57" name="Text 53"/>
          <p:cNvSpPr/>
          <p:nvPr/>
        </p:nvSpPr>
        <p:spPr>
          <a:xfrm>
            <a:off x="1481328" y="5669280"/>
            <a:ext cx="132588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120+ Days</a:t>
            </a:r>
            <a:endParaRPr lang="en-US" sz="1050" dirty="0"/>
          </a:p>
        </p:txBody>
      </p:sp>
      <p:sp>
        <p:nvSpPr>
          <p:cNvPr id="58" name="Text 54"/>
          <p:cNvSpPr/>
          <p:nvPr/>
        </p:nvSpPr>
        <p:spPr>
          <a:xfrm>
            <a:off x="2880360" y="5669280"/>
            <a:ext cx="1645920" cy="320040"/>
          </a:xfrm>
          <a:prstGeom prst="rect">
            <a:avLst/>
          </a:prstGeom>
          <a:noFill/>
          <a:ln/>
        </p:spPr>
        <p:txBody>
          <a:bodyPr wrap="square" rtlCol="0" anchor="ctr"/>
          <a:lstStyle/>
          <a:p>
            <a:pPr marL="0" indent="0">
              <a:buNone/>
            </a:pPr>
            <a:r>
              <a:rPr lang="en-US" sz="1050" b="1" dirty="0">
                <a:solidFill>
                  <a:srgbClr val="880E4F"/>
                </a:solidFill>
                <a:latin typeface="Calibri" pitchFamily="34" charset="0"/>
                <a:ea typeface="Calibri" pitchFamily="34" charset="-122"/>
                <a:cs typeface="Calibri" pitchFamily="34" charset="-120"/>
              </a:rPr>
              <a:t>Critical Delay</a:t>
            </a:r>
            <a:endParaRPr lang="en-US" sz="1050" dirty="0"/>
          </a:p>
        </p:txBody>
      </p:sp>
      <p:sp>
        <p:nvSpPr>
          <p:cNvPr id="59" name="Text 55"/>
          <p:cNvSpPr/>
          <p:nvPr/>
        </p:nvSpPr>
        <p:spPr>
          <a:xfrm>
            <a:off x="4617720" y="5669280"/>
            <a:ext cx="516636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Legal action risk; cash flow impact; blacklisting</a:t>
            </a:r>
            <a:endParaRPr lang="en-US" sz="1050" dirty="0"/>
          </a:p>
        </p:txBody>
      </p:sp>
      <p:sp>
        <p:nvSpPr>
          <p:cNvPr id="60" name="Shape 56"/>
          <p:cNvSpPr/>
          <p:nvPr/>
        </p:nvSpPr>
        <p:spPr>
          <a:xfrm>
            <a:off x="9921240" y="5724144"/>
            <a:ext cx="1440180" cy="256032"/>
          </a:xfrm>
          <a:prstGeom prst="rect">
            <a:avLst/>
          </a:prstGeom>
          <a:solidFill>
            <a:srgbClr val="E0E0E0"/>
          </a:solidFill>
          <a:ln w="12700">
            <a:solidFill>
              <a:srgbClr val="E0E0E0"/>
            </a:solidFill>
            <a:prstDash val="solid"/>
          </a:ln>
        </p:spPr>
      </p:sp>
      <p:sp>
        <p:nvSpPr>
          <p:cNvPr id="61" name="Shape 57"/>
          <p:cNvSpPr/>
          <p:nvPr/>
        </p:nvSpPr>
        <p:spPr>
          <a:xfrm>
            <a:off x="9921240" y="5724144"/>
            <a:ext cx="1440180" cy="256032"/>
          </a:xfrm>
          <a:prstGeom prst="rect">
            <a:avLst/>
          </a:prstGeom>
          <a:solidFill>
            <a:srgbClr val="880E4F"/>
          </a:solidFill>
          <a:ln w="12700">
            <a:solidFill>
              <a:srgbClr val="880E4F"/>
            </a:solidFill>
            <a:prstDash val="solid"/>
          </a:ln>
        </p:spPr>
      </p:sp>
      <p:sp>
        <p:nvSpPr>
          <p:cNvPr id="62" name="Text 58"/>
          <p:cNvSpPr/>
          <p:nvPr/>
        </p:nvSpPr>
        <p:spPr>
          <a:xfrm>
            <a:off x="9921240" y="5998464"/>
            <a:ext cx="1371600" cy="201168"/>
          </a:xfrm>
          <a:prstGeom prst="rect">
            <a:avLst/>
          </a:prstGeom>
          <a:noFill/>
          <a:ln/>
        </p:spPr>
        <p:txBody>
          <a:bodyPr wrap="square" rtlCol="0" anchor="ctr"/>
          <a:lstStyle/>
          <a:p>
            <a:pPr marL="0" indent="0">
              <a:buNone/>
            </a:pPr>
            <a:r>
              <a:rPr lang="en-US" sz="850" b="1" dirty="0">
                <a:solidFill>
                  <a:srgbClr val="880E4F"/>
                </a:solidFill>
                <a:latin typeface="Calibri" pitchFamily="34" charset="0"/>
                <a:ea typeface="Calibri" pitchFamily="34" charset="-122"/>
                <a:cs typeface="Calibri" pitchFamily="34" charset="-120"/>
              </a:rPr>
              <a:t>100%</a:t>
            </a:r>
            <a:endParaRPr lang="en-US" sz="850" dirty="0"/>
          </a:p>
        </p:txBody>
      </p:sp>
      <p:sp>
        <p:nvSpPr>
          <p:cNvPr id="63" name="Shape 59"/>
          <p:cNvSpPr/>
          <p:nvPr/>
        </p:nvSpPr>
        <p:spPr>
          <a:xfrm>
            <a:off x="320040" y="6400800"/>
            <a:ext cx="10215341" cy="347472"/>
          </a:xfrm>
          <a:prstGeom prst="roundRect">
            <a:avLst>
              <a:gd name="adj" fmla="val 26316"/>
            </a:avLst>
          </a:prstGeom>
          <a:solidFill>
            <a:srgbClr val="FFF8E1"/>
          </a:solidFill>
          <a:ln w="15240">
            <a:solidFill>
              <a:srgbClr val="FBC02D"/>
            </a:solidFill>
            <a:prstDash val="solid"/>
          </a:ln>
        </p:spPr>
      </p:sp>
      <p:sp>
        <p:nvSpPr>
          <p:cNvPr id="64" name="Text 60"/>
          <p:cNvSpPr/>
          <p:nvPr/>
        </p:nvSpPr>
        <p:spPr>
          <a:xfrm>
            <a:off x="457200" y="6428232"/>
            <a:ext cx="11155680" cy="292608"/>
          </a:xfrm>
          <a:prstGeom prst="rect">
            <a:avLst/>
          </a:prstGeom>
          <a:noFill/>
          <a:ln/>
        </p:spPr>
        <p:txBody>
          <a:bodyPr wrap="square" rtlCol="0" anchor="ctr"/>
          <a:lstStyle/>
          <a:p>
            <a:pPr marL="0" indent="0">
              <a:buNone/>
            </a:pPr>
            <a:r>
              <a:rPr lang="en-US" sz="1000" i="1" dirty="0">
                <a:solidFill>
                  <a:srgbClr val="6D4C41"/>
                </a:solidFill>
                <a:latin typeface="Calibri" pitchFamily="34" charset="0"/>
                <a:ea typeface="Calibri" pitchFamily="34" charset="-122"/>
                <a:cs typeface="Calibri" pitchFamily="34" charset="-120"/>
              </a:rPr>
              <a:t>  Example: Invoice Baseline Date = 1 Jan 2024 + Payment Terms = 30 days → Due Date = 31 Jan 2024. If unpaid after that, classified by days past due date.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039738" y="73152"/>
            <a:ext cx="1938901" cy="594360"/>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Vendor Risk Calculation &amp; Feature Engineering</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ML inputs derived from SAP data per vendor</a:t>
            </a:r>
            <a:endParaRPr lang="en-US" sz="1300" dirty="0"/>
          </a:p>
        </p:txBody>
      </p:sp>
      <p:sp>
        <p:nvSpPr>
          <p:cNvPr id="8" name="Text 4"/>
          <p:cNvSpPr/>
          <p:nvPr/>
        </p:nvSpPr>
        <p:spPr>
          <a:xfrm>
            <a:off x="320040" y="1691640"/>
            <a:ext cx="5669280" cy="347472"/>
          </a:xfrm>
          <a:prstGeom prst="rect">
            <a:avLst/>
          </a:prstGeom>
          <a:noFill/>
          <a:ln/>
        </p:spPr>
        <p:txBody>
          <a:bodyPr wrap="square" rtlCol="0" anchor="ctr"/>
          <a:lstStyle/>
          <a:p>
            <a:pPr marL="0" indent="0">
              <a:buNone/>
            </a:pPr>
            <a:r>
              <a:rPr lang="en-US" sz="1350" b="1" dirty="0">
                <a:solidFill>
                  <a:srgbClr val="1F3A6E"/>
                </a:solidFill>
                <a:latin typeface="Calibri" pitchFamily="34" charset="0"/>
                <a:ea typeface="Calibri" pitchFamily="34" charset="-122"/>
                <a:cs typeface="Calibri" pitchFamily="34" charset="-120"/>
              </a:rPr>
              <a:t>ML Feature Inputs</a:t>
            </a:r>
            <a:endParaRPr lang="en-US" sz="1350" dirty="0"/>
          </a:p>
        </p:txBody>
      </p:sp>
      <p:sp>
        <p:nvSpPr>
          <p:cNvPr id="9" name="Shape 5"/>
          <p:cNvSpPr/>
          <p:nvPr/>
        </p:nvSpPr>
        <p:spPr>
          <a:xfrm>
            <a:off x="320040" y="2084832"/>
            <a:ext cx="5760720" cy="347472"/>
          </a:xfrm>
          <a:prstGeom prst="rect">
            <a:avLst/>
          </a:prstGeom>
          <a:solidFill>
            <a:srgbClr val="1565C0"/>
          </a:solidFill>
          <a:ln w="12700">
            <a:solidFill>
              <a:srgbClr val="1565C0"/>
            </a:solidFill>
            <a:prstDash val="solid"/>
          </a:ln>
        </p:spPr>
      </p:sp>
      <p:sp>
        <p:nvSpPr>
          <p:cNvPr id="10" name="Text 6"/>
          <p:cNvSpPr/>
          <p:nvPr/>
        </p:nvSpPr>
        <p:spPr>
          <a:xfrm>
            <a:off x="347472" y="2084832"/>
            <a:ext cx="1536192"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p>
        </p:txBody>
      </p:sp>
      <p:sp>
        <p:nvSpPr>
          <p:cNvPr id="11" name="Text 7"/>
          <p:cNvSpPr/>
          <p:nvPr/>
        </p:nvSpPr>
        <p:spPr>
          <a:xfrm>
            <a:off x="1920240" y="2084832"/>
            <a:ext cx="1371600"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Source Field</a:t>
            </a:r>
            <a:endParaRPr lang="en-US" sz="1000" dirty="0"/>
          </a:p>
        </p:txBody>
      </p:sp>
      <p:sp>
        <p:nvSpPr>
          <p:cNvPr id="12" name="Text 8"/>
          <p:cNvSpPr/>
          <p:nvPr/>
        </p:nvSpPr>
        <p:spPr>
          <a:xfrm>
            <a:off x="3337560" y="2084832"/>
            <a:ext cx="2633472"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3" name="Shape 9"/>
          <p:cNvSpPr/>
          <p:nvPr/>
        </p:nvSpPr>
        <p:spPr>
          <a:xfrm>
            <a:off x="320040" y="2468880"/>
            <a:ext cx="5760720" cy="493776"/>
          </a:xfrm>
          <a:prstGeom prst="rect">
            <a:avLst/>
          </a:prstGeom>
          <a:solidFill>
            <a:srgbClr val="FFFFFF"/>
          </a:solidFill>
          <a:ln w="12700">
            <a:solidFill>
              <a:srgbClr val="BBDEFB"/>
            </a:solidFill>
            <a:prstDash val="solid"/>
          </a:ln>
        </p:spPr>
      </p:sp>
      <p:sp>
        <p:nvSpPr>
          <p:cNvPr id="14" name="Text 10"/>
          <p:cNvSpPr/>
          <p:nvPr/>
        </p:nvSpPr>
        <p:spPr>
          <a:xfrm>
            <a:off x="365760" y="2560320"/>
            <a:ext cx="1508760" cy="310896"/>
          </a:xfrm>
          <a:prstGeom prst="rect">
            <a:avLst/>
          </a:prstGeom>
          <a:noFill/>
          <a:ln/>
        </p:spPr>
        <p:txBody>
          <a:bodyPr wrap="square" rtlCol="0" anchor="ctr"/>
          <a:lstStyle/>
          <a:p>
            <a:pPr marL="0" indent="0">
              <a:buNone/>
            </a:pPr>
            <a:r>
              <a:rPr lang="en-US" sz="950" b="1" dirty="0">
                <a:solidFill>
                  <a:srgbClr val="1F3A6E"/>
                </a:solidFill>
                <a:latin typeface="Calibri" pitchFamily="34" charset="0"/>
                <a:ea typeface="Calibri" pitchFamily="34" charset="-122"/>
                <a:cs typeface="Calibri" pitchFamily="34" charset="-120"/>
              </a:rPr>
              <a:t>Invoice Amount</a:t>
            </a:r>
            <a:endParaRPr lang="en-US" sz="950" dirty="0"/>
          </a:p>
        </p:txBody>
      </p:sp>
      <p:sp>
        <p:nvSpPr>
          <p:cNvPr id="15" name="Text 11"/>
          <p:cNvSpPr/>
          <p:nvPr/>
        </p:nvSpPr>
        <p:spPr>
          <a:xfrm>
            <a:off x="1901952" y="2560320"/>
            <a:ext cx="1371600" cy="310896"/>
          </a:xfrm>
          <a:prstGeom prst="rect">
            <a:avLst/>
          </a:prstGeom>
          <a:noFill/>
          <a:ln/>
        </p:spPr>
        <p:txBody>
          <a:bodyPr wrap="square" rtlCol="0" anchor="ctr"/>
          <a:lstStyle/>
          <a:p>
            <a:pPr marL="0" indent="0">
              <a:buNone/>
            </a:pPr>
            <a:r>
              <a:rPr lang="en-US" sz="900" i="1" dirty="0">
                <a:solidFill>
                  <a:srgbClr val="00ACC1"/>
                </a:solidFill>
                <a:latin typeface="Calibri" pitchFamily="34" charset="0"/>
                <a:ea typeface="Calibri" pitchFamily="34" charset="-122"/>
                <a:cs typeface="Calibri" pitchFamily="34" charset="-120"/>
              </a:rPr>
              <a:t>WRBTR (BSIK)</a:t>
            </a:r>
            <a:endParaRPr lang="en-US" sz="900" dirty="0"/>
          </a:p>
        </p:txBody>
      </p:sp>
      <p:sp>
        <p:nvSpPr>
          <p:cNvPr id="16" name="Text 12"/>
          <p:cNvSpPr/>
          <p:nvPr/>
        </p:nvSpPr>
        <p:spPr>
          <a:xfrm>
            <a:off x="3310128" y="2560320"/>
            <a:ext cx="2651760" cy="310896"/>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Total value of unpaid invoice</a:t>
            </a:r>
            <a:endParaRPr lang="en-US" sz="900" dirty="0"/>
          </a:p>
        </p:txBody>
      </p:sp>
      <p:sp>
        <p:nvSpPr>
          <p:cNvPr id="17" name="Shape 13"/>
          <p:cNvSpPr/>
          <p:nvPr/>
        </p:nvSpPr>
        <p:spPr>
          <a:xfrm>
            <a:off x="320040" y="2999232"/>
            <a:ext cx="5760720" cy="493776"/>
          </a:xfrm>
          <a:prstGeom prst="rect">
            <a:avLst/>
          </a:prstGeom>
          <a:solidFill>
            <a:srgbClr val="F0F7FF"/>
          </a:solidFill>
          <a:ln w="12700">
            <a:solidFill>
              <a:srgbClr val="BBDEFB"/>
            </a:solidFill>
            <a:prstDash val="solid"/>
          </a:ln>
        </p:spPr>
      </p:sp>
      <p:sp>
        <p:nvSpPr>
          <p:cNvPr id="18" name="Text 14"/>
          <p:cNvSpPr/>
          <p:nvPr/>
        </p:nvSpPr>
        <p:spPr>
          <a:xfrm>
            <a:off x="365760" y="3090672"/>
            <a:ext cx="1508760" cy="310896"/>
          </a:xfrm>
          <a:prstGeom prst="rect">
            <a:avLst/>
          </a:prstGeom>
          <a:noFill/>
          <a:ln/>
        </p:spPr>
        <p:txBody>
          <a:bodyPr wrap="square" rtlCol="0" anchor="ctr"/>
          <a:lstStyle/>
          <a:p>
            <a:pPr marL="0" indent="0">
              <a:buNone/>
            </a:pPr>
            <a:r>
              <a:rPr lang="en-US" sz="950" b="1" dirty="0">
                <a:solidFill>
                  <a:srgbClr val="1F3A6E"/>
                </a:solidFill>
                <a:latin typeface="Calibri" pitchFamily="34" charset="0"/>
                <a:ea typeface="Calibri" pitchFamily="34" charset="-122"/>
                <a:cs typeface="Calibri" pitchFamily="34" charset="-120"/>
              </a:rPr>
              <a:t>Credit Days</a:t>
            </a:r>
            <a:endParaRPr lang="en-US" sz="950" dirty="0"/>
          </a:p>
        </p:txBody>
      </p:sp>
      <p:sp>
        <p:nvSpPr>
          <p:cNvPr id="19" name="Text 15"/>
          <p:cNvSpPr/>
          <p:nvPr/>
        </p:nvSpPr>
        <p:spPr>
          <a:xfrm>
            <a:off x="1901952" y="3090672"/>
            <a:ext cx="1371600" cy="310896"/>
          </a:xfrm>
          <a:prstGeom prst="rect">
            <a:avLst/>
          </a:prstGeom>
          <a:noFill/>
          <a:ln/>
        </p:spPr>
        <p:txBody>
          <a:bodyPr wrap="square" rtlCol="0" anchor="ctr"/>
          <a:lstStyle/>
          <a:p>
            <a:pPr marL="0" indent="0">
              <a:buNone/>
            </a:pPr>
            <a:r>
              <a:rPr lang="en-US" sz="900" i="1" dirty="0">
                <a:solidFill>
                  <a:srgbClr val="00ACC1"/>
                </a:solidFill>
                <a:latin typeface="Calibri" pitchFamily="34" charset="0"/>
                <a:ea typeface="Calibri" pitchFamily="34" charset="-122"/>
                <a:cs typeface="Calibri" pitchFamily="34" charset="-120"/>
              </a:rPr>
              <a:t>ZTERM (LFB1)</a:t>
            </a:r>
            <a:endParaRPr lang="en-US" sz="900" dirty="0"/>
          </a:p>
        </p:txBody>
      </p:sp>
      <p:sp>
        <p:nvSpPr>
          <p:cNvPr id="20" name="Text 16"/>
          <p:cNvSpPr/>
          <p:nvPr/>
        </p:nvSpPr>
        <p:spPr>
          <a:xfrm>
            <a:off x="3310128" y="3090672"/>
            <a:ext cx="2651760" cy="310896"/>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Allowed payment period from baseline date</a:t>
            </a:r>
            <a:endParaRPr lang="en-US" sz="900" dirty="0"/>
          </a:p>
        </p:txBody>
      </p:sp>
      <p:sp>
        <p:nvSpPr>
          <p:cNvPr id="21" name="Shape 17"/>
          <p:cNvSpPr/>
          <p:nvPr/>
        </p:nvSpPr>
        <p:spPr>
          <a:xfrm>
            <a:off x="320040" y="3529584"/>
            <a:ext cx="5760720" cy="493776"/>
          </a:xfrm>
          <a:prstGeom prst="rect">
            <a:avLst/>
          </a:prstGeom>
          <a:solidFill>
            <a:srgbClr val="FFFFFF"/>
          </a:solidFill>
          <a:ln w="12700">
            <a:solidFill>
              <a:srgbClr val="BBDEFB"/>
            </a:solidFill>
            <a:prstDash val="solid"/>
          </a:ln>
        </p:spPr>
      </p:sp>
      <p:sp>
        <p:nvSpPr>
          <p:cNvPr id="22" name="Text 18"/>
          <p:cNvSpPr/>
          <p:nvPr/>
        </p:nvSpPr>
        <p:spPr>
          <a:xfrm>
            <a:off x="365760" y="3621024"/>
            <a:ext cx="1508760" cy="310896"/>
          </a:xfrm>
          <a:prstGeom prst="rect">
            <a:avLst/>
          </a:prstGeom>
          <a:noFill/>
          <a:ln/>
        </p:spPr>
        <p:txBody>
          <a:bodyPr wrap="square" rtlCol="0" anchor="ctr"/>
          <a:lstStyle/>
          <a:p>
            <a:pPr marL="0" indent="0">
              <a:buNone/>
            </a:pPr>
            <a:r>
              <a:rPr lang="en-US" sz="950" b="1" dirty="0">
                <a:solidFill>
                  <a:srgbClr val="1F3A6E"/>
                </a:solidFill>
                <a:latin typeface="Calibri" pitchFamily="34" charset="0"/>
                <a:ea typeface="Calibri" pitchFamily="34" charset="-122"/>
                <a:cs typeface="Calibri" pitchFamily="34" charset="-120"/>
              </a:rPr>
              <a:t>Overdue Days</a:t>
            </a:r>
            <a:endParaRPr lang="en-US" sz="950" dirty="0"/>
          </a:p>
        </p:txBody>
      </p:sp>
      <p:sp>
        <p:nvSpPr>
          <p:cNvPr id="23" name="Text 19"/>
          <p:cNvSpPr/>
          <p:nvPr/>
        </p:nvSpPr>
        <p:spPr>
          <a:xfrm>
            <a:off x="1901952" y="3621024"/>
            <a:ext cx="1371600" cy="310896"/>
          </a:xfrm>
          <a:prstGeom prst="rect">
            <a:avLst/>
          </a:prstGeom>
          <a:noFill/>
          <a:ln/>
        </p:spPr>
        <p:txBody>
          <a:bodyPr wrap="square" rtlCol="0" anchor="ctr"/>
          <a:lstStyle/>
          <a:p>
            <a:pPr marL="0" indent="0">
              <a:buNone/>
            </a:pPr>
            <a:r>
              <a:rPr lang="en-US" sz="900" i="1" dirty="0">
                <a:solidFill>
                  <a:srgbClr val="00ACC1"/>
                </a:solidFill>
                <a:latin typeface="Calibri" pitchFamily="34" charset="0"/>
                <a:ea typeface="Calibri" pitchFamily="34" charset="-122"/>
                <a:cs typeface="Calibri" pitchFamily="34" charset="-120"/>
              </a:rPr>
              <a:t>Calculated</a:t>
            </a:r>
            <a:endParaRPr lang="en-US" sz="900" dirty="0"/>
          </a:p>
        </p:txBody>
      </p:sp>
      <p:sp>
        <p:nvSpPr>
          <p:cNvPr id="24" name="Text 20"/>
          <p:cNvSpPr/>
          <p:nvPr/>
        </p:nvSpPr>
        <p:spPr>
          <a:xfrm>
            <a:off x="3310128" y="3621024"/>
            <a:ext cx="2651760" cy="310896"/>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Current Date minus Due Date (positive = overdue)</a:t>
            </a:r>
            <a:endParaRPr lang="en-US" sz="900" dirty="0"/>
          </a:p>
        </p:txBody>
      </p:sp>
      <p:sp>
        <p:nvSpPr>
          <p:cNvPr id="25" name="Shape 21"/>
          <p:cNvSpPr/>
          <p:nvPr/>
        </p:nvSpPr>
        <p:spPr>
          <a:xfrm>
            <a:off x="320040" y="4059936"/>
            <a:ext cx="5760720" cy="493776"/>
          </a:xfrm>
          <a:prstGeom prst="rect">
            <a:avLst/>
          </a:prstGeom>
          <a:solidFill>
            <a:srgbClr val="F0F7FF"/>
          </a:solidFill>
          <a:ln w="12700">
            <a:solidFill>
              <a:srgbClr val="BBDEFB"/>
            </a:solidFill>
            <a:prstDash val="solid"/>
          </a:ln>
        </p:spPr>
      </p:sp>
      <p:sp>
        <p:nvSpPr>
          <p:cNvPr id="26" name="Text 22"/>
          <p:cNvSpPr/>
          <p:nvPr/>
        </p:nvSpPr>
        <p:spPr>
          <a:xfrm>
            <a:off x="365760" y="4151376"/>
            <a:ext cx="1508760" cy="310896"/>
          </a:xfrm>
          <a:prstGeom prst="rect">
            <a:avLst/>
          </a:prstGeom>
          <a:noFill/>
          <a:ln/>
        </p:spPr>
        <p:txBody>
          <a:bodyPr wrap="square" rtlCol="0" anchor="ctr"/>
          <a:lstStyle/>
          <a:p>
            <a:pPr marL="0" indent="0">
              <a:buNone/>
            </a:pPr>
            <a:r>
              <a:rPr lang="en-US" sz="950" b="1" dirty="0">
                <a:solidFill>
                  <a:srgbClr val="1F3A6E"/>
                </a:solidFill>
                <a:latin typeface="Calibri" pitchFamily="34" charset="0"/>
                <a:ea typeface="Calibri" pitchFamily="34" charset="-122"/>
                <a:cs typeface="Calibri" pitchFamily="34" charset="-120"/>
              </a:rPr>
              <a:t>Transaction Frequency</a:t>
            </a:r>
            <a:endParaRPr lang="en-US" sz="950" dirty="0"/>
          </a:p>
        </p:txBody>
      </p:sp>
      <p:sp>
        <p:nvSpPr>
          <p:cNvPr id="27" name="Text 23"/>
          <p:cNvSpPr/>
          <p:nvPr/>
        </p:nvSpPr>
        <p:spPr>
          <a:xfrm>
            <a:off x="1901952" y="4151376"/>
            <a:ext cx="1371600" cy="310896"/>
          </a:xfrm>
          <a:prstGeom prst="rect">
            <a:avLst/>
          </a:prstGeom>
          <a:noFill/>
          <a:ln/>
        </p:spPr>
        <p:txBody>
          <a:bodyPr wrap="square" rtlCol="0" anchor="ctr"/>
          <a:lstStyle/>
          <a:p>
            <a:pPr marL="0" indent="0">
              <a:buNone/>
            </a:pPr>
            <a:r>
              <a:rPr lang="en-US" sz="900" i="1" dirty="0">
                <a:solidFill>
                  <a:srgbClr val="00ACC1"/>
                </a:solidFill>
                <a:latin typeface="Calibri" pitchFamily="34" charset="0"/>
                <a:ea typeface="Calibri" pitchFamily="34" charset="-122"/>
                <a:cs typeface="Calibri" pitchFamily="34" charset="-120"/>
              </a:rPr>
              <a:t>Count of BSIK rows</a:t>
            </a:r>
            <a:endParaRPr lang="en-US" sz="900" dirty="0"/>
          </a:p>
        </p:txBody>
      </p:sp>
      <p:sp>
        <p:nvSpPr>
          <p:cNvPr id="28" name="Text 24"/>
          <p:cNvSpPr/>
          <p:nvPr/>
        </p:nvSpPr>
        <p:spPr>
          <a:xfrm>
            <a:off x="3310128" y="4151376"/>
            <a:ext cx="2651760" cy="310896"/>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Number of open invoices per vendor</a:t>
            </a:r>
            <a:endParaRPr lang="en-US" sz="900" dirty="0"/>
          </a:p>
        </p:txBody>
      </p:sp>
      <p:sp>
        <p:nvSpPr>
          <p:cNvPr id="29" name="Shape 25"/>
          <p:cNvSpPr/>
          <p:nvPr/>
        </p:nvSpPr>
        <p:spPr>
          <a:xfrm>
            <a:off x="320040" y="4590288"/>
            <a:ext cx="5760720" cy="493776"/>
          </a:xfrm>
          <a:prstGeom prst="rect">
            <a:avLst/>
          </a:prstGeom>
          <a:solidFill>
            <a:srgbClr val="FFFFFF"/>
          </a:solidFill>
          <a:ln w="12700">
            <a:solidFill>
              <a:srgbClr val="BBDEFB"/>
            </a:solidFill>
            <a:prstDash val="solid"/>
          </a:ln>
        </p:spPr>
      </p:sp>
      <p:sp>
        <p:nvSpPr>
          <p:cNvPr id="30" name="Text 26"/>
          <p:cNvSpPr/>
          <p:nvPr/>
        </p:nvSpPr>
        <p:spPr>
          <a:xfrm>
            <a:off x="365760" y="4681728"/>
            <a:ext cx="1508760" cy="310896"/>
          </a:xfrm>
          <a:prstGeom prst="rect">
            <a:avLst/>
          </a:prstGeom>
          <a:noFill/>
          <a:ln/>
        </p:spPr>
        <p:txBody>
          <a:bodyPr wrap="square" rtlCol="0" anchor="ctr"/>
          <a:lstStyle/>
          <a:p>
            <a:pPr marL="0" indent="0">
              <a:buNone/>
            </a:pPr>
            <a:r>
              <a:rPr lang="en-US" sz="950" b="1" dirty="0">
                <a:solidFill>
                  <a:srgbClr val="1F3A6E"/>
                </a:solidFill>
                <a:latin typeface="Calibri" pitchFamily="34" charset="0"/>
                <a:ea typeface="Calibri" pitchFamily="34" charset="-122"/>
                <a:cs typeface="Calibri" pitchFamily="34" charset="-120"/>
              </a:rPr>
              <a:t>Max Overdue Days</a:t>
            </a:r>
            <a:endParaRPr lang="en-US" sz="950" dirty="0"/>
          </a:p>
        </p:txBody>
      </p:sp>
      <p:sp>
        <p:nvSpPr>
          <p:cNvPr id="31" name="Text 27"/>
          <p:cNvSpPr/>
          <p:nvPr/>
        </p:nvSpPr>
        <p:spPr>
          <a:xfrm>
            <a:off x="1901952" y="4681728"/>
            <a:ext cx="1371600" cy="310896"/>
          </a:xfrm>
          <a:prstGeom prst="rect">
            <a:avLst/>
          </a:prstGeom>
          <a:noFill/>
          <a:ln/>
        </p:spPr>
        <p:txBody>
          <a:bodyPr wrap="square" rtlCol="0" anchor="ctr"/>
          <a:lstStyle/>
          <a:p>
            <a:pPr marL="0" indent="0">
              <a:buNone/>
            </a:pPr>
            <a:r>
              <a:rPr lang="en-US" sz="900" i="1" dirty="0">
                <a:solidFill>
                  <a:srgbClr val="00ACC1"/>
                </a:solidFill>
                <a:latin typeface="Calibri" pitchFamily="34" charset="0"/>
                <a:ea typeface="Calibri" pitchFamily="34" charset="-122"/>
                <a:cs typeface="Calibri" pitchFamily="34" charset="-120"/>
              </a:rPr>
              <a:t>Calculated per vendor</a:t>
            </a:r>
            <a:endParaRPr lang="en-US" sz="900" dirty="0"/>
          </a:p>
        </p:txBody>
      </p:sp>
      <p:sp>
        <p:nvSpPr>
          <p:cNvPr id="32" name="Text 28"/>
          <p:cNvSpPr/>
          <p:nvPr/>
        </p:nvSpPr>
        <p:spPr>
          <a:xfrm>
            <a:off x="3310128" y="4681728"/>
            <a:ext cx="2651760" cy="310896"/>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Worst-case overdue invoice for the vendor</a:t>
            </a:r>
            <a:endParaRPr lang="en-US" sz="900" dirty="0"/>
          </a:p>
        </p:txBody>
      </p:sp>
      <p:sp>
        <p:nvSpPr>
          <p:cNvPr id="33" name="Shape 29"/>
          <p:cNvSpPr/>
          <p:nvPr/>
        </p:nvSpPr>
        <p:spPr>
          <a:xfrm>
            <a:off x="320040" y="5120640"/>
            <a:ext cx="5760720" cy="493776"/>
          </a:xfrm>
          <a:prstGeom prst="rect">
            <a:avLst/>
          </a:prstGeom>
          <a:solidFill>
            <a:srgbClr val="F0F7FF"/>
          </a:solidFill>
          <a:ln w="12700">
            <a:solidFill>
              <a:srgbClr val="BBDEFB"/>
            </a:solidFill>
            <a:prstDash val="solid"/>
          </a:ln>
        </p:spPr>
      </p:sp>
      <p:sp>
        <p:nvSpPr>
          <p:cNvPr id="34" name="Text 30"/>
          <p:cNvSpPr/>
          <p:nvPr/>
        </p:nvSpPr>
        <p:spPr>
          <a:xfrm>
            <a:off x="365760" y="5212080"/>
            <a:ext cx="1508760" cy="310896"/>
          </a:xfrm>
          <a:prstGeom prst="rect">
            <a:avLst/>
          </a:prstGeom>
          <a:noFill/>
          <a:ln/>
        </p:spPr>
        <p:txBody>
          <a:bodyPr wrap="square" rtlCol="0" anchor="ctr"/>
          <a:lstStyle/>
          <a:p>
            <a:pPr marL="0" indent="0">
              <a:buNone/>
            </a:pPr>
            <a:r>
              <a:rPr lang="en-US" sz="950" b="1" dirty="0">
                <a:solidFill>
                  <a:srgbClr val="1F3A6E"/>
                </a:solidFill>
                <a:latin typeface="Calibri" pitchFamily="34" charset="0"/>
                <a:ea typeface="Calibri" pitchFamily="34" charset="-122"/>
                <a:cs typeface="Calibri" pitchFamily="34" charset="-120"/>
              </a:rPr>
              <a:t>Avg Overdue Days</a:t>
            </a:r>
            <a:endParaRPr lang="en-US" sz="950" dirty="0"/>
          </a:p>
        </p:txBody>
      </p:sp>
      <p:sp>
        <p:nvSpPr>
          <p:cNvPr id="35" name="Text 31"/>
          <p:cNvSpPr/>
          <p:nvPr/>
        </p:nvSpPr>
        <p:spPr>
          <a:xfrm>
            <a:off x="1901952" y="5212080"/>
            <a:ext cx="1371600" cy="310896"/>
          </a:xfrm>
          <a:prstGeom prst="rect">
            <a:avLst/>
          </a:prstGeom>
          <a:noFill/>
          <a:ln/>
        </p:spPr>
        <p:txBody>
          <a:bodyPr wrap="square" rtlCol="0" anchor="ctr"/>
          <a:lstStyle/>
          <a:p>
            <a:pPr marL="0" indent="0">
              <a:buNone/>
            </a:pPr>
            <a:r>
              <a:rPr lang="en-US" sz="900" i="1" dirty="0">
                <a:solidFill>
                  <a:srgbClr val="00ACC1"/>
                </a:solidFill>
                <a:latin typeface="Calibri" pitchFamily="34" charset="0"/>
                <a:ea typeface="Calibri" pitchFamily="34" charset="-122"/>
                <a:cs typeface="Calibri" pitchFamily="34" charset="-120"/>
              </a:rPr>
              <a:t>Calculated per vendor</a:t>
            </a:r>
            <a:endParaRPr lang="en-US" sz="900" dirty="0"/>
          </a:p>
        </p:txBody>
      </p:sp>
      <p:sp>
        <p:nvSpPr>
          <p:cNvPr id="36" name="Text 32"/>
          <p:cNvSpPr/>
          <p:nvPr/>
        </p:nvSpPr>
        <p:spPr>
          <a:xfrm>
            <a:off x="3310128" y="5212080"/>
            <a:ext cx="2651760" cy="310896"/>
          </a:xfrm>
          <a:prstGeom prst="rect">
            <a:avLst/>
          </a:prstGeom>
          <a:noFill/>
          <a:ln/>
        </p:spPr>
        <p:txBody>
          <a:bodyPr wrap="square" rtlCol="0" anchor="ctr"/>
          <a:lstStyle/>
          <a:p>
            <a:pPr marL="0" indent="0">
              <a:buNone/>
            </a:pPr>
            <a:r>
              <a:rPr lang="en-US" sz="900" dirty="0">
                <a:solidFill>
                  <a:srgbClr val="37474F"/>
                </a:solidFill>
                <a:latin typeface="Calibri" pitchFamily="34" charset="0"/>
                <a:ea typeface="Calibri" pitchFamily="34" charset="-122"/>
                <a:cs typeface="Calibri" pitchFamily="34" charset="-120"/>
              </a:rPr>
              <a:t>Mean overdue days across all vendor invoices</a:t>
            </a:r>
            <a:endParaRPr lang="en-US" sz="900" dirty="0"/>
          </a:p>
        </p:txBody>
      </p:sp>
      <p:sp>
        <p:nvSpPr>
          <p:cNvPr id="37" name="Text 33"/>
          <p:cNvSpPr/>
          <p:nvPr/>
        </p:nvSpPr>
        <p:spPr>
          <a:xfrm>
            <a:off x="6309360" y="1691640"/>
            <a:ext cx="5577840" cy="347472"/>
          </a:xfrm>
          <a:prstGeom prst="rect">
            <a:avLst/>
          </a:prstGeom>
          <a:noFill/>
          <a:ln/>
        </p:spPr>
        <p:txBody>
          <a:bodyPr wrap="square" rtlCol="0" anchor="ctr"/>
          <a:lstStyle/>
          <a:p>
            <a:pPr marL="0" indent="0">
              <a:buNone/>
            </a:pPr>
            <a:r>
              <a:rPr lang="en-US" sz="1350" b="1" dirty="0">
                <a:solidFill>
                  <a:srgbClr val="1F3A6E"/>
                </a:solidFill>
                <a:latin typeface="Calibri" pitchFamily="34" charset="0"/>
                <a:ea typeface="Calibri" pitchFamily="34" charset="-122"/>
                <a:cs typeface="Calibri" pitchFamily="34" charset="-120"/>
              </a:rPr>
              <a:t>Risk Category Output</a:t>
            </a:r>
            <a:endParaRPr lang="en-US" sz="1350" dirty="0"/>
          </a:p>
        </p:txBody>
      </p:sp>
      <p:sp>
        <p:nvSpPr>
          <p:cNvPr id="38" name="Shape 34"/>
          <p:cNvSpPr/>
          <p:nvPr/>
        </p:nvSpPr>
        <p:spPr>
          <a:xfrm>
            <a:off x="6309360" y="2084832"/>
            <a:ext cx="5577840" cy="914400"/>
          </a:xfrm>
          <a:prstGeom prst="roundRect">
            <a:avLst>
              <a:gd name="adj" fmla="val 10000"/>
            </a:avLst>
          </a:prstGeom>
          <a:solidFill>
            <a:srgbClr val="FFFFFF"/>
          </a:solidFill>
          <a:ln w="15240">
            <a:solidFill>
              <a:srgbClr val="BBDEFB"/>
            </a:solidFill>
            <a:prstDash val="solid"/>
          </a:ln>
        </p:spPr>
      </p:sp>
      <p:sp>
        <p:nvSpPr>
          <p:cNvPr id="39" name="Shape 35"/>
          <p:cNvSpPr/>
          <p:nvPr/>
        </p:nvSpPr>
        <p:spPr>
          <a:xfrm>
            <a:off x="6309360" y="2084832"/>
            <a:ext cx="1417320" cy="914400"/>
          </a:xfrm>
          <a:prstGeom prst="roundRect">
            <a:avLst>
              <a:gd name="adj" fmla="val 6000"/>
            </a:avLst>
          </a:prstGeom>
          <a:solidFill>
            <a:srgbClr val="43A047"/>
          </a:solidFill>
          <a:ln w="12700">
            <a:solidFill>
              <a:srgbClr val="43A047"/>
            </a:solidFill>
            <a:prstDash val="solid"/>
          </a:ln>
        </p:spPr>
      </p:sp>
      <p:sp>
        <p:nvSpPr>
          <p:cNvPr id="40" name="Text 36"/>
          <p:cNvSpPr/>
          <p:nvPr/>
        </p:nvSpPr>
        <p:spPr>
          <a:xfrm>
            <a:off x="6327648" y="2194560"/>
            <a:ext cx="137160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Low Risk</a:t>
            </a:r>
            <a:endParaRPr lang="en-US" sz="950" dirty="0"/>
          </a:p>
        </p:txBody>
      </p:sp>
      <p:sp>
        <p:nvSpPr>
          <p:cNvPr id="41" name="Text 37"/>
          <p:cNvSpPr/>
          <p:nvPr/>
        </p:nvSpPr>
        <p:spPr>
          <a:xfrm>
            <a:off x="6327648" y="2505456"/>
            <a:ext cx="137160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 – 25</a:t>
            </a:r>
            <a:endParaRPr lang="en-US" sz="1600" dirty="0"/>
          </a:p>
        </p:txBody>
      </p:sp>
      <p:sp>
        <p:nvSpPr>
          <p:cNvPr id="42" name="Text 38"/>
          <p:cNvSpPr/>
          <p:nvPr/>
        </p:nvSpPr>
        <p:spPr>
          <a:xfrm>
            <a:off x="7818120" y="2176272"/>
            <a:ext cx="1234440" cy="274320"/>
          </a:xfrm>
          <a:prstGeom prst="rect">
            <a:avLst/>
          </a:prstGeom>
          <a:noFill/>
          <a:ln/>
        </p:spPr>
        <p:txBody>
          <a:bodyPr wrap="square" rtlCol="0" anchor="ctr"/>
          <a:lstStyle/>
          <a:p>
            <a:pPr marL="0" indent="0">
              <a:buNone/>
            </a:pPr>
            <a:r>
              <a:rPr lang="en-US" sz="1000" b="1" dirty="0">
                <a:solidFill>
                  <a:srgbClr val="43A047"/>
                </a:solidFill>
                <a:latin typeface="Calibri" pitchFamily="34" charset="0"/>
                <a:ea typeface="Calibri" pitchFamily="34" charset="-122"/>
                <a:cs typeface="Calibri" pitchFamily="34" charset="-120"/>
              </a:rPr>
              <a:t>Cluster 0</a:t>
            </a:r>
            <a:endParaRPr lang="en-US" sz="1000" dirty="0"/>
          </a:p>
        </p:txBody>
      </p:sp>
      <p:sp>
        <p:nvSpPr>
          <p:cNvPr id="43" name="Text 39"/>
          <p:cNvSpPr/>
          <p:nvPr/>
        </p:nvSpPr>
        <p:spPr>
          <a:xfrm>
            <a:off x="7818120" y="2487168"/>
            <a:ext cx="3840480" cy="411480"/>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Routine monitoring; maintain payment schedule</a:t>
            </a:r>
            <a:endParaRPr lang="en-US" sz="1000" dirty="0"/>
          </a:p>
        </p:txBody>
      </p:sp>
      <p:sp>
        <p:nvSpPr>
          <p:cNvPr id="44" name="Shape 40"/>
          <p:cNvSpPr/>
          <p:nvPr/>
        </p:nvSpPr>
        <p:spPr>
          <a:xfrm>
            <a:off x="6309360" y="3072384"/>
            <a:ext cx="5577840" cy="914400"/>
          </a:xfrm>
          <a:prstGeom prst="roundRect">
            <a:avLst>
              <a:gd name="adj" fmla="val 10000"/>
            </a:avLst>
          </a:prstGeom>
          <a:solidFill>
            <a:srgbClr val="FFFFFF"/>
          </a:solidFill>
          <a:ln w="15240">
            <a:solidFill>
              <a:srgbClr val="BBDEFB"/>
            </a:solidFill>
            <a:prstDash val="solid"/>
          </a:ln>
        </p:spPr>
      </p:sp>
      <p:sp>
        <p:nvSpPr>
          <p:cNvPr id="45" name="Shape 41"/>
          <p:cNvSpPr/>
          <p:nvPr/>
        </p:nvSpPr>
        <p:spPr>
          <a:xfrm>
            <a:off x="6309360" y="3072384"/>
            <a:ext cx="1417320" cy="914400"/>
          </a:xfrm>
          <a:prstGeom prst="roundRect">
            <a:avLst>
              <a:gd name="adj" fmla="val 6000"/>
            </a:avLst>
          </a:prstGeom>
          <a:solidFill>
            <a:srgbClr val="FBC02D"/>
          </a:solidFill>
          <a:ln w="12700">
            <a:solidFill>
              <a:srgbClr val="FBC02D"/>
            </a:solidFill>
            <a:prstDash val="solid"/>
          </a:ln>
        </p:spPr>
      </p:sp>
      <p:sp>
        <p:nvSpPr>
          <p:cNvPr id="46" name="Text 42"/>
          <p:cNvSpPr/>
          <p:nvPr/>
        </p:nvSpPr>
        <p:spPr>
          <a:xfrm>
            <a:off x="6327648" y="3182112"/>
            <a:ext cx="137160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Medium Risk</a:t>
            </a:r>
            <a:endParaRPr lang="en-US" sz="950" dirty="0"/>
          </a:p>
        </p:txBody>
      </p:sp>
      <p:sp>
        <p:nvSpPr>
          <p:cNvPr id="47" name="Text 43"/>
          <p:cNvSpPr/>
          <p:nvPr/>
        </p:nvSpPr>
        <p:spPr>
          <a:xfrm>
            <a:off x="6327648" y="3493008"/>
            <a:ext cx="137160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26 – 50</a:t>
            </a:r>
            <a:endParaRPr lang="en-US" sz="1600" dirty="0"/>
          </a:p>
        </p:txBody>
      </p:sp>
      <p:sp>
        <p:nvSpPr>
          <p:cNvPr id="48" name="Text 44"/>
          <p:cNvSpPr/>
          <p:nvPr/>
        </p:nvSpPr>
        <p:spPr>
          <a:xfrm>
            <a:off x="7818120" y="3163824"/>
            <a:ext cx="1234440" cy="274320"/>
          </a:xfrm>
          <a:prstGeom prst="rect">
            <a:avLst/>
          </a:prstGeom>
          <a:noFill/>
          <a:ln/>
        </p:spPr>
        <p:txBody>
          <a:bodyPr wrap="square" rtlCol="0" anchor="ctr"/>
          <a:lstStyle/>
          <a:p>
            <a:pPr marL="0" indent="0">
              <a:buNone/>
            </a:pPr>
            <a:r>
              <a:rPr lang="en-US" sz="1000" b="1" dirty="0">
                <a:solidFill>
                  <a:srgbClr val="FBC02D"/>
                </a:solidFill>
                <a:latin typeface="Calibri" pitchFamily="34" charset="0"/>
                <a:ea typeface="Calibri" pitchFamily="34" charset="-122"/>
                <a:cs typeface="Calibri" pitchFamily="34" charset="-120"/>
              </a:rPr>
              <a:t>Cluster 1</a:t>
            </a:r>
            <a:endParaRPr lang="en-US" sz="1000" dirty="0"/>
          </a:p>
        </p:txBody>
      </p:sp>
      <p:sp>
        <p:nvSpPr>
          <p:cNvPr id="49" name="Text 45"/>
          <p:cNvSpPr/>
          <p:nvPr/>
        </p:nvSpPr>
        <p:spPr>
          <a:xfrm>
            <a:off x="7818120" y="3474720"/>
            <a:ext cx="3840480" cy="411480"/>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Schedule review; ensure invoices are queued</a:t>
            </a:r>
            <a:endParaRPr lang="en-US" sz="1000" dirty="0"/>
          </a:p>
        </p:txBody>
      </p:sp>
      <p:sp>
        <p:nvSpPr>
          <p:cNvPr id="50" name="Shape 46"/>
          <p:cNvSpPr/>
          <p:nvPr/>
        </p:nvSpPr>
        <p:spPr>
          <a:xfrm>
            <a:off x="6309360" y="4059936"/>
            <a:ext cx="5577840" cy="914400"/>
          </a:xfrm>
          <a:prstGeom prst="roundRect">
            <a:avLst>
              <a:gd name="adj" fmla="val 10000"/>
            </a:avLst>
          </a:prstGeom>
          <a:solidFill>
            <a:srgbClr val="FFFFFF"/>
          </a:solidFill>
          <a:ln w="15240">
            <a:solidFill>
              <a:srgbClr val="BBDEFB"/>
            </a:solidFill>
            <a:prstDash val="solid"/>
          </a:ln>
        </p:spPr>
      </p:sp>
      <p:sp>
        <p:nvSpPr>
          <p:cNvPr id="51" name="Shape 47"/>
          <p:cNvSpPr/>
          <p:nvPr/>
        </p:nvSpPr>
        <p:spPr>
          <a:xfrm>
            <a:off x="6309360" y="4059936"/>
            <a:ext cx="1417320" cy="914400"/>
          </a:xfrm>
          <a:prstGeom prst="roundRect">
            <a:avLst>
              <a:gd name="adj" fmla="val 6000"/>
            </a:avLst>
          </a:prstGeom>
          <a:solidFill>
            <a:srgbClr val="F57C00"/>
          </a:solidFill>
          <a:ln w="12700">
            <a:solidFill>
              <a:srgbClr val="F57C00"/>
            </a:solidFill>
            <a:prstDash val="solid"/>
          </a:ln>
        </p:spPr>
      </p:sp>
      <p:sp>
        <p:nvSpPr>
          <p:cNvPr id="52" name="Text 48"/>
          <p:cNvSpPr/>
          <p:nvPr/>
        </p:nvSpPr>
        <p:spPr>
          <a:xfrm>
            <a:off x="6327648" y="4169664"/>
            <a:ext cx="137160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High Risk</a:t>
            </a:r>
            <a:endParaRPr lang="en-US" sz="950" dirty="0"/>
          </a:p>
        </p:txBody>
      </p:sp>
      <p:sp>
        <p:nvSpPr>
          <p:cNvPr id="53" name="Text 49"/>
          <p:cNvSpPr/>
          <p:nvPr/>
        </p:nvSpPr>
        <p:spPr>
          <a:xfrm>
            <a:off x="6327648" y="4480560"/>
            <a:ext cx="137160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51 – 75</a:t>
            </a:r>
            <a:endParaRPr lang="en-US" sz="1600" dirty="0"/>
          </a:p>
        </p:txBody>
      </p:sp>
      <p:sp>
        <p:nvSpPr>
          <p:cNvPr id="54" name="Text 50"/>
          <p:cNvSpPr/>
          <p:nvPr/>
        </p:nvSpPr>
        <p:spPr>
          <a:xfrm>
            <a:off x="7818120" y="4151376"/>
            <a:ext cx="1234440" cy="274320"/>
          </a:xfrm>
          <a:prstGeom prst="rect">
            <a:avLst/>
          </a:prstGeom>
          <a:noFill/>
          <a:ln/>
        </p:spPr>
        <p:txBody>
          <a:bodyPr wrap="square" rtlCol="0" anchor="ctr"/>
          <a:lstStyle/>
          <a:p>
            <a:pPr marL="0" indent="0">
              <a:buNone/>
            </a:pPr>
            <a:r>
              <a:rPr lang="en-US" sz="1000" b="1" dirty="0">
                <a:solidFill>
                  <a:srgbClr val="F57C00"/>
                </a:solidFill>
                <a:latin typeface="Calibri" pitchFamily="34" charset="0"/>
                <a:ea typeface="Calibri" pitchFamily="34" charset="-122"/>
                <a:cs typeface="Calibri" pitchFamily="34" charset="-120"/>
              </a:rPr>
              <a:t>Cluster 2</a:t>
            </a:r>
            <a:endParaRPr lang="en-US" sz="1000" dirty="0"/>
          </a:p>
        </p:txBody>
      </p:sp>
      <p:sp>
        <p:nvSpPr>
          <p:cNvPr id="55" name="Text 51"/>
          <p:cNvSpPr/>
          <p:nvPr/>
        </p:nvSpPr>
        <p:spPr>
          <a:xfrm>
            <a:off x="7818120" y="4462272"/>
            <a:ext cx="3840480" cy="411480"/>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Immediate follow-up; escalate to AP manager</a:t>
            </a:r>
            <a:endParaRPr lang="en-US" sz="1000" dirty="0"/>
          </a:p>
        </p:txBody>
      </p:sp>
      <p:sp>
        <p:nvSpPr>
          <p:cNvPr id="56" name="Shape 52"/>
          <p:cNvSpPr/>
          <p:nvPr/>
        </p:nvSpPr>
        <p:spPr>
          <a:xfrm>
            <a:off x="6309360" y="5047488"/>
            <a:ext cx="5577840" cy="914400"/>
          </a:xfrm>
          <a:prstGeom prst="roundRect">
            <a:avLst>
              <a:gd name="adj" fmla="val 10000"/>
            </a:avLst>
          </a:prstGeom>
          <a:solidFill>
            <a:srgbClr val="FFFFFF"/>
          </a:solidFill>
          <a:ln w="15240">
            <a:solidFill>
              <a:srgbClr val="BBDEFB"/>
            </a:solidFill>
            <a:prstDash val="solid"/>
          </a:ln>
        </p:spPr>
      </p:sp>
      <p:sp>
        <p:nvSpPr>
          <p:cNvPr id="57" name="Shape 53"/>
          <p:cNvSpPr/>
          <p:nvPr/>
        </p:nvSpPr>
        <p:spPr>
          <a:xfrm>
            <a:off x="6309360" y="5047488"/>
            <a:ext cx="1417320" cy="914400"/>
          </a:xfrm>
          <a:prstGeom prst="roundRect">
            <a:avLst>
              <a:gd name="adj" fmla="val 6000"/>
            </a:avLst>
          </a:prstGeom>
          <a:solidFill>
            <a:srgbClr val="E53935"/>
          </a:solidFill>
          <a:ln w="12700">
            <a:solidFill>
              <a:srgbClr val="E53935"/>
            </a:solidFill>
            <a:prstDash val="solid"/>
          </a:ln>
        </p:spPr>
      </p:sp>
      <p:sp>
        <p:nvSpPr>
          <p:cNvPr id="58" name="Text 54"/>
          <p:cNvSpPr/>
          <p:nvPr/>
        </p:nvSpPr>
        <p:spPr>
          <a:xfrm>
            <a:off x="6327648" y="5157216"/>
            <a:ext cx="137160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Critical Risk</a:t>
            </a:r>
            <a:endParaRPr lang="en-US" sz="950" dirty="0"/>
          </a:p>
        </p:txBody>
      </p:sp>
      <p:sp>
        <p:nvSpPr>
          <p:cNvPr id="59" name="Text 55"/>
          <p:cNvSpPr/>
          <p:nvPr/>
        </p:nvSpPr>
        <p:spPr>
          <a:xfrm>
            <a:off x="6327648" y="5468112"/>
            <a:ext cx="1371600" cy="34747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76 – 100</a:t>
            </a:r>
            <a:endParaRPr lang="en-US" sz="1600" dirty="0"/>
          </a:p>
        </p:txBody>
      </p:sp>
      <p:sp>
        <p:nvSpPr>
          <p:cNvPr id="60" name="Text 56"/>
          <p:cNvSpPr/>
          <p:nvPr/>
        </p:nvSpPr>
        <p:spPr>
          <a:xfrm>
            <a:off x="7818120" y="5138928"/>
            <a:ext cx="1234440" cy="274320"/>
          </a:xfrm>
          <a:prstGeom prst="rect">
            <a:avLst/>
          </a:prstGeom>
          <a:noFill/>
          <a:ln/>
        </p:spPr>
        <p:txBody>
          <a:bodyPr wrap="square" rtlCol="0" anchor="ctr"/>
          <a:lstStyle/>
          <a:p>
            <a:pPr marL="0" indent="0">
              <a:buNone/>
            </a:pPr>
            <a:r>
              <a:rPr lang="en-US" sz="1000" b="1" dirty="0">
                <a:solidFill>
                  <a:srgbClr val="E53935"/>
                </a:solidFill>
                <a:latin typeface="Calibri" pitchFamily="34" charset="0"/>
                <a:ea typeface="Calibri" pitchFamily="34" charset="-122"/>
                <a:cs typeface="Calibri" pitchFamily="34" charset="-120"/>
              </a:rPr>
              <a:t>Cluster 3</a:t>
            </a:r>
            <a:endParaRPr lang="en-US" sz="1000" dirty="0"/>
          </a:p>
        </p:txBody>
      </p:sp>
      <p:sp>
        <p:nvSpPr>
          <p:cNvPr id="61" name="Text 57"/>
          <p:cNvSpPr/>
          <p:nvPr/>
        </p:nvSpPr>
        <p:spPr>
          <a:xfrm>
            <a:off x="7818120" y="5449824"/>
            <a:ext cx="3840480" cy="411480"/>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Urgent payment or negotiation; legal risk</a:t>
            </a:r>
            <a:endParaRPr lang="en-US" sz="1000" dirty="0"/>
          </a:p>
        </p:txBody>
      </p:sp>
      <p:sp>
        <p:nvSpPr>
          <p:cNvPr id="62" name="Shape 58"/>
          <p:cNvSpPr/>
          <p:nvPr/>
        </p:nvSpPr>
        <p:spPr>
          <a:xfrm>
            <a:off x="320040" y="6108192"/>
            <a:ext cx="8991911" cy="594360"/>
          </a:xfrm>
          <a:prstGeom prst="roundRect">
            <a:avLst>
              <a:gd name="adj" fmla="val 15385"/>
            </a:avLst>
          </a:prstGeom>
          <a:solidFill>
            <a:srgbClr val="EDF3FC"/>
          </a:solidFill>
          <a:ln w="15240">
            <a:solidFill>
              <a:srgbClr val="BBDEFB"/>
            </a:solidFill>
            <a:prstDash val="solid"/>
          </a:ln>
        </p:spPr>
      </p:sp>
      <p:sp>
        <p:nvSpPr>
          <p:cNvPr id="63" name="Text 59"/>
          <p:cNvSpPr/>
          <p:nvPr/>
        </p:nvSpPr>
        <p:spPr>
          <a:xfrm>
            <a:off x="457200" y="6153912"/>
            <a:ext cx="11155680" cy="502920"/>
          </a:xfrm>
          <a:prstGeom prst="rect">
            <a:avLst/>
          </a:prstGeom>
          <a:noFill/>
          <a:ln/>
        </p:spPr>
        <p:txBody>
          <a:bodyPr wrap="square" rtlCol="0" anchor="ctr"/>
          <a:lstStyle/>
          <a:p>
            <a:pPr marL="0" indent="0">
              <a:buNone/>
            </a:pPr>
            <a:r>
              <a:rPr lang="en-US" sz="1050" i="1" dirty="0">
                <a:solidFill>
                  <a:srgbClr val="1F3A6E"/>
                </a:solidFill>
                <a:latin typeface="Calibri" pitchFamily="34" charset="0"/>
                <a:ea typeface="Calibri" pitchFamily="34" charset="-122"/>
                <a:cs typeface="Calibri" pitchFamily="34" charset="-120"/>
              </a:rPr>
              <a:t>⚙  ML Pipeline: Load → Clean → Merge (LIFNR) → Feature Engineering → StandardScaler Normalization → K-Means (k=4) → Risk Scoring → JSON Result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142376" y="109728"/>
            <a:ext cx="1927704" cy="594360"/>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AI Chatbot &amp; Insight Generation</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Intelligent natural language interface on the /intelligence page</a:t>
            </a:r>
            <a:endParaRPr lang="en-US" sz="1300" dirty="0"/>
          </a:p>
        </p:txBody>
      </p:sp>
      <p:sp>
        <p:nvSpPr>
          <p:cNvPr id="8" name="Shape 4"/>
          <p:cNvSpPr/>
          <p:nvPr/>
        </p:nvSpPr>
        <p:spPr>
          <a:xfrm>
            <a:off x="320040" y="1691640"/>
            <a:ext cx="5440680" cy="4983480"/>
          </a:xfrm>
          <a:prstGeom prst="roundRect">
            <a:avLst>
              <a:gd name="adj" fmla="val 1835"/>
            </a:avLst>
          </a:prstGeom>
          <a:solidFill>
            <a:srgbClr val="F0F7FF"/>
          </a:solidFill>
          <a:ln w="15240">
            <a:solidFill>
              <a:srgbClr val="BBDEFB"/>
            </a:solidFill>
            <a:prstDash val="solid"/>
          </a:ln>
        </p:spPr>
      </p:sp>
      <p:sp>
        <p:nvSpPr>
          <p:cNvPr id="9" name="Text 5"/>
          <p:cNvSpPr/>
          <p:nvPr/>
        </p:nvSpPr>
        <p:spPr>
          <a:xfrm>
            <a:off x="502920" y="1810512"/>
            <a:ext cx="5029200" cy="365760"/>
          </a:xfrm>
          <a:prstGeom prst="rect">
            <a:avLst/>
          </a:prstGeom>
          <a:noFill/>
          <a:ln/>
        </p:spPr>
        <p:txBody>
          <a:bodyPr wrap="square" rtlCol="0" anchor="ctr"/>
          <a:lstStyle/>
          <a:p>
            <a:pPr marL="0" indent="0">
              <a:buNone/>
            </a:pPr>
            <a:r>
              <a:rPr lang="en-US" sz="1350" b="1" dirty="0">
                <a:solidFill>
                  <a:srgbClr val="1F3A6E"/>
                </a:solidFill>
                <a:latin typeface="Calibri" pitchFamily="34" charset="0"/>
                <a:ea typeface="Calibri" pitchFamily="34" charset="-122"/>
                <a:cs typeface="Calibri" pitchFamily="34" charset="-120"/>
              </a:rPr>
              <a:t>🤖  AI Architecture</a:t>
            </a:r>
            <a:endParaRPr lang="en-US" sz="1350" dirty="0"/>
          </a:p>
        </p:txBody>
      </p:sp>
      <p:sp>
        <p:nvSpPr>
          <p:cNvPr id="10" name="Shape 6"/>
          <p:cNvSpPr/>
          <p:nvPr/>
        </p:nvSpPr>
        <p:spPr>
          <a:xfrm>
            <a:off x="502920" y="2304288"/>
            <a:ext cx="5074920" cy="1234440"/>
          </a:xfrm>
          <a:prstGeom prst="roundRect">
            <a:avLst>
              <a:gd name="adj" fmla="val 7407"/>
            </a:avLst>
          </a:prstGeom>
          <a:solidFill>
            <a:srgbClr val="FFFFFF"/>
          </a:solidFill>
          <a:ln w="15240">
            <a:solidFill>
              <a:srgbClr val="1565C0"/>
            </a:solidFill>
            <a:prstDash val="solid"/>
          </a:ln>
        </p:spPr>
      </p:sp>
      <p:sp>
        <p:nvSpPr>
          <p:cNvPr id="11" name="Shape 7"/>
          <p:cNvSpPr/>
          <p:nvPr/>
        </p:nvSpPr>
        <p:spPr>
          <a:xfrm>
            <a:off x="502920" y="2304288"/>
            <a:ext cx="5074920" cy="54864"/>
          </a:xfrm>
          <a:prstGeom prst="rect">
            <a:avLst/>
          </a:prstGeom>
          <a:solidFill>
            <a:srgbClr val="1565C0"/>
          </a:solidFill>
          <a:ln w="12700">
            <a:solidFill>
              <a:srgbClr val="1565C0"/>
            </a:solidFill>
            <a:prstDash val="solid"/>
          </a:ln>
        </p:spPr>
      </p:sp>
      <p:sp>
        <p:nvSpPr>
          <p:cNvPr id="12" name="Text 8"/>
          <p:cNvSpPr/>
          <p:nvPr/>
        </p:nvSpPr>
        <p:spPr>
          <a:xfrm>
            <a:off x="685800" y="2414016"/>
            <a:ext cx="2286000" cy="256032"/>
          </a:xfrm>
          <a:prstGeom prst="rect">
            <a:avLst/>
          </a:prstGeom>
          <a:noFill/>
          <a:ln/>
        </p:spPr>
        <p:txBody>
          <a:bodyPr wrap="square" rtlCol="0" anchor="ctr"/>
          <a:lstStyle/>
          <a:p>
            <a:pPr marL="0" indent="0">
              <a:buNone/>
            </a:pPr>
            <a:r>
              <a:rPr lang="en-US" sz="850" b="1" dirty="0">
                <a:solidFill>
                  <a:srgbClr val="1565C0"/>
                </a:solidFill>
                <a:latin typeface="Calibri" pitchFamily="34" charset="0"/>
                <a:ea typeface="Calibri" pitchFamily="34" charset="-122"/>
                <a:cs typeface="Calibri" pitchFamily="34" charset="-120"/>
              </a:rPr>
              <a:t>PRIMARY MODEL</a:t>
            </a:r>
            <a:endParaRPr lang="en-US" sz="850" dirty="0"/>
          </a:p>
        </p:txBody>
      </p:sp>
      <p:sp>
        <p:nvSpPr>
          <p:cNvPr id="13" name="Text 9"/>
          <p:cNvSpPr/>
          <p:nvPr/>
        </p:nvSpPr>
        <p:spPr>
          <a:xfrm>
            <a:off x="685800" y="2670048"/>
            <a:ext cx="4663440" cy="329184"/>
          </a:xfrm>
          <a:prstGeom prst="rect">
            <a:avLst/>
          </a:prstGeom>
          <a:noFill/>
          <a:ln/>
        </p:spPr>
        <p:txBody>
          <a:bodyPr wrap="square" rtlCol="0" anchor="ctr"/>
          <a:lstStyle/>
          <a:p>
            <a:pPr marL="0" indent="0">
              <a:buNone/>
            </a:pPr>
            <a:r>
              <a:rPr lang="en-US" sz="1300" b="1" dirty="0" err="1">
                <a:solidFill>
                  <a:srgbClr val="1F3A6E"/>
                </a:solidFill>
                <a:latin typeface="Calibri" pitchFamily="34" charset="0"/>
                <a:ea typeface="Calibri" pitchFamily="34" charset="-122"/>
                <a:cs typeface="Calibri" pitchFamily="34" charset="-120"/>
              </a:rPr>
              <a:t>Arcee</a:t>
            </a:r>
            <a:r>
              <a:rPr lang="en-US" sz="1300" b="1" dirty="0">
                <a:solidFill>
                  <a:srgbClr val="1F3A6E"/>
                </a:solidFill>
                <a:latin typeface="Calibri" pitchFamily="34" charset="0"/>
                <a:ea typeface="Calibri" pitchFamily="34" charset="-122"/>
                <a:cs typeface="Calibri" pitchFamily="34" charset="-120"/>
              </a:rPr>
              <a:t> Trinity-Large Preview  (128K context)</a:t>
            </a:r>
            <a:endParaRPr lang="en-US" sz="1300" dirty="0"/>
          </a:p>
        </p:txBody>
      </p:sp>
      <p:sp>
        <p:nvSpPr>
          <p:cNvPr id="14" name="Text 10"/>
          <p:cNvSpPr/>
          <p:nvPr/>
        </p:nvSpPr>
        <p:spPr>
          <a:xfrm>
            <a:off x="685800" y="3054096"/>
            <a:ext cx="4663440" cy="365760"/>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Standard vendor risk queries, insight generation, chatbot responses</a:t>
            </a:r>
            <a:endParaRPr lang="en-US" sz="1000" dirty="0"/>
          </a:p>
        </p:txBody>
      </p:sp>
      <p:sp>
        <p:nvSpPr>
          <p:cNvPr id="15" name="Shape 11"/>
          <p:cNvSpPr/>
          <p:nvPr/>
        </p:nvSpPr>
        <p:spPr>
          <a:xfrm>
            <a:off x="502920" y="3721608"/>
            <a:ext cx="5074920" cy="1234440"/>
          </a:xfrm>
          <a:prstGeom prst="roundRect">
            <a:avLst>
              <a:gd name="adj" fmla="val 7407"/>
            </a:avLst>
          </a:prstGeom>
          <a:solidFill>
            <a:srgbClr val="FFFFFF"/>
          </a:solidFill>
          <a:ln w="15240">
            <a:solidFill>
              <a:srgbClr val="00ACC1"/>
            </a:solidFill>
            <a:prstDash val="solid"/>
          </a:ln>
        </p:spPr>
      </p:sp>
      <p:sp>
        <p:nvSpPr>
          <p:cNvPr id="16" name="Shape 12"/>
          <p:cNvSpPr/>
          <p:nvPr/>
        </p:nvSpPr>
        <p:spPr>
          <a:xfrm>
            <a:off x="502920" y="3721608"/>
            <a:ext cx="5074920" cy="54864"/>
          </a:xfrm>
          <a:prstGeom prst="rect">
            <a:avLst/>
          </a:prstGeom>
          <a:solidFill>
            <a:srgbClr val="00ACC1"/>
          </a:solidFill>
          <a:ln w="12700">
            <a:solidFill>
              <a:srgbClr val="00ACC1"/>
            </a:solidFill>
            <a:prstDash val="solid"/>
          </a:ln>
        </p:spPr>
      </p:sp>
      <p:sp>
        <p:nvSpPr>
          <p:cNvPr id="17" name="Text 13"/>
          <p:cNvSpPr/>
          <p:nvPr/>
        </p:nvSpPr>
        <p:spPr>
          <a:xfrm>
            <a:off x="685800" y="3831336"/>
            <a:ext cx="2286000" cy="256032"/>
          </a:xfrm>
          <a:prstGeom prst="rect">
            <a:avLst/>
          </a:prstGeom>
          <a:noFill/>
          <a:ln/>
        </p:spPr>
        <p:txBody>
          <a:bodyPr wrap="square" rtlCol="0" anchor="ctr"/>
          <a:lstStyle/>
          <a:p>
            <a:pPr marL="0" indent="0">
              <a:buNone/>
            </a:pPr>
            <a:r>
              <a:rPr lang="en-US" sz="850" b="1" dirty="0">
                <a:solidFill>
                  <a:srgbClr val="00ACC1"/>
                </a:solidFill>
                <a:latin typeface="Calibri" pitchFamily="34" charset="0"/>
                <a:ea typeface="Calibri" pitchFamily="34" charset="-122"/>
                <a:cs typeface="Calibri" pitchFamily="34" charset="-120"/>
              </a:rPr>
              <a:t>FALLBACK MODEL</a:t>
            </a:r>
            <a:endParaRPr lang="en-US" sz="850" dirty="0"/>
          </a:p>
        </p:txBody>
      </p:sp>
      <p:sp>
        <p:nvSpPr>
          <p:cNvPr id="18" name="Text 14"/>
          <p:cNvSpPr/>
          <p:nvPr/>
        </p:nvSpPr>
        <p:spPr>
          <a:xfrm>
            <a:off x="685800" y="4087368"/>
            <a:ext cx="4663440" cy="329184"/>
          </a:xfrm>
          <a:prstGeom prst="rect">
            <a:avLst/>
          </a:prstGeom>
          <a:noFill/>
          <a:ln/>
        </p:spPr>
        <p:txBody>
          <a:bodyPr wrap="square" rtlCol="0" anchor="ctr"/>
          <a:lstStyle/>
          <a:p>
            <a:pPr marL="0" indent="0">
              <a:buNone/>
            </a:pPr>
            <a:r>
              <a:rPr lang="en-US" sz="1300" b="1" dirty="0">
                <a:solidFill>
                  <a:srgbClr val="1F3A6E"/>
                </a:solidFill>
                <a:latin typeface="Calibri" pitchFamily="34" charset="0"/>
                <a:ea typeface="Calibri" pitchFamily="34" charset="-122"/>
                <a:cs typeface="Calibri" pitchFamily="34" charset="-120"/>
              </a:rPr>
              <a:t>Qwen3-Plus  (1M context)</a:t>
            </a:r>
            <a:endParaRPr lang="en-US" sz="1300" dirty="0"/>
          </a:p>
        </p:txBody>
      </p:sp>
      <p:sp>
        <p:nvSpPr>
          <p:cNvPr id="19" name="Text 15"/>
          <p:cNvSpPr/>
          <p:nvPr/>
        </p:nvSpPr>
        <p:spPr>
          <a:xfrm>
            <a:off x="685800" y="4471416"/>
            <a:ext cx="4663440" cy="365760"/>
          </a:xfrm>
          <a:prstGeom prst="rect">
            <a:avLst/>
          </a:prstGeom>
          <a:noFill/>
          <a:ln/>
        </p:spPr>
        <p:txBody>
          <a:bodyPr wrap="square" rtlCol="0" anchor="ctr"/>
          <a:lstStyle/>
          <a:p>
            <a:pPr marL="0" indent="0">
              <a:buNone/>
            </a:pPr>
            <a:r>
              <a:rPr lang="en-US" sz="1000" dirty="0">
                <a:solidFill>
                  <a:srgbClr val="37474F"/>
                </a:solidFill>
                <a:latin typeface="Calibri" pitchFamily="34" charset="0"/>
                <a:ea typeface="Calibri" pitchFamily="34" charset="-122"/>
                <a:cs typeface="Calibri" pitchFamily="34" charset="-120"/>
              </a:rPr>
              <a:t>Auto-activated if primary fails. Chain-of-thought reasoning built-in</a:t>
            </a:r>
            <a:endParaRPr lang="en-US" sz="1000" dirty="0"/>
          </a:p>
        </p:txBody>
      </p:sp>
      <p:sp>
        <p:nvSpPr>
          <p:cNvPr id="20" name="Text 16"/>
          <p:cNvSpPr/>
          <p:nvPr/>
        </p:nvSpPr>
        <p:spPr>
          <a:xfrm>
            <a:off x="502920" y="5193792"/>
            <a:ext cx="5029200" cy="320040"/>
          </a:xfrm>
          <a:prstGeom prst="rect">
            <a:avLst/>
          </a:prstGeom>
          <a:noFill/>
          <a:ln/>
        </p:spPr>
        <p:txBody>
          <a:bodyPr wrap="square" rtlCol="0" anchor="ctr"/>
          <a:lstStyle/>
          <a:p>
            <a:pPr marL="0" indent="0">
              <a:buNone/>
            </a:pPr>
            <a:r>
              <a:rPr lang="en-US" sz="1100" b="1" dirty="0">
                <a:solidFill>
                  <a:srgbClr val="1F3A6E"/>
                </a:solidFill>
                <a:latin typeface="Calibri" pitchFamily="34" charset="0"/>
                <a:ea typeface="Calibri" pitchFamily="34" charset="-122"/>
                <a:cs typeface="Calibri" pitchFamily="34" charset="-120"/>
              </a:rPr>
              <a:t>📊  Dataset Snapshot sent to AI (compressed context):</a:t>
            </a:r>
            <a:endParaRPr lang="en-US" sz="1100" dirty="0"/>
          </a:p>
        </p:txBody>
      </p:sp>
      <p:sp>
        <p:nvSpPr>
          <p:cNvPr id="21" name="Shape 17"/>
          <p:cNvSpPr/>
          <p:nvPr/>
        </p:nvSpPr>
        <p:spPr>
          <a:xfrm>
            <a:off x="502920" y="5669280"/>
            <a:ext cx="164592" cy="164592"/>
          </a:xfrm>
          <a:prstGeom prst="ellipse">
            <a:avLst/>
          </a:prstGeom>
          <a:solidFill>
            <a:srgbClr val="289BE8"/>
          </a:solidFill>
          <a:ln w="12700">
            <a:solidFill>
              <a:srgbClr val="289BE8"/>
            </a:solidFill>
            <a:prstDash val="solid"/>
          </a:ln>
        </p:spPr>
      </p:sp>
      <p:sp>
        <p:nvSpPr>
          <p:cNvPr id="22" name="Text 18"/>
          <p:cNvSpPr/>
          <p:nvPr/>
        </p:nvSpPr>
        <p:spPr>
          <a:xfrm>
            <a:off x="749808" y="5605272"/>
            <a:ext cx="2331720" cy="29260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Total vendors &amp; overdue amount</a:t>
            </a:r>
            <a:endParaRPr lang="en-US" sz="950" dirty="0"/>
          </a:p>
        </p:txBody>
      </p:sp>
      <p:sp>
        <p:nvSpPr>
          <p:cNvPr id="23" name="Shape 19"/>
          <p:cNvSpPr/>
          <p:nvPr/>
        </p:nvSpPr>
        <p:spPr>
          <a:xfrm>
            <a:off x="3108960" y="5669280"/>
            <a:ext cx="164592" cy="164592"/>
          </a:xfrm>
          <a:prstGeom prst="ellipse">
            <a:avLst/>
          </a:prstGeom>
          <a:solidFill>
            <a:srgbClr val="289BE8"/>
          </a:solidFill>
          <a:ln w="12700">
            <a:solidFill>
              <a:srgbClr val="289BE8"/>
            </a:solidFill>
            <a:prstDash val="solid"/>
          </a:ln>
        </p:spPr>
      </p:sp>
      <p:sp>
        <p:nvSpPr>
          <p:cNvPr id="24" name="Text 20"/>
          <p:cNvSpPr/>
          <p:nvPr/>
        </p:nvSpPr>
        <p:spPr>
          <a:xfrm>
            <a:off x="3355848" y="5605272"/>
            <a:ext cx="2331720" cy="29260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High-risk &amp; critical-risk vendor counts</a:t>
            </a:r>
            <a:endParaRPr lang="en-US" sz="950" dirty="0"/>
          </a:p>
        </p:txBody>
      </p:sp>
      <p:sp>
        <p:nvSpPr>
          <p:cNvPr id="25" name="Shape 21"/>
          <p:cNvSpPr/>
          <p:nvPr/>
        </p:nvSpPr>
        <p:spPr>
          <a:xfrm>
            <a:off x="502920" y="6016752"/>
            <a:ext cx="164592" cy="164592"/>
          </a:xfrm>
          <a:prstGeom prst="ellipse">
            <a:avLst/>
          </a:prstGeom>
          <a:solidFill>
            <a:srgbClr val="289BE8"/>
          </a:solidFill>
          <a:ln w="12700">
            <a:solidFill>
              <a:srgbClr val="289BE8"/>
            </a:solidFill>
            <a:prstDash val="solid"/>
          </a:ln>
        </p:spPr>
      </p:sp>
      <p:sp>
        <p:nvSpPr>
          <p:cNvPr id="26" name="Text 22"/>
          <p:cNvSpPr/>
          <p:nvPr/>
        </p:nvSpPr>
        <p:spPr>
          <a:xfrm>
            <a:off x="749808" y="5952744"/>
            <a:ext cx="2331720" cy="29260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Aging bucket totals (all 5 buckets)</a:t>
            </a:r>
            <a:endParaRPr lang="en-US" sz="950" dirty="0"/>
          </a:p>
        </p:txBody>
      </p:sp>
      <p:sp>
        <p:nvSpPr>
          <p:cNvPr id="27" name="Shape 23"/>
          <p:cNvSpPr/>
          <p:nvPr/>
        </p:nvSpPr>
        <p:spPr>
          <a:xfrm>
            <a:off x="3108960" y="6016752"/>
            <a:ext cx="164592" cy="164592"/>
          </a:xfrm>
          <a:prstGeom prst="ellipse">
            <a:avLst/>
          </a:prstGeom>
          <a:solidFill>
            <a:srgbClr val="289BE8"/>
          </a:solidFill>
          <a:ln w="12700">
            <a:solidFill>
              <a:srgbClr val="289BE8"/>
            </a:solidFill>
            <a:prstDash val="solid"/>
          </a:ln>
        </p:spPr>
      </p:sp>
      <p:sp>
        <p:nvSpPr>
          <p:cNvPr id="28" name="Text 24"/>
          <p:cNvSpPr/>
          <p:nvPr/>
        </p:nvSpPr>
        <p:spPr>
          <a:xfrm>
            <a:off x="3355848" y="5952744"/>
            <a:ext cx="2331720" cy="29260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Risk distribution across 4 categories</a:t>
            </a:r>
            <a:endParaRPr lang="en-US" sz="950" dirty="0"/>
          </a:p>
        </p:txBody>
      </p:sp>
      <p:sp>
        <p:nvSpPr>
          <p:cNvPr id="29" name="Shape 25"/>
          <p:cNvSpPr/>
          <p:nvPr/>
        </p:nvSpPr>
        <p:spPr>
          <a:xfrm>
            <a:off x="502920" y="6364224"/>
            <a:ext cx="164592" cy="164592"/>
          </a:xfrm>
          <a:prstGeom prst="ellipse">
            <a:avLst/>
          </a:prstGeom>
          <a:solidFill>
            <a:srgbClr val="289BE8"/>
          </a:solidFill>
          <a:ln w="12700">
            <a:solidFill>
              <a:srgbClr val="289BE8"/>
            </a:solidFill>
            <a:prstDash val="solid"/>
          </a:ln>
        </p:spPr>
      </p:sp>
      <p:sp>
        <p:nvSpPr>
          <p:cNvPr id="30" name="Text 26"/>
          <p:cNvSpPr/>
          <p:nvPr/>
        </p:nvSpPr>
        <p:spPr>
          <a:xfrm>
            <a:off x="749808" y="6300216"/>
            <a:ext cx="2331720" cy="29260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Top overdue vendors with amounts</a:t>
            </a:r>
            <a:endParaRPr lang="en-US" sz="950" dirty="0"/>
          </a:p>
        </p:txBody>
      </p:sp>
      <p:sp>
        <p:nvSpPr>
          <p:cNvPr id="31" name="Shape 27"/>
          <p:cNvSpPr/>
          <p:nvPr/>
        </p:nvSpPr>
        <p:spPr>
          <a:xfrm>
            <a:off x="3108960" y="6364224"/>
            <a:ext cx="164592" cy="164592"/>
          </a:xfrm>
          <a:prstGeom prst="ellipse">
            <a:avLst/>
          </a:prstGeom>
          <a:solidFill>
            <a:srgbClr val="289BE8"/>
          </a:solidFill>
          <a:ln w="12700">
            <a:solidFill>
              <a:srgbClr val="289BE8"/>
            </a:solidFill>
            <a:prstDash val="solid"/>
          </a:ln>
        </p:spPr>
      </p:sp>
      <p:sp>
        <p:nvSpPr>
          <p:cNvPr id="32" name="Text 28"/>
          <p:cNvSpPr/>
          <p:nvPr/>
        </p:nvSpPr>
        <p:spPr>
          <a:xfrm>
            <a:off x="3355848" y="6300216"/>
            <a:ext cx="2331720" cy="292608"/>
          </a:xfrm>
          <a:prstGeom prst="rect">
            <a:avLst/>
          </a:prstGeom>
          <a:noFill/>
          <a:ln/>
        </p:spPr>
        <p:txBody>
          <a:bodyPr wrap="square" rtlCol="0" anchor="ctr"/>
          <a:lstStyle/>
          <a:p>
            <a:pPr marL="0" indent="0">
              <a:buNone/>
            </a:pPr>
            <a:r>
              <a:rPr lang="en-US" sz="950" dirty="0">
                <a:solidFill>
                  <a:srgbClr val="37474F"/>
                </a:solidFill>
                <a:latin typeface="Calibri" pitchFamily="34" charset="0"/>
                <a:ea typeface="Calibri" pitchFamily="34" charset="-122"/>
                <a:cs typeface="Calibri" pitchFamily="34" charset="-120"/>
              </a:rPr>
              <a:t>Country distribution &amp; payment terms stats</a:t>
            </a:r>
            <a:endParaRPr lang="en-US" sz="950" dirty="0"/>
          </a:p>
        </p:txBody>
      </p:sp>
      <p:sp>
        <p:nvSpPr>
          <p:cNvPr id="33" name="Shape 29"/>
          <p:cNvSpPr/>
          <p:nvPr/>
        </p:nvSpPr>
        <p:spPr>
          <a:xfrm>
            <a:off x="6080760" y="1691640"/>
            <a:ext cx="3716383" cy="2606040"/>
          </a:xfrm>
          <a:prstGeom prst="roundRect">
            <a:avLst>
              <a:gd name="adj" fmla="val 3509"/>
            </a:avLst>
          </a:prstGeom>
          <a:solidFill>
            <a:srgbClr val="FFFFFF"/>
          </a:solidFill>
          <a:ln w="15240">
            <a:solidFill>
              <a:srgbClr val="BBDEFB"/>
            </a:solidFill>
            <a:prstDash val="solid"/>
          </a:ln>
        </p:spPr>
      </p:sp>
      <p:sp>
        <p:nvSpPr>
          <p:cNvPr id="34" name="Text 30"/>
          <p:cNvSpPr/>
          <p:nvPr/>
        </p:nvSpPr>
        <p:spPr>
          <a:xfrm>
            <a:off x="6263640" y="1828800"/>
            <a:ext cx="5303520" cy="347472"/>
          </a:xfrm>
          <a:prstGeom prst="rect">
            <a:avLst/>
          </a:prstGeom>
          <a:noFill/>
          <a:ln/>
        </p:spPr>
        <p:txBody>
          <a:bodyPr wrap="square"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  Chatbot Capabilities</a:t>
            </a:r>
            <a:endParaRPr lang="en-US" sz="1250" dirty="0"/>
          </a:p>
        </p:txBody>
      </p:sp>
      <p:sp>
        <p:nvSpPr>
          <p:cNvPr id="35" name="Shape 31"/>
          <p:cNvSpPr/>
          <p:nvPr/>
        </p:nvSpPr>
        <p:spPr>
          <a:xfrm>
            <a:off x="6263640" y="2304288"/>
            <a:ext cx="164592" cy="164592"/>
          </a:xfrm>
          <a:prstGeom prst="ellipse">
            <a:avLst/>
          </a:prstGeom>
          <a:solidFill>
            <a:srgbClr val="43A047"/>
          </a:solidFill>
          <a:ln w="12700">
            <a:solidFill>
              <a:srgbClr val="43A047"/>
            </a:solidFill>
            <a:prstDash val="solid"/>
          </a:ln>
        </p:spPr>
      </p:sp>
      <p:sp>
        <p:nvSpPr>
          <p:cNvPr id="36" name="Text 32"/>
          <p:cNvSpPr/>
          <p:nvPr/>
        </p:nvSpPr>
        <p:spPr>
          <a:xfrm>
            <a:off x="6537960" y="2231136"/>
            <a:ext cx="5120640" cy="292608"/>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Vendor risk scores &amp; categories</a:t>
            </a:r>
            <a:endParaRPr lang="en-US" sz="1050" dirty="0"/>
          </a:p>
        </p:txBody>
      </p:sp>
      <p:sp>
        <p:nvSpPr>
          <p:cNvPr id="37" name="Shape 33"/>
          <p:cNvSpPr/>
          <p:nvPr/>
        </p:nvSpPr>
        <p:spPr>
          <a:xfrm>
            <a:off x="6263640" y="2651760"/>
            <a:ext cx="164592" cy="164592"/>
          </a:xfrm>
          <a:prstGeom prst="ellipse">
            <a:avLst/>
          </a:prstGeom>
          <a:solidFill>
            <a:srgbClr val="43A047"/>
          </a:solidFill>
          <a:ln w="12700">
            <a:solidFill>
              <a:srgbClr val="43A047"/>
            </a:solidFill>
            <a:prstDash val="solid"/>
          </a:ln>
        </p:spPr>
      </p:sp>
      <p:sp>
        <p:nvSpPr>
          <p:cNvPr id="38" name="Text 34"/>
          <p:cNvSpPr/>
          <p:nvPr/>
        </p:nvSpPr>
        <p:spPr>
          <a:xfrm>
            <a:off x="6537960" y="2578608"/>
            <a:ext cx="5120640" cy="292608"/>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Overdue invoice details &amp; amounts</a:t>
            </a:r>
            <a:endParaRPr lang="en-US" sz="1050" dirty="0"/>
          </a:p>
        </p:txBody>
      </p:sp>
      <p:sp>
        <p:nvSpPr>
          <p:cNvPr id="39" name="Shape 35"/>
          <p:cNvSpPr/>
          <p:nvPr/>
        </p:nvSpPr>
        <p:spPr>
          <a:xfrm>
            <a:off x="6263640" y="2999232"/>
            <a:ext cx="164592" cy="164592"/>
          </a:xfrm>
          <a:prstGeom prst="ellipse">
            <a:avLst/>
          </a:prstGeom>
          <a:solidFill>
            <a:srgbClr val="43A047"/>
          </a:solidFill>
          <a:ln w="12700">
            <a:solidFill>
              <a:srgbClr val="43A047"/>
            </a:solidFill>
            <a:prstDash val="solid"/>
          </a:ln>
        </p:spPr>
      </p:sp>
      <p:sp>
        <p:nvSpPr>
          <p:cNvPr id="40" name="Text 36"/>
          <p:cNvSpPr/>
          <p:nvPr/>
        </p:nvSpPr>
        <p:spPr>
          <a:xfrm>
            <a:off x="6537960" y="2926080"/>
            <a:ext cx="5120640" cy="292608"/>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Aging bucket statistics</a:t>
            </a:r>
            <a:endParaRPr lang="en-US" sz="1050" dirty="0"/>
          </a:p>
        </p:txBody>
      </p:sp>
      <p:sp>
        <p:nvSpPr>
          <p:cNvPr id="41" name="Shape 37"/>
          <p:cNvSpPr/>
          <p:nvPr/>
        </p:nvSpPr>
        <p:spPr>
          <a:xfrm>
            <a:off x="6263640" y="3346704"/>
            <a:ext cx="164592" cy="164592"/>
          </a:xfrm>
          <a:prstGeom prst="ellipse">
            <a:avLst/>
          </a:prstGeom>
          <a:solidFill>
            <a:srgbClr val="43A047"/>
          </a:solidFill>
          <a:ln w="12700">
            <a:solidFill>
              <a:srgbClr val="43A047"/>
            </a:solidFill>
            <a:prstDash val="solid"/>
          </a:ln>
        </p:spPr>
      </p:sp>
      <p:sp>
        <p:nvSpPr>
          <p:cNvPr id="42" name="Text 38"/>
          <p:cNvSpPr/>
          <p:nvPr/>
        </p:nvSpPr>
        <p:spPr>
          <a:xfrm>
            <a:off x="6537960" y="3273552"/>
            <a:ext cx="5120640" cy="292608"/>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Vendor payment trends</a:t>
            </a:r>
            <a:endParaRPr lang="en-US" sz="1050" dirty="0"/>
          </a:p>
        </p:txBody>
      </p:sp>
      <p:sp>
        <p:nvSpPr>
          <p:cNvPr id="43" name="Shape 39"/>
          <p:cNvSpPr/>
          <p:nvPr/>
        </p:nvSpPr>
        <p:spPr>
          <a:xfrm>
            <a:off x="6263640" y="3694176"/>
            <a:ext cx="164592" cy="164592"/>
          </a:xfrm>
          <a:prstGeom prst="ellipse">
            <a:avLst/>
          </a:prstGeom>
          <a:solidFill>
            <a:srgbClr val="43A047"/>
          </a:solidFill>
          <a:ln w="12700">
            <a:solidFill>
              <a:srgbClr val="43A047"/>
            </a:solidFill>
            <a:prstDash val="solid"/>
          </a:ln>
        </p:spPr>
      </p:sp>
      <p:sp>
        <p:nvSpPr>
          <p:cNvPr id="44" name="Text 40"/>
          <p:cNvSpPr/>
          <p:nvPr/>
        </p:nvSpPr>
        <p:spPr>
          <a:xfrm>
            <a:off x="6537960" y="3621024"/>
            <a:ext cx="5120640" cy="292608"/>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Top overdue vendor list</a:t>
            </a:r>
            <a:endParaRPr lang="en-US" sz="1050" dirty="0"/>
          </a:p>
        </p:txBody>
      </p:sp>
      <p:sp>
        <p:nvSpPr>
          <p:cNvPr id="45" name="Shape 41"/>
          <p:cNvSpPr/>
          <p:nvPr/>
        </p:nvSpPr>
        <p:spPr>
          <a:xfrm>
            <a:off x="6263640" y="4041648"/>
            <a:ext cx="164592" cy="164592"/>
          </a:xfrm>
          <a:prstGeom prst="ellipse">
            <a:avLst/>
          </a:prstGeom>
          <a:solidFill>
            <a:srgbClr val="43A047"/>
          </a:solidFill>
          <a:ln w="12700">
            <a:solidFill>
              <a:srgbClr val="43A047"/>
            </a:solidFill>
            <a:prstDash val="solid"/>
          </a:ln>
        </p:spPr>
      </p:sp>
      <p:sp>
        <p:nvSpPr>
          <p:cNvPr id="46" name="Text 42"/>
          <p:cNvSpPr/>
          <p:nvPr/>
        </p:nvSpPr>
        <p:spPr>
          <a:xfrm>
            <a:off x="6537960" y="3968496"/>
            <a:ext cx="5120640" cy="292608"/>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Risk distribution summary</a:t>
            </a:r>
            <a:endParaRPr lang="en-US" sz="1050" dirty="0"/>
          </a:p>
        </p:txBody>
      </p:sp>
      <p:sp>
        <p:nvSpPr>
          <p:cNvPr id="47" name="Shape 43"/>
          <p:cNvSpPr/>
          <p:nvPr/>
        </p:nvSpPr>
        <p:spPr>
          <a:xfrm>
            <a:off x="6080760" y="4407408"/>
            <a:ext cx="3794760" cy="2267712"/>
          </a:xfrm>
          <a:prstGeom prst="roundRect">
            <a:avLst>
              <a:gd name="adj" fmla="val 4032"/>
            </a:avLst>
          </a:prstGeom>
          <a:solidFill>
            <a:srgbClr val="FFF8E1"/>
          </a:solidFill>
          <a:ln w="15240">
            <a:solidFill>
              <a:srgbClr val="FBC02D"/>
            </a:solidFill>
            <a:prstDash val="solid"/>
          </a:ln>
        </p:spPr>
      </p:sp>
      <p:sp>
        <p:nvSpPr>
          <p:cNvPr id="48" name="Text 44"/>
          <p:cNvSpPr/>
          <p:nvPr/>
        </p:nvSpPr>
        <p:spPr>
          <a:xfrm>
            <a:off x="6263640" y="4544568"/>
            <a:ext cx="5303520" cy="347472"/>
          </a:xfrm>
          <a:prstGeom prst="rect">
            <a:avLst/>
          </a:prstGeom>
          <a:noFill/>
          <a:ln/>
        </p:spPr>
        <p:txBody>
          <a:bodyPr wrap="square" rtlCol="0" anchor="ctr"/>
          <a:lstStyle/>
          <a:p>
            <a:pPr marL="0" indent="0">
              <a:buNone/>
            </a:pPr>
            <a:r>
              <a:rPr lang="en-US" sz="1250" b="1" dirty="0">
                <a:solidFill>
                  <a:srgbClr val="E65100"/>
                </a:solidFill>
                <a:latin typeface="Calibri" pitchFamily="34" charset="0"/>
                <a:ea typeface="Calibri" pitchFamily="34" charset="-122"/>
                <a:cs typeface="Calibri" pitchFamily="34" charset="-120"/>
              </a:rPr>
              <a:t>⚠  Scope &amp; Limitations</a:t>
            </a:r>
            <a:endParaRPr lang="en-US" sz="1250" dirty="0"/>
          </a:p>
        </p:txBody>
      </p:sp>
      <p:sp>
        <p:nvSpPr>
          <p:cNvPr id="49" name="Shape 45"/>
          <p:cNvSpPr/>
          <p:nvPr/>
        </p:nvSpPr>
        <p:spPr>
          <a:xfrm>
            <a:off x="6263640" y="5029200"/>
            <a:ext cx="164592" cy="164592"/>
          </a:xfrm>
          <a:prstGeom prst="ellipse">
            <a:avLst/>
          </a:prstGeom>
          <a:solidFill>
            <a:srgbClr val="F57C00"/>
          </a:solidFill>
          <a:ln w="12700">
            <a:solidFill>
              <a:srgbClr val="F57C00"/>
            </a:solidFill>
            <a:prstDash val="solid"/>
          </a:ln>
        </p:spPr>
      </p:sp>
      <p:sp>
        <p:nvSpPr>
          <p:cNvPr id="50" name="Text 46"/>
          <p:cNvSpPr/>
          <p:nvPr/>
        </p:nvSpPr>
        <p:spPr>
          <a:xfrm>
            <a:off x="6537960" y="4956048"/>
            <a:ext cx="5120640" cy="292608"/>
          </a:xfrm>
          <a:prstGeom prst="rect">
            <a:avLst/>
          </a:prstGeom>
          <a:noFill/>
          <a:ln/>
        </p:spPr>
        <p:txBody>
          <a:bodyPr wrap="square" rtlCol="0" anchor="ctr"/>
          <a:lstStyle/>
          <a:p>
            <a:pPr marL="0" indent="0">
              <a:buNone/>
            </a:pPr>
            <a:r>
              <a:rPr lang="en-US" sz="1050" dirty="0">
                <a:solidFill>
                  <a:srgbClr val="5D4037"/>
                </a:solidFill>
                <a:latin typeface="Calibri" pitchFamily="34" charset="0"/>
                <a:ea typeface="Calibri" pitchFamily="34" charset="-122"/>
                <a:cs typeface="Calibri" pitchFamily="34" charset="-120"/>
              </a:rPr>
              <a:t>Cannot access external data sources</a:t>
            </a:r>
            <a:endParaRPr lang="en-US" sz="1050" dirty="0"/>
          </a:p>
        </p:txBody>
      </p:sp>
      <p:sp>
        <p:nvSpPr>
          <p:cNvPr id="51" name="Shape 47"/>
          <p:cNvSpPr/>
          <p:nvPr/>
        </p:nvSpPr>
        <p:spPr>
          <a:xfrm>
            <a:off x="6263640" y="5376672"/>
            <a:ext cx="164592" cy="164592"/>
          </a:xfrm>
          <a:prstGeom prst="ellipse">
            <a:avLst/>
          </a:prstGeom>
          <a:solidFill>
            <a:srgbClr val="F57C00"/>
          </a:solidFill>
          <a:ln w="12700">
            <a:solidFill>
              <a:srgbClr val="F57C00"/>
            </a:solidFill>
            <a:prstDash val="solid"/>
          </a:ln>
        </p:spPr>
      </p:sp>
      <p:sp>
        <p:nvSpPr>
          <p:cNvPr id="52" name="Text 48"/>
          <p:cNvSpPr/>
          <p:nvPr/>
        </p:nvSpPr>
        <p:spPr>
          <a:xfrm>
            <a:off x="6537960" y="5303520"/>
            <a:ext cx="5120640" cy="292608"/>
          </a:xfrm>
          <a:prstGeom prst="rect">
            <a:avLst/>
          </a:prstGeom>
          <a:noFill/>
          <a:ln/>
        </p:spPr>
        <p:txBody>
          <a:bodyPr wrap="square" rtlCol="0" anchor="ctr"/>
          <a:lstStyle/>
          <a:p>
            <a:pPr marL="0" indent="0">
              <a:buNone/>
            </a:pPr>
            <a:r>
              <a:rPr lang="en-US" sz="1050" dirty="0">
                <a:solidFill>
                  <a:srgbClr val="5D4037"/>
                </a:solidFill>
                <a:latin typeface="Calibri" pitchFamily="34" charset="0"/>
                <a:ea typeface="Calibri" pitchFamily="34" charset="-122"/>
                <a:cs typeface="Calibri" pitchFamily="34" charset="-120"/>
              </a:rPr>
              <a:t>No vendor reputation data from outside dataset</a:t>
            </a:r>
            <a:endParaRPr lang="en-US" sz="1050" dirty="0"/>
          </a:p>
        </p:txBody>
      </p:sp>
      <p:sp>
        <p:nvSpPr>
          <p:cNvPr id="53" name="Shape 49"/>
          <p:cNvSpPr/>
          <p:nvPr/>
        </p:nvSpPr>
        <p:spPr>
          <a:xfrm>
            <a:off x="6263640" y="5724144"/>
            <a:ext cx="164592" cy="164592"/>
          </a:xfrm>
          <a:prstGeom prst="ellipse">
            <a:avLst/>
          </a:prstGeom>
          <a:solidFill>
            <a:srgbClr val="F57C00"/>
          </a:solidFill>
          <a:ln w="12700">
            <a:solidFill>
              <a:srgbClr val="F57C00"/>
            </a:solidFill>
            <a:prstDash val="solid"/>
          </a:ln>
        </p:spPr>
      </p:sp>
      <p:sp>
        <p:nvSpPr>
          <p:cNvPr id="54" name="Text 50"/>
          <p:cNvSpPr/>
          <p:nvPr/>
        </p:nvSpPr>
        <p:spPr>
          <a:xfrm>
            <a:off x="6537960" y="5650992"/>
            <a:ext cx="5120640" cy="292608"/>
          </a:xfrm>
          <a:prstGeom prst="rect">
            <a:avLst/>
          </a:prstGeom>
          <a:noFill/>
          <a:ln/>
        </p:spPr>
        <p:txBody>
          <a:bodyPr wrap="square" rtlCol="0" anchor="ctr"/>
          <a:lstStyle/>
          <a:p>
            <a:pPr marL="0" indent="0">
              <a:buNone/>
            </a:pPr>
            <a:r>
              <a:rPr lang="en-US" sz="1050" dirty="0">
                <a:solidFill>
                  <a:srgbClr val="5D4037"/>
                </a:solidFill>
                <a:latin typeface="Calibri" pitchFamily="34" charset="0"/>
                <a:ea typeface="Calibri" pitchFamily="34" charset="-122"/>
                <a:cs typeface="Calibri" pitchFamily="34" charset="-120"/>
              </a:rPr>
              <a:t>History resets after page refresh</a:t>
            </a:r>
            <a:endParaRPr lang="en-US" sz="1050" dirty="0"/>
          </a:p>
        </p:txBody>
      </p:sp>
      <p:sp>
        <p:nvSpPr>
          <p:cNvPr id="55" name="Shape 51"/>
          <p:cNvSpPr/>
          <p:nvPr/>
        </p:nvSpPr>
        <p:spPr>
          <a:xfrm>
            <a:off x="6263640" y="6071616"/>
            <a:ext cx="164592" cy="164592"/>
          </a:xfrm>
          <a:prstGeom prst="ellipse">
            <a:avLst/>
          </a:prstGeom>
          <a:solidFill>
            <a:srgbClr val="F57C00"/>
          </a:solidFill>
          <a:ln w="12700">
            <a:solidFill>
              <a:srgbClr val="F57C00"/>
            </a:solidFill>
            <a:prstDash val="solid"/>
          </a:ln>
        </p:spPr>
      </p:sp>
      <p:sp>
        <p:nvSpPr>
          <p:cNvPr id="56" name="Text 52"/>
          <p:cNvSpPr/>
          <p:nvPr/>
        </p:nvSpPr>
        <p:spPr>
          <a:xfrm>
            <a:off x="6537960" y="5998464"/>
            <a:ext cx="5120640" cy="292608"/>
          </a:xfrm>
          <a:prstGeom prst="rect">
            <a:avLst/>
          </a:prstGeom>
          <a:noFill/>
          <a:ln/>
        </p:spPr>
        <p:txBody>
          <a:bodyPr wrap="square" rtlCol="0" anchor="ctr"/>
          <a:lstStyle/>
          <a:p>
            <a:pPr marL="0" indent="0">
              <a:buNone/>
            </a:pPr>
            <a:r>
              <a:rPr lang="en-US" sz="1050" dirty="0">
                <a:solidFill>
                  <a:srgbClr val="5D4037"/>
                </a:solidFill>
                <a:latin typeface="Calibri" pitchFamily="34" charset="0"/>
                <a:ea typeface="Calibri" pitchFamily="34" charset="-122"/>
                <a:cs typeface="Calibri" pitchFamily="34" charset="-120"/>
              </a:rPr>
              <a:t>Context auto-trimmed to prevent token overrun</a:t>
            </a:r>
            <a:endParaRPr lang="en-US" sz="1050" dirty="0"/>
          </a:p>
        </p:txBody>
      </p:sp>
      <p:sp>
        <p:nvSpPr>
          <p:cNvPr id="57" name="Shape 53"/>
          <p:cNvSpPr/>
          <p:nvPr/>
        </p:nvSpPr>
        <p:spPr>
          <a:xfrm>
            <a:off x="6263640" y="6419088"/>
            <a:ext cx="164592" cy="164592"/>
          </a:xfrm>
          <a:prstGeom prst="ellipse">
            <a:avLst/>
          </a:prstGeom>
          <a:solidFill>
            <a:srgbClr val="F57C00"/>
          </a:solidFill>
          <a:ln w="12700">
            <a:solidFill>
              <a:srgbClr val="F57C00"/>
            </a:solidFill>
            <a:prstDash val="solid"/>
          </a:ln>
        </p:spPr>
      </p:sp>
      <p:sp>
        <p:nvSpPr>
          <p:cNvPr id="58" name="Text 54"/>
          <p:cNvSpPr/>
          <p:nvPr/>
        </p:nvSpPr>
        <p:spPr>
          <a:xfrm>
            <a:off x="6537960" y="6345936"/>
            <a:ext cx="5120640" cy="292608"/>
          </a:xfrm>
          <a:prstGeom prst="rect">
            <a:avLst/>
          </a:prstGeom>
          <a:noFill/>
          <a:ln/>
        </p:spPr>
        <p:txBody>
          <a:bodyPr wrap="square" rtlCol="0" anchor="ctr"/>
          <a:lstStyle/>
          <a:p>
            <a:pPr marL="0" indent="0">
              <a:buNone/>
            </a:pPr>
            <a:r>
              <a:rPr lang="en-US" sz="1050" dirty="0">
                <a:solidFill>
                  <a:srgbClr val="5D4037"/>
                </a:solidFill>
                <a:latin typeface="Calibri" pitchFamily="34" charset="0"/>
                <a:ea typeface="Calibri" pitchFamily="34" charset="-122"/>
                <a:cs typeface="Calibri" pitchFamily="34" charset="-120"/>
              </a:rPr>
              <a:t>Responses are Anthropic-style JSON format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095722" y="73152"/>
            <a:ext cx="1882918" cy="594360"/>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API Endpoints Reference</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Flask routes serving templates, data, and AI proxy</a:t>
            </a:r>
            <a:endParaRPr lang="en-US" sz="1300" dirty="0"/>
          </a:p>
        </p:txBody>
      </p:sp>
      <p:sp>
        <p:nvSpPr>
          <p:cNvPr id="8" name="Shape 4"/>
          <p:cNvSpPr/>
          <p:nvPr/>
        </p:nvSpPr>
        <p:spPr>
          <a:xfrm>
            <a:off x="320040" y="1691640"/>
            <a:ext cx="11521440" cy="384048"/>
          </a:xfrm>
          <a:prstGeom prst="rect">
            <a:avLst/>
          </a:prstGeom>
          <a:solidFill>
            <a:srgbClr val="1F3A6E"/>
          </a:solidFill>
          <a:ln w="12700">
            <a:solidFill>
              <a:srgbClr val="1F3A6E"/>
            </a:solidFill>
            <a:prstDash val="solid"/>
          </a:ln>
        </p:spPr>
      </p:sp>
      <p:sp>
        <p:nvSpPr>
          <p:cNvPr id="9" name="Text 5"/>
          <p:cNvSpPr/>
          <p:nvPr/>
        </p:nvSpPr>
        <p:spPr>
          <a:xfrm>
            <a:off x="320040" y="1691640"/>
            <a:ext cx="1051560" cy="38404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p>
        </p:txBody>
      </p:sp>
      <p:sp>
        <p:nvSpPr>
          <p:cNvPr id="10" name="Text 6"/>
          <p:cNvSpPr/>
          <p:nvPr/>
        </p:nvSpPr>
        <p:spPr>
          <a:xfrm>
            <a:off x="1417320" y="1691640"/>
            <a:ext cx="2011680" cy="38404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Endpoint</a:t>
            </a:r>
            <a:endParaRPr lang="en-US" sz="1050" dirty="0"/>
          </a:p>
        </p:txBody>
      </p:sp>
      <p:sp>
        <p:nvSpPr>
          <p:cNvPr id="11" name="Text 7"/>
          <p:cNvSpPr/>
          <p:nvPr/>
        </p:nvSpPr>
        <p:spPr>
          <a:xfrm>
            <a:off x="3493008" y="1691640"/>
            <a:ext cx="2194560" cy="38404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p>
        </p:txBody>
      </p:sp>
      <p:sp>
        <p:nvSpPr>
          <p:cNvPr id="12" name="Text 8"/>
          <p:cNvSpPr/>
          <p:nvPr/>
        </p:nvSpPr>
        <p:spPr>
          <a:xfrm>
            <a:off x="5742432" y="1691640"/>
            <a:ext cx="6053328" cy="384048"/>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p>
        </p:txBody>
      </p:sp>
      <p:sp>
        <p:nvSpPr>
          <p:cNvPr id="13" name="Shape 9"/>
          <p:cNvSpPr/>
          <p:nvPr/>
        </p:nvSpPr>
        <p:spPr>
          <a:xfrm>
            <a:off x="320040" y="2130552"/>
            <a:ext cx="11521440" cy="640080"/>
          </a:xfrm>
          <a:prstGeom prst="rect">
            <a:avLst/>
          </a:prstGeom>
          <a:solidFill>
            <a:srgbClr val="FFFFFF"/>
          </a:solidFill>
          <a:ln w="12700">
            <a:solidFill>
              <a:srgbClr val="BBDEFB"/>
            </a:solidFill>
            <a:prstDash val="solid"/>
          </a:ln>
        </p:spPr>
      </p:sp>
      <p:sp>
        <p:nvSpPr>
          <p:cNvPr id="14" name="Shape 10"/>
          <p:cNvSpPr/>
          <p:nvPr/>
        </p:nvSpPr>
        <p:spPr>
          <a:xfrm>
            <a:off x="320040" y="2130552"/>
            <a:ext cx="45720" cy="640080"/>
          </a:xfrm>
          <a:prstGeom prst="rect">
            <a:avLst/>
          </a:prstGeom>
          <a:solidFill>
            <a:srgbClr val="43A047"/>
          </a:solidFill>
          <a:ln w="12700">
            <a:solidFill>
              <a:srgbClr val="43A047"/>
            </a:solidFill>
            <a:prstDash val="solid"/>
          </a:ln>
        </p:spPr>
      </p:sp>
      <p:sp>
        <p:nvSpPr>
          <p:cNvPr id="15" name="Shape 11"/>
          <p:cNvSpPr/>
          <p:nvPr/>
        </p:nvSpPr>
        <p:spPr>
          <a:xfrm>
            <a:off x="384048" y="2267712"/>
            <a:ext cx="914400" cy="347472"/>
          </a:xfrm>
          <a:prstGeom prst="roundRect">
            <a:avLst>
              <a:gd name="adj" fmla="val 10526"/>
            </a:avLst>
          </a:prstGeom>
          <a:solidFill>
            <a:srgbClr val="43A047"/>
          </a:solidFill>
          <a:ln w="12700">
            <a:solidFill>
              <a:srgbClr val="43A047"/>
            </a:solidFill>
            <a:prstDash val="solid"/>
          </a:ln>
        </p:spPr>
      </p:sp>
      <p:sp>
        <p:nvSpPr>
          <p:cNvPr id="16" name="Text 12"/>
          <p:cNvSpPr/>
          <p:nvPr/>
        </p:nvSpPr>
        <p:spPr>
          <a:xfrm>
            <a:off x="384048" y="2267712"/>
            <a:ext cx="9144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17" name="Text 13"/>
          <p:cNvSpPr/>
          <p:nvPr/>
        </p:nvSpPr>
        <p:spPr>
          <a:xfrm>
            <a:off x="1417320" y="2286000"/>
            <a:ext cx="2011680" cy="320040"/>
          </a:xfrm>
          <a:prstGeom prst="rect">
            <a:avLst/>
          </a:prstGeom>
          <a:noFill/>
          <a:ln/>
        </p:spPr>
        <p:txBody>
          <a:bodyPr wrap="square" rtlCol="0" anchor="ctr"/>
          <a:lstStyle/>
          <a:p>
            <a:pPr marL="0" indent="0">
              <a:buNone/>
            </a:pPr>
            <a:r>
              <a:rPr lang="en-US" sz="1100" b="1" dirty="0">
                <a:solidFill>
                  <a:srgbClr val="43A047"/>
                </a:solidFill>
                <a:latin typeface="Courier New" pitchFamily="34" charset="0"/>
                <a:ea typeface="Courier New" pitchFamily="34" charset="-122"/>
                <a:cs typeface="Courier New" pitchFamily="34" charset="-120"/>
              </a:rPr>
              <a:t>/analyze</a:t>
            </a:r>
            <a:endParaRPr lang="en-US" sz="1100" dirty="0"/>
          </a:p>
        </p:txBody>
      </p:sp>
      <p:sp>
        <p:nvSpPr>
          <p:cNvPr id="18" name="Text 14"/>
          <p:cNvSpPr/>
          <p:nvPr/>
        </p:nvSpPr>
        <p:spPr>
          <a:xfrm>
            <a:off x="3493008" y="2286000"/>
            <a:ext cx="2148840" cy="320040"/>
          </a:xfrm>
          <a:prstGeom prst="rect">
            <a:avLst/>
          </a:prstGeom>
          <a:noFill/>
          <a:ln/>
        </p:spPr>
        <p:txBody>
          <a:bodyPr wrap="square" rtlCol="0" anchor="ctr"/>
          <a:lstStyle/>
          <a:p>
            <a:pPr marL="0" indent="0">
              <a:buNone/>
            </a:pPr>
            <a:r>
              <a:rPr lang="en-US" sz="1000" i="1" dirty="0">
                <a:solidFill>
                  <a:srgbClr val="37474F"/>
                </a:solidFill>
                <a:latin typeface="Calibri" pitchFamily="34" charset="0"/>
                <a:ea typeface="Calibri" pitchFamily="34" charset="-122"/>
                <a:cs typeface="Calibri" pitchFamily="34" charset="-120"/>
              </a:rPr>
              <a:t>ml_model.py</a:t>
            </a:r>
            <a:endParaRPr lang="en-US" sz="1000" dirty="0"/>
          </a:p>
        </p:txBody>
      </p:sp>
      <p:sp>
        <p:nvSpPr>
          <p:cNvPr id="19" name="Text 15"/>
          <p:cNvSpPr/>
          <p:nvPr/>
        </p:nvSpPr>
        <p:spPr>
          <a:xfrm>
            <a:off x="5742432" y="2286000"/>
            <a:ext cx="594360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Accept CSV uploads, run aging + ML analysis, save JSON result</a:t>
            </a:r>
            <a:endParaRPr lang="en-US" sz="1050" dirty="0"/>
          </a:p>
        </p:txBody>
      </p:sp>
      <p:sp>
        <p:nvSpPr>
          <p:cNvPr id="20" name="Shape 16"/>
          <p:cNvSpPr/>
          <p:nvPr/>
        </p:nvSpPr>
        <p:spPr>
          <a:xfrm>
            <a:off x="320040" y="2816352"/>
            <a:ext cx="11521440" cy="640080"/>
          </a:xfrm>
          <a:prstGeom prst="rect">
            <a:avLst/>
          </a:prstGeom>
          <a:solidFill>
            <a:srgbClr val="F0F7FF"/>
          </a:solidFill>
          <a:ln w="12700">
            <a:solidFill>
              <a:srgbClr val="BBDEFB"/>
            </a:solidFill>
            <a:prstDash val="solid"/>
          </a:ln>
        </p:spPr>
      </p:sp>
      <p:sp>
        <p:nvSpPr>
          <p:cNvPr id="21" name="Shape 17"/>
          <p:cNvSpPr/>
          <p:nvPr/>
        </p:nvSpPr>
        <p:spPr>
          <a:xfrm>
            <a:off x="320040" y="2816352"/>
            <a:ext cx="45720" cy="640080"/>
          </a:xfrm>
          <a:prstGeom prst="rect">
            <a:avLst/>
          </a:prstGeom>
          <a:solidFill>
            <a:srgbClr val="1565C0"/>
          </a:solidFill>
          <a:ln w="12700">
            <a:solidFill>
              <a:srgbClr val="1565C0"/>
            </a:solidFill>
            <a:prstDash val="solid"/>
          </a:ln>
        </p:spPr>
      </p:sp>
      <p:sp>
        <p:nvSpPr>
          <p:cNvPr id="22" name="Shape 18"/>
          <p:cNvSpPr/>
          <p:nvPr/>
        </p:nvSpPr>
        <p:spPr>
          <a:xfrm>
            <a:off x="384048" y="2953512"/>
            <a:ext cx="914400" cy="347472"/>
          </a:xfrm>
          <a:prstGeom prst="roundRect">
            <a:avLst>
              <a:gd name="adj" fmla="val 10526"/>
            </a:avLst>
          </a:prstGeom>
          <a:solidFill>
            <a:srgbClr val="1565C0"/>
          </a:solidFill>
          <a:ln w="12700">
            <a:solidFill>
              <a:srgbClr val="1565C0"/>
            </a:solidFill>
            <a:prstDash val="solid"/>
          </a:ln>
        </p:spPr>
      </p:sp>
      <p:sp>
        <p:nvSpPr>
          <p:cNvPr id="23" name="Text 19"/>
          <p:cNvSpPr/>
          <p:nvPr/>
        </p:nvSpPr>
        <p:spPr>
          <a:xfrm>
            <a:off x="384048" y="2953512"/>
            <a:ext cx="9144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24" name="Text 20"/>
          <p:cNvSpPr/>
          <p:nvPr/>
        </p:nvSpPr>
        <p:spPr>
          <a:xfrm>
            <a:off x="1417320" y="2971800"/>
            <a:ext cx="2011680" cy="320040"/>
          </a:xfrm>
          <a:prstGeom prst="rect">
            <a:avLst/>
          </a:prstGeom>
          <a:noFill/>
          <a:ln/>
        </p:spPr>
        <p:txBody>
          <a:bodyPr wrap="square"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/results</a:t>
            </a:r>
            <a:endParaRPr lang="en-US" sz="1100" dirty="0"/>
          </a:p>
        </p:txBody>
      </p:sp>
      <p:sp>
        <p:nvSpPr>
          <p:cNvPr id="25" name="Text 21"/>
          <p:cNvSpPr/>
          <p:nvPr/>
        </p:nvSpPr>
        <p:spPr>
          <a:xfrm>
            <a:off x="3493008" y="2971800"/>
            <a:ext cx="2148840" cy="320040"/>
          </a:xfrm>
          <a:prstGeom prst="rect">
            <a:avLst/>
          </a:prstGeom>
          <a:noFill/>
          <a:ln/>
        </p:spPr>
        <p:txBody>
          <a:bodyPr wrap="square" rtlCol="0" anchor="ctr"/>
          <a:lstStyle/>
          <a:p>
            <a:pPr marL="0" indent="0">
              <a:buNone/>
            </a:pPr>
            <a:r>
              <a:rPr lang="en-US" sz="1000" i="1" dirty="0">
                <a:solidFill>
                  <a:srgbClr val="37474F"/>
                </a:solidFill>
                <a:latin typeface="Calibri" pitchFamily="34" charset="0"/>
                <a:ea typeface="Calibri" pitchFamily="34" charset="-122"/>
                <a:cs typeface="Calibri" pitchFamily="34" charset="-120"/>
              </a:rPr>
              <a:t>results.html</a:t>
            </a:r>
            <a:endParaRPr lang="en-US" sz="1000" dirty="0"/>
          </a:p>
        </p:txBody>
      </p:sp>
      <p:sp>
        <p:nvSpPr>
          <p:cNvPr id="26" name="Text 22"/>
          <p:cNvSpPr/>
          <p:nvPr/>
        </p:nvSpPr>
        <p:spPr>
          <a:xfrm>
            <a:off x="5742432" y="2971800"/>
            <a:ext cx="594360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Load main dashboard page with charts and aging summary</a:t>
            </a:r>
            <a:endParaRPr lang="en-US" sz="1050" dirty="0"/>
          </a:p>
        </p:txBody>
      </p:sp>
      <p:sp>
        <p:nvSpPr>
          <p:cNvPr id="27" name="Shape 23"/>
          <p:cNvSpPr/>
          <p:nvPr/>
        </p:nvSpPr>
        <p:spPr>
          <a:xfrm>
            <a:off x="320040" y="3502152"/>
            <a:ext cx="11521440" cy="640080"/>
          </a:xfrm>
          <a:prstGeom prst="rect">
            <a:avLst/>
          </a:prstGeom>
          <a:solidFill>
            <a:srgbClr val="FFFFFF"/>
          </a:solidFill>
          <a:ln w="12700">
            <a:solidFill>
              <a:srgbClr val="BBDEFB"/>
            </a:solidFill>
            <a:prstDash val="solid"/>
          </a:ln>
        </p:spPr>
      </p:sp>
      <p:sp>
        <p:nvSpPr>
          <p:cNvPr id="28" name="Shape 24"/>
          <p:cNvSpPr/>
          <p:nvPr/>
        </p:nvSpPr>
        <p:spPr>
          <a:xfrm>
            <a:off x="320040" y="3502152"/>
            <a:ext cx="45720" cy="640080"/>
          </a:xfrm>
          <a:prstGeom prst="rect">
            <a:avLst/>
          </a:prstGeom>
          <a:solidFill>
            <a:srgbClr val="289BE8"/>
          </a:solidFill>
          <a:ln w="12700">
            <a:solidFill>
              <a:srgbClr val="289BE8"/>
            </a:solidFill>
            <a:prstDash val="solid"/>
          </a:ln>
        </p:spPr>
      </p:sp>
      <p:sp>
        <p:nvSpPr>
          <p:cNvPr id="29" name="Shape 25"/>
          <p:cNvSpPr/>
          <p:nvPr/>
        </p:nvSpPr>
        <p:spPr>
          <a:xfrm>
            <a:off x="384048" y="3639312"/>
            <a:ext cx="914400" cy="347472"/>
          </a:xfrm>
          <a:prstGeom prst="roundRect">
            <a:avLst>
              <a:gd name="adj" fmla="val 10526"/>
            </a:avLst>
          </a:prstGeom>
          <a:solidFill>
            <a:srgbClr val="289BE8"/>
          </a:solidFill>
          <a:ln w="12700">
            <a:solidFill>
              <a:srgbClr val="289BE8"/>
            </a:solidFill>
            <a:prstDash val="solid"/>
          </a:ln>
        </p:spPr>
      </p:sp>
      <p:sp>
        <p:nvSpPr>
          <p:cNvPr id="30" name="Text 26"/>
          <p:cNvSpPr/>
          <p:nvPr/>
        </p:nvSpPr>
        <p:spPr>
          <a:xfrm>
            <a:off x="384048" y="3639312"/>
            <a:ext cx="9144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31" name="Text 27"/>
          <p:cNvSpPr/>
          <p:nvPr/>
        </p:nvSpPr>
        <p:spPr>
          <a:xfrm>
            <a:off x="1417320" y="3657600"/>
            <a:ext cx="2011680" cy="320040"/>
          </a:xfrm>
          <a:prstGeom prst="rect">
            <a:avLst/>
          </a:prstGeom>
          <a:noFill/>
          <a:ln/>
        </p:spPr>
        <p:txBody>
          <a:bodyPr wrap="square" rtlCol="0" anchor="ctr"/>
          <a:lstStyle/>
          <a:p>
            <a:pPr marL="0" indent="0">
              <a:buNone/>
            </a:pPr>
            <a:r>
              <a:rPr lang="en-US" sz="1100" b="1" dirty="0">
                <a:solidFill>
                  <a:srgbClr val="289BE8"/>
                </a:solidFill>
                <a:latin typeface="Courier New" pitchFamily="34" charset="0"/>
                <a:ea typeface="Courier New" pitchFamily="34" charset="-122"/>
                <a:cs typeface="Courier New" pitchFamily="34" charset="-120"/>
              </a:rPr>
              <a:t>/vendors</a:t>
            </a:r>
            <a:endParaRPr lang="en-US" sz="1100" dirty="0"/>
          </a:p>
        </p:txBody>
      </p:sp>
      <p:sp>
        <p:nvSpPr>
          <p:cNvPr id="32" name="Text 28"/>
          <p:cNvSpPr/>
          <p:nvPr/>
        </p:nvSpPr>
        <p:spPr>
          <a:xfrm>
            <a:off x="3493008" y="3657600"/>
            <a:ext cx="2148840" cy="320040"/>
          </a:xfrm>
          <a:prstGeom prst="rect">
            <a:avLst/>
          </a:prstGeom>
          <a:noFill/>
          <a:ln/>
        </p:spPr>
        <p:txBody>
          <a:bodyPr wrap="square" rtlCol="0" anchor="ctr"/>
          <a:lstStyle/>
          <a:p>
            <a:pPr marL="0" indent="0">
              <a:buNone/>
            </a:pPr>
            <a:r>
              <a:rPr lang="en-US" sz="1000" i="1" dirty="0">
                <a:solidFill>
                  <a:srgbClr val="37474F"/>
                </a:solidFill>
                <a:latin typeface="Calibri" pitchFamily="34" charset="0"/>
                <a:ea typeface="Calibri" pitchFamily="34" charset="-122"/>
                <a:cs typeface="Calibri" pitchFamily="34" charset="-120"/>
              </a:rPr>
              <a:t>vendors.html</a:t>
            </a:r>
            <a:endParaRPr lang="en-US" sz="1000" dirty="0"/>
          </a:p>
        </p:txBody>
      </p:sp>
      <p:sp>
        <p:nvSpPr>
          <p:cNvPr id="33" name="Text 29"/>
          <p:cNvSpPr/>
          <p:nvPr/>
        </p:nvSpPr>
        <p:spPr>
          <a:xfrm>
            <a:off x="5742432" y="3657600"/>
            <a:ext cx="594360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Display vendor risk table with scores and risk categories</a:t>
            </a:r>
            <a:endParaRPr lang="en-US" sz="1050" dirty="0"/>
          </a:p>
        </p:txBody>
      </p:sp>
      <p:sp>
        <p:nvSpPr>
          <p:cNvPr id="34" name="Shape 30"/>
          <p:cNvSpPr/>
          <p:nvPr/>
        </p:nvSpPr>
        <p:spPr>
          <a:xfrm>
            <a:off x="320040" y="4187952"/>
            <a:ext cx="11521440" cy="640080"/>
          </a:xfrm>
          <a:prstGeom prst="rect">
            <a:avLst/>
          </a:prstGeom>
          <a:solidFill>
            <a:srgbClr val="F0F7FF"/>
          </a:solidFill>
          <a:ln w="12700">
            <a:solidFill>
              <a:srgbClr val="BBDEFB"/>
            </a:solidFill>
            <a:prstDash val="solid"/>
          </a:ln>
        </p:spPr>
      </p:sp>
      <p:sp>
        <p:nvSpPr>
          <p:cNvPr id="35" name="Shape 31"/>
          <p:cNvSpPr/>
          <p:nvPr/>
        </p:nvSpPr>
        <p:spPr>
          <a:xfrm>
            <a:off x="320040" y="4187952"/>
            <a:ext cx="45720" cy="640080"/>
          </a:xfrm>
          <a:prstGeom prst="rect">
            <a:avLst/>
          </a:prstGeom>
          <a:solidFill>
            <a:srgbClr val="8064A2"/>
          </a:solidFill>
          <a:ln w="12700">
            <a:solidFill>
              <a:srgbClr val="8064A2"/>
            </a:solidFill>
            <a:prstDash val="solid"/>
          </a:ln>
        </p:spPr>
      </p:sp>
      <p:sp>
        <p:nvSpPr>
          <p:cNvPr id="36" name="Shape 32"/>
          <p:cNvSpPr/>
          <p:nvPr/>
        </p:nvSpPr>
        <p:spPr>
          <a:xfrm>
            <a:off x="384048" y="4325112"/>
            <a:ext cx="914400" cy="347472"/>
          </a:xfrm>
          <a:prstGeom prst="roundRect">
            <a:avLst>
              <a:gd name="adj" fmla="val 10526"/>
            </a:avLst>
          </a:prstGeom>
          <a:solidFill>
            <a:srgbClr val="8064A2"/>
          </a:solidFill>
          <a:ln w="12700">
            <a:solidFill>
              <a:srgbClr val="8064A2"/>
            </a:solidFill>
            <a:prstDash val="solid"/>
          </a:ln>
        </p:spPr>
      </p:sp>
      <p:sp>
        <p:nvSpPr>
          <p:cNvPr id="37" name="Text 33"/>
          <p:cNvSpPr/>
          <p:nvPr/>
        </p:nvSpPr>
        <p:spPr>
          <a:xfrm>
            <a:off x="384048" y="4325112"/>
            <a:ext cx="9144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38" name="Text 34"/>
          <p:cNvSpPr/>
          <p:nvPr/>
        </p:nvSpPr>
        <p:spPr>
          <a:xfrm>
            <a:off x="1417320" y="4343400"/>
            <a:ext cx="2011680" cy="320040"/>
          </a:xfrm>
          <a:prstGeom prst="rect">
            <a:avLst/>
          </a:prstGeom>
          <a:noFill/>
          <a:ln/>
        </p:spPr>
        <p:txBody>
          <a:bodyPr wrap="square" rtlCol="0" anchor="ctr"/>
          <a:lstStyle/>
          <a:p>
            <a:pPr marL="0" indent="0">
              <a:buNone/>
            </a:pPr>
            <a:r>
              <a:rPr lang="en-US" sz="1100" b="1" dirty="0">
                <a:solidFill>
                  <a:srgbClr val="8064A2"/>
                </a:solidFill>
                <a:latin typeface="Courier New" pitchFamily="34" charset="0"/>
                <a:ea typeface="Courier New" pitchFamily="34" charset="-122"/>
                <a:cs typeface="Courier New" pitchFamily="34" charset="-120"/>
              </a:rPr>
              <a:t>/intelligence</a:t>
            </a:r>
            <a:endParaRPr lang="en-US" sz="1100" dirty="0"/>
          </a:p>
        </p:txBody>
      </p:sp>
      <p:sp>
        <p:nvSpPr>
          <p:cNvPr id="39" name="Text 35"/>
          <p:cNvSpPr/>
          <p:nvPr/>
        </p:nvSpPr>
        <p:spPr>
          <a:xfrm>
            <a:off x="3493008" y="4343400"/>
            <a:ext cx="2148840" cy="320040"/>
          </a:xfrm>
          <a:prstGeom prst="rect">
            <a:avLst/>
          </a:prstGeom>
          <a:noFill/>
          <a:ln/>
        </p:spPr>
        <p:txBody>
          <a:bodyPr wrap="square" rtlCol="0" anchor="ctr"/>
          <a:lstStyle/>
          <a:p>
            <a:pPr marL="0" indent="0">
              <a:buNone/>
            </a:pPr>
            <a:r>
              <a:rPr lang="en-US" sz="1000" i="1" dirty="0">
                <a:solidFill>
                  <a:srgbClr val="37474F"/>
                </a:solidFill>
                <a:latin typeface="Calibri" pitchFamily="34" charset="0"/>
                <a:ea typeface="Calibri" pitchFamily="34" charset="-122"/>
                <a:cs typeface="Calibri" pitchFamily="34" charset="-120"/>
              </a:rPr>
              <a:t>intelligence.html</a:t>
            </a:r>
            <a:endParaRPr lang="en-US" sz="1000" dirty="0"/>
          </a:p>
        </p:txBody>
      </p:sp>
      <p:sp>
        <p:nvSpPr>
          <p:cNvPr id="40" name="Text 36"/>
          <p:cNvSpPr/>
          <p:nvPr/>
        </p:nvSpPr>
        <p:spPr>
          <a:xfrm>
            <a:off x="5742432" y="4343400"/>
            <a:ext cx="594360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Load AI insights page with insight cards and chatbot</a:t>
            </a:r>
            <a:endParaRPr lang="en-US" sz="1050" dirty="0"/>
          </a:p>
        </p:txBody>
      </p:sp>
      <p:sp>
        <p:nvSpPr>
          <p:cNvPr id="41" name="Shape 37"/>
          <p:cNvSpPr/>
          <p:nvPr/>
        </p:nvSpPr>
        <p:spPr>
          <a:xfrm>
            <a:off x="320040" y="4873752"/>
            <a:ext cx="11521440" cy="640080"/>
          </a:xfrm>
          <a:prstGeom prst="rect">
            <a:avLst/>
          </a:prstGeom>
          <a:solidFill>
            <a:srgbClr val="FFFFFF"/>
          </a:solidFill>
          <a:ln w="12700">
            <a:solidFill>
              <a:srgbClr val="BBDEFB"/>
            </a:solidFill>
            <a:prstDash val="solid"/>
          </a:ln>
        </p:spPr>
      </p:sp>
      <p:sp>
        <p:nvSpPr>
          <p:cNvPr id="42" name="Shape 38"/>
          <p:cNvSpPr/>
          <p:nvPr/>
        </p:nvSpPr>
        <p:spPr>
          <a:xfrm>
            <a:off x="320040" y="4873752"/>
            <a:ext cx="45720" cy="640080"/>
          </a:xfrm>
          <a:prstGeom prst="rect">
            <a:avLst/>
          </a:prstGeom>
          <a:solidFill>
            <a:srgbClr val="E53935"/>
          </a:solidFill>
          <a:ln w="12700">
            <a:solidFill>
              <a:srgbClr val="E53935"/>
            </a:solidFill>
            <a:prstDash val="solid"/>
          </a:ln>
        </p:spPr>
      </p:sp>
      <p:sp>
        <p:nvSpPr>
          <p:cNvPr id="43" name="Shape 39"/>
          <p:cNvSpPr/>
          <p:nvPr/>
        </p:nvSpPr>
        <p:spPr>
          <a:xfrm>
            <a:off x="384048" y="5010912"/>
            <a:ext cx="914400" cy="347472"/>
          </a:xfrm>
          <a:prstGeom prst="roundRect">
            <a:avLst>
              <a:gd name="adj" fmla="val 10526"/>
            </a:avLst>
          </a:prstGeom>
          <a:solidFill>
            <a:srgbClr val="E53935"/>
          </a:solidFill>
          <a:ln w="12700">
            <a:solidFill>
              <a:srgbClr val="E53935"/>
            </a:solidFill>
            <a:prstDash val="solid"/>
          </a:ln>
        </p:spPr>
      </p:sp>
      <p:sp>
        <p:nvSpPr>
          <p:cNvPr id="44" name="Text 40"/>
          <p:cNvSpPr/>
          <p:nvPr/>
        </p:nvSpPr>
        <p:spPr>
          <a:xfrm>
            <a:off x="384048" y="5010912"/>
            <a:ext cx="9144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a:t>
            </a:r>
            <a:endParaRPr lang="en-US" sz="1000" dirty="0"/>
          </a:p>
        </p:txBody>
      </p:sp>
      <p:sp>
        <p:nvSpPr>
          <p:cNvPr id="45" name="Text 41"/>
          <p:cNvSpPr/>
          <p:nvPr/>
        </p:nvSpPr>
        <p:spPr>
          <a:xfrm>
            <a:off x="1417320" y="5029200"/>
            <a:ext cx="2011680" cy="320040"/>
          </a:xfrm>
          <a:prstGeom prst="rect">
            <a:avLst/>
          </a:prstGeom>
          <a:noFill/>
          <a:ln/>
        </p:spPr>
        <p:txBody>
          <a:bodyPr wrap="square" rtlCol="0" anchor="ctr"/>
          <a:lstStyle/>
          <a:p>
            <a:pPr marL="0" indent="0">
              <a:buNone/>
            </a:pPr>
            <a:r>
              <a:rPr lang="en-US" sz="1100" b="1" dirty="0">
                <a:solidFill>
                  <a:srgbClr val="E53935"/>
                </a:solidFill>
                <a:latin typeface="Courier New" pitchFamily="34" charset="0"/>
                <a:ea typeface="Courier New" pitchFamily="34" charset="-122"/>
                <a:cs typeface="Courier New" pitchFamily="34" charset="-120"/>
              </a:rPr>
              <a:t>/api/claude</a:t>
            </a:r>
            <a:endParaRPr lang="en-US" sz="1100" dirty="0"/>
          </a:p>
        </p:txBody>
      </p:sp>
      <p:sp>
        <p:nvSpPr>
          <p:cNvPr id="46" name="Text 42"/>
          <p:cNvSpPr/>
          <p:nvPr/>
        </p:nvSpPr>
        <p:spPr>
          <a:xfrm>
            <a:off x="3493008" y="5029200"/>
            <a:ext cx="2148840" cy="320040"/>
          </a:xfrm>
          <a:prstGeom prst="rect">
            <a:avLst/>
          </a:prstGeom>
          <a:noFill/>
          <a:ln/>
        </p:spPr>
        <p:txBody>
          <a:bodyPr wrap="square" rtlCol="0" anchor="ctr"/>
          <a:lstStyle/>
          <a:p>
            <a:pPr marL="0" indent="0">
              <a:buNone/>
            </a:pPr>
            <a:r>
              <a:rPr lang="en-US" sz="1000" i="1" dirty="0">
                <a:solidFill>
                  <a:srgbClr val="37474F"/>
                </a:solidFill>
                <a:latin typeface="Calibri" pitchFamily="34" charset="0"/>
                <a:ea typeface="Calibri" pitchFamily="34" charset="-122"/>
                <a:cs typeface="Calibri" pitchFamily="34" charset="-120"/>
              </a:rPr>
              <a:t>OpenRouter proxy</a:t>
            </a:r>
            <a:endParaRPr lang="en-US" sz="1000" dirty="0"/>
          </a:p>
        </p:txBody>
      </p:sp>
      <p:sp>
        <p:nvSpPr>
          <p:cNvPr id="47" name="Text 43"/>
          <p:cNvSpPr/>
          <p:nvPr/>
        </p:nvSpPr>
        <p:spPr>
          <a:xfrm>
            <a:off x="5742432" y="5029200"/>
            <a:ext cx="594360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Forward prompts to Trinity/Qwen3 AI; return Anthropic-style JSON</a:t>
            </a:r>
            <a:endParaRPr lang="en-US" sz="1050" dirty="0"/>
          </a:p>
        </p:txBody>
      </p:sp>
      <p:sp>
        <p:nvSpPr>
          <p:cNvPr id="48" name="Shape 44"/>
          <p:cNvSpPr/>
          <p:nvPr/>
        </p:nvSpPr>
        <p:spPr>
          <a:xfrm>
            <a:off x="320040" y="5559552"/>
            <a:ext cx="11521440" cy="640080"/>
          </a:xfrm>
          <a:prstGeom prst="rect">
            <a:avLst/>
          </a:prstGeom>
          <a:solidFill>
            <a:srgbClr val="F0F7FF"/>
          </a:solidFill>
          <a:ln w="12700">
            <a:solidFill>
              <a:srgbClr val="BBDEFB"/>
            </a:solidFill>
            <a:prstDash val="solid"/>
          </a:ln>
        </p:spPr>
      </p:sp>
      <p:sp>
        <p:nvSpPr>
          <p:cNvPr id="49" name="Shape 45"/>
          <p:cNvSpPr/>
          <p:nvPr/>
        </p:nvSpPr>
        <p:spPr>
          <a:xfrm>
            <a:off x="320040" y="5559552"/>
            <a:ext cx="45720" cy="640080"/>
          </a:xfrm>
          <a:prstGeom prst="rect">
            <a:avLst/>
          </a:prstGeom>
          <a:solidFill>
            <a:srgbClr val="F79646"/>
          </a:solidFill>
          <a:ln w="12700">
            <a:solidFill>
              <a:srgbClr val="F79646"/>
            </a:solidFill>
            <a:prstDash val="solid"/>
          </a:ln>
        </p:spPr>
      </p:sp>
      <p:sp>
        <p:nvSpPr>
          <p:cNvPr id="50" name="Shape 46"/>
          <p:cNvSpPr/>
          <p:nvPr/>
        </p:nvSpPr>
        <p:spPr>
          <a:xfrm>
            <a:off x="384048" y="5696712"/>
            <a:ext cx="914400" cy="347472"/>
          </a:xfrm>
          <a:prstGeom prst="roundRect">
            <a:avLst>
              <a:gd name="adj" fmla="val 10526"/>
            </a:avLst>
          </a:prstGeom>
          <a:solidFill>
            <a:srgbClr val="F79646"/>
          </a:solidFill>
          <a:ln w="12700">
            <a:solidFill>
              <a:srgbClr val="F79646"/>
            </a:solidFill>
            <a:prstDash val="solid"/>
          </a:ln>
        </p:spPr>
      </p:sp>
      <p:sp>
        <p:nvSpPr>
          <p:cNvPr id="51" name="Text 47"/>
          <p:cNvSpPr/>
          <p:nvPr/>
        </p:nvSpPr>
        <p:spPr>
          <a:xfrm>
            <a:off x="384048" y="5696712"/>
            <a:ext cx="9144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GET</a:t>
            </a:r>
            <a:endParaRPr lang="en-US" sz="1000" dirty="0"/>
          </a:p>
        </p:txBody>
      </p:sp>
      <p:sp>
        <p:nvSpPr>
          <p:cNvPr id="52" name="Text 48"/>
          <p:cNvSpPr/>
          <p:nvPr/>
        </p:nvSpPr>
        <p:spPr>
          <a:xfrm>
            <a:off x="1417320" y="5715000"/>
            <a:ext cx="2011680" cy="320040"/>
          </a:xfrm>
          <a:prstGeom prst="rect">
            <a:avLst/>
          </a:prstGeom>
          <a:noFill/>
          <a:ln/>
        </p:spPr>
        <p:txBody>
          <a:bodyPr wrap="square" rtlCol="0" anchor="ctr"/>
          <a:lstStyle/>
          <a:p>
            <a:pPr marL="0" indent="0">
              <a:buNone/>
            </a:pPr>
            <a:r>
              <a:rPr lang="en-US" sz="1100" b="1" dirty="0">
                <a:solidFill>
                  <a:srgbClr val="F79646"/>
                </a:solidFill>
                <a:latin typeface="Courier New" pitchFamily="34" charset="0"/>
                <a:ea typeface="Courier New" pitchFamily="34" charset="-122"/>
                <a:cs typeface="Courier New" pitchFamily="34" charset="-120"/>
              </a:rPr>
              <a:t>/api/data</a:t>
            </a:r>
            <a:endParaRPr lang="en-US" sz="1100" dirty="0"/>
          </a:p>
        </p:txBody>
      </p:sp>
      <p:sp>
        <p:nvSpPr>
          <p:cNvPr id="53" name="Text 49"/>
          <p:cNvSpPr/>
          <p:nvPr/>
        </p:nvSpPr>
        <p:spPr>
          <a:xfrm>
            <a:off x="3493008" y="5715000"/>
            <a:ext cx="2148840" cy="320040"/>
          </a:xfrm>
          <a:prstGeom prst="rect">
            <a:avLst/>
          </a:prstGeom>
          <a:noFill/>
          <a:ln/>
        </p:spPr>
        <p:txBody>
          <a:bodyPr wrap="square" rtlCol="0" anchor="ctr"/>
          <a:lstStyle/>
          <a:p>
            <a:pPr marL="0" indent="0">
              <a:buNone/>
            </a:pPr>
            <a:r>
              <a:rPr lang="en-US" sz="1000" i="1" dirty="0">
                <a:solidFill>
                  <a:srgbClr val="37474F"/>
                </a:solidFill>
                <a:latin typeface="Calibri" pitchFamily="34" charset="0"/>
                <a:ea typeface="Calibri" pitchFamily="34" charset="-122"/>
                <a:cs typeface="Calibri" pitchFamily="34" charset="-120"/>
              </a:rPr>
              <a:t>JSON response</a:t>
            </a:r>
            <a:endParaRPr lang="en-US" sz="1000" dirty="0"/>
          </a:p>
        </p:txBody>
      </p:sp>
      <p:sp>
        <p:nvSpPr>
          <p:cNvPr id="54" name="Text 50"/>
          <p:cNvSpPr/>
          <p:nvPr/>
        </p:nvSpPr>
        <p:spPr>
          <a:xfrm>
            <a:off x="5742432" y="5715000"/>
            <a:ext cx="5943600" cy="320040"/>
          </a:xfrm>
          <a:prstGeom prst="rect">
            <a:avLst/>
          </a:prstGeom>
          <a:noFill/>
          <a:ln/>
        </p:spPr>
        <p:txBody>
          <a:bodyPr wrap="square" rtlCol="0" anchor="ctr"/>
          <a:lstStyle/>
          <a:p>
            <a:pPr marL="0" indent="0">
              <a:buNone/>
            </a:pPr>
            <a:r>
              <a:rPr lang="en-US" sz="1050" dirty="0">
                <a:solidFill>
                  <a:srgbClr val="37474F"/>
                </a:solidFill>
                <a:latin typeface="Calibri" pitchFamily="34" charset="0"/>
                <a:ea typeface="Calibri" pitchFamily="34" charset="-122"/>
                <a:cs typeface="Calibri" pitchFamily="34" charset="-120"/>
              </a:rPr>
              <a:t>Serve result JSON async (Cache-Control: private, max-age=300)</a:t>
            </a:r>
            <a:endParaRPr lang="en-US" sz="1050" dirty="0"/>
          </a:p>
        </p:txBody>
      </p:sp>
      <p:sp>
        <p:nvSpPr>
          <p:cNvPr id="55" name="Shape 51"/>
          <p:cNvSpPr/>
          <p:nvPr/>
        </p:nvSpPr>
        <p:spPr>
          <a:xfrm>
            <a:off x="320040" y="6263640"/>
            <a:ext cx="10149840" cy="475488"/>
          </a:xfrm>
          <a:prstGeom prst="roundRect">
            <a:avLst>
              <a:gd name="adj" fmla="val 19231"/>
            </a:avLst>
          </a:prstGeom>
          <a:solidFill>
            <a:srgbClr val="EDF3FC"/>
          </a:solidFill>
          <a:ln w="15240">
            <a:solidFill>
              <a:srgbClr val="BBDEFB"/>
            </a:solidFill>
            <a:prstDash val="solid"/>
          </a:ln>
        </p:spPr>
      </p:sp>
      <p:sp>
        <p:nvSpPr>
          <p:cNvPr id="56" name="Text 52"/>
          <p:cNvSpPr/>
          <p:nvPr/>
        </p:nvSpPr>
        <p:spPr>
          <a:xfrm>
            <a:off x="457200" y="6291072"/>
            <a:ext cx="11155680" cy="420624"/>
          </a:xfrm>
          <a:prstGeom prst="rect">
            <a:avLst/>
          </a:prstGeom>
          <a:noFill/>
          <a:ln/>
        </p:spPr>
        <p:txBody>
          <a:bodyPr wrap="square" rtlCol="0" anchor="ctr"/>
          <a:lstStyle/>
          <a:p>
            <a:pPr marL="0" indent="0">
              <a:buNone/>
            </a:pPr>
            <a:r>
              <a:rPr lang="en-US" sz="1000" i="1" dirty="0">
                <a:solidFill>
                  <a:srgbClr val="1F3A6E"/>
                </a:solidFill>
                <a:latin typeface="Calibri" pitchFamily="34" charset="0"/>
                <a:ea typeface="Calibri" pitchFamily="34" charset="-122"/>
                <a:cs typeface="Calibri" pitchFamily="34" charset="-120"/>
              </a:rPr>
              <a:t>🔄  AI Proxy Strategy: /api/claude routes through OpenRouter with automatic 2-model fallback. Returns Anthropic-style content[].type/text JSON so frontend intelligence.js requires zero</a:t>
            </a:r>
          </a:p>
          <a:p>
            <a:pPr marL="0" indent="0">
              <a:buNone/>
            </a:pPr>
            <a:r>
              <a:rPr lang="en-US" sz="1000" i="1" dirty="0">
                <a:solidFill>
                  <a:srgbClr val="1F3A6E"/>
                </a:solidFill>
                <a:latin typeface="Calibri" pitchFamily="34" charset="0"/>
                <a:ea typeface="Calibri" pitchFamily="34" charset="-122"/>
                <a:cs typeface="Calibri" pitchFamily="34" charset="-120"/>
              </a:rPr>
              <a:t> changes  when models switch.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ED37-1443-EE9E-0695-2EF327F386E1}"/>
            </a:ext>
          </a:extLst>
        </p:cNvPr>
        <p:cNvGrpSpPr/>
        <p:nvPr/>
      </p:nvGrpSpPr>
      <p:grpSpPr>
        <a:xfrm>
          <a:off x="0" y="0"/>
          <a:ext cx="0" cy="0"/>
          <a:chOff x="0" y="0"/>
          <a:chExt cx="0" cy="0"/>
        </a:xfrm>
      </p:grpSpPr>
      <p:graphicFrame>
        <p:nvGraphicFramePr>
          <p:cNvPr id="96" name="think-cell data - do not delete" hidden="1">
            <a:extLst>
              <a:ext uri="{FF2B5EF4-FFF2-40B4-BE49-F238E27FC236}">
                <a16:creationId xmlns:a16="http://schemas.microsoft.com/office/drawing/2014/main" id="{377187D0-FB14-791E-4505-ABEB9229576C}"/>
              </a:ext>
            </a:extLst>
          </p:cNvPr>
          <p:cNvGraphicFramePr>
            <a:graphicFrameLocks noChangeAspect="1"/>
          </p:cNvGraphicFramePr>
          <p:nvPr>
            <p:custDataLst>
              <p:tags r:id="rId1"/>
            </p:custDataLst>
          </p:nvPr>
        </p:nvGraphicFramePr>
        <p:xfrm>
          <a:off x="7934" y="4264"/>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96" name="think-cell data - do not delete" hidden="1">
                        <a:extLst>
                          <a:ext uri="{FF2B5EF4-FFF2-40B4-BE49-F238E27FC236}">
                            <a16:creationId xmlns:a16="http://schemas.microsoft.com/office/drawing/2014/main" id="{377187D0-FB14-791E-4505-ABEB9229576C}"/>
                          </a:ext>
                        </a:extLst>
                      </p:cNvPr>
                      <p:cNvPicPr/>
                      <p:nvPr/>
                    </p:nvPicPr>
                    <p:blipFill>
                      <a:blip r:embed="rId5"/>
                      <a:stretch>
                        <a:fillRect/>
                      </a:stretch>
                    </p:blipFill>
                    <p:spPr>
                      <a:xfrm>
                        <a:off x="7934" y="4264"/>
                        <a:ext cx="1588" cy="1588"/>
                      </a:xfrm>
                      <a:prstGeom prst="rect">
                        <a:avLst/>
                      </a:prstGeom>
                    </p:spPr>
                  </p:pic>
                </p:oleObj>
              </mc:Fallback>
            </mc:AlternateContent>
          </a:graphicData>
        </a:graphic>
      </p:graphicFrame>
      <p:sp>
        <p:nvSpPr>
          <p:cNvPr id="172" name="Rectangle 171" hidden="1">
            <a:extLst>
              <a:ext uri="{FF2B5EF4-FFF2-40B4-BE49-F238E27FC236}">
                <a16:creationId xmlns:a16="http://schemas.microsoft.com/office/drawing/2014/main" id="{F308FDAF-0BEC-616D-9DDC-7FA327CF0C4D}"/>
              </a:ext>
            </a:extLst>
          </p:cNvPr>
          <p:cNvSpPr/>
          <p:nvPr/>
        </p:nvSpPr>
        <p:spPr bwMode="gray">
          <a:xfrm>
            <a:off x="1445560" y="2954166"/>
            <a:ext cx="4469812" cy="2142220"/>
          </a:xfrm>
          <a:prstGeom prst="rect">
            <a:avLst/>
          </a:prstGeom>
          <a:noFill/>
          <a:ln w="25400" algn="ctr">
            <a:noFill/>
            <a:miter lim="800000"/>
            <a:headEnd/>
            <a:tailEnd/>
          </a:ln>
        </p:spPr>
        <p:txBody>
          <a:bodyPr lIns="182736" tIns="146190" rIns="182736" bIns="146190" rtlCol="0" anchor="ctr"/>
          <a:lstStyle/>
          <a:p>
            <a:pPr algn="ctr" defTabSz="1088176" fontAlgn="base">
              <a:spcAft>
                <a:spcPct val="0"/>
              </a:spcAft>
              <a:buClr>
                <a:srgbClr val="F0AB00"/>
              </a:buClr>
              <a:buSzPct val="80000"/>
              <a:defRPr/>
            </a:pPr>
            <a:r>
              <a:rPr lang="en-US" sz="1400" spc="50">
                <a:gradFill flip="none" rotWithShape="1">
                  <a:gsLst>
                    <a:gs pos="0">
                      <a:srgbClr val="89D1FF"/>
                    </a:gs>
                    <a:gs pos="100000">
                      <a:srgbClr val="1B90FF"/>
                    </a:gs>
                  </a:gsLst>
                  <a:lin ang="10800000" scaled="1"/>
                  <a:tileRect/>
                </a:gradFill>
                <a:latin typeface="72 Brand Medium"/>
              </a:rPr>
              <a:t>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a:t>
            </a:r>
            <a:endParaRPr lang="en-US" sz="1400" kern="0">
              <a:gradFill flip="none" rotWithShape="1">
                <a:gsLst>
                  <a:gs pos="0">
                    <a:srgbClr val="89D1FF"/>
                  </a:gs>
                  <a:gs pos="100000">
                    <a:srgbClr val="1B90FF"/>
                  </a:gs>
                </a:gsLst>
                <a:lin ang="10800000" scaled="1"/>
                <a:tileRect/>
              </a:gradFill>
              <a:latin typeface="72 Brand"/>
              <a:ea typeface="72 Brand" pitchFamily="34" charset="-128"/>
              <a:cs typeface="72 Brand" pitchFamily="34" charset="-128"/>
            </a:endParaRPr>
          </a:p>
        </p:txBody>
      </p:sp>
      <p:grpSp>
        <p:nvGrpSpPr>
          <p:cNvPr id="142" name="Group 141" hidden="1">
            <a:extLst>
              <a:ext uri="{FF2B5EF4-FFF2-40B4-BE49-F238E27FC236}">
                <a16:creationId xmlns:a16="http://schemas.microsoft.com/office/drawing/2014/main" id="{6F534C1A-10E0-1521-4DCB-E6EB656634BA}"/>
              </a:ext>
            </a:extLst>
          </p:cNvPr>
          <p:cNvGrpSpPr/>
          <p:nvPr/>
        </p:nvGrpSpPr>
        <p:grpSpPr>
          <a:xfrm>
            <a:off x="2545528" y="1260063"/>
            <a:ext cx="4649202" cy="1958791"/>
            <a:chOff x="2541163" y="1319324"/>
            <a:chExt cx="4652836" cy="1960322"/>
          </a:xfrm>
        </p:grpSpPr>
        <p:sp>
          <p:nvSpPr>
            <p:cNvPr id="88" name="Freeform: Shape 87">
              <a:extLst>
                <a:ext uri="{FF2B5EF4-FFF2-40B4-BE49-F238E27FC236}">
                  <a16:creationId xmlns:a16="http://schemas.microsoft.com/office/drawing/2014/main" id="{1CD09ADA-4783-B2DB-B3EF-A66348908C64}"/>
                </a:ext>
              </a:extLst>
            </p:cNvPr>
            <p:cNvSpPr/>
            <p:nvPr/>
          </p:nvSpPr>
          <p:spPr>
            <a:xfrm>
              <a:off x="2592613" y="1648970"/>
              <a:ext cx="283571" cy="329519"/>
            </a:xfrm>
            <a:custGeom>
              <a:avLst/>
              <a:gdLst>
                <a:gd name="connsiteX0" fmla="*/ 283572 w 283571"/>
                <a:gd name="connsiteY0" fmla="*/ 329520 h 329519"/>
                <a:gd name="connsiteX1" fmla="*/ 283572 w 283571"/>
                <a:gd name="connsiteY1" fmla="*/ 0 h 329519"/>
                <a:gd name="connsiteX2" fmla="*/ 0 w 283571"/>
                <a:gd name="connsiteY2" fmla="*/ 0 h 329519"/>
              </a:gdLst>
              <a:ahLst/>
              <a:cxnLst>
                <a:cxn ang="0">
                  <a:pos x="connsiteX0" y="connsiteY0"/>
                </a:cxn>
                <a:cxn ang="0">
                  <a:pos x="connsiteX1" y="connsiteY1"/>
                </a:cxn>
                <a:cxn ang="0">
                  <a:pos x="connsiteX2" y="connsiteY2"/>
                </a:cxn>
              </a:cxnLst>
              <a:rect l="l" t="t" r="r" b="b"/>
              <a:pathLst>
                <a:path w="283571" h="329519">
                  <a:moveTo>
                    <a:pt x="283572" y="329520"/>
                  </a:moveTo>
                  <a:lnTo>
                    <a:pt x="283572" y="0"/>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8" name="Freeform: Shape 127">
              <a:extLst>
                <a:ext uri="{FF2B5EF4-FFF2-40B4-BE49-F238E27FC236}">
                  <a16:creationId xmlns:a16="http://schemas.microsoft.com/office/drawing/2014/main" id="{26B766D0-3A11-EDCA-12EB-E4DA448E253F}"/>
                </a:ext>
              </a:extLst>
            </p:cNvPr>
            <p:cNvSpPr/>
            <p:nvPr/>
          </p:nvSpPr>
          <p:spPr>
            <a:xfrm>
              <a:off x="2592613" y="2299224"/>
              <a:ext cx="295027" cy="1804"/>
            </a:xfrm>
            <a:custGeom>
              <a:avLst/>
              <a:gdLst>
                <a:gd name="connsiteX0" fmla="*/ 295027 w 295027"/>
                <a:gd name="connsiteY0" fmla="*/ 0 h 1804"/>
                <a:gd name="connsiteX1" fmla="*/ 0 w 295027"/>
                <a:gd name="connsiteY1" fmla="*/ 0 h 1804"/>
              </a:gdLst>
              <a:ahLst/>
              <a:cxnLst>
                <a:cxn ang="0">
                  <a:pos x="connsiteX0" y="connsiteY0"/>
                </a:cxn>
                <a:cxn ang="0">
                  <a:pos x="connsiteX1" y="connsiteY1"/>
                </a:cxn>
              </a:cxnLst>
              <a:rect l="l" t="t" r="r" b="b"/>
              <a:pathLst>
                <a:path w="295027" h="1804">
                  <a:moveTo>
                    <a:pt x="295027"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grpSp>
          <p:nvGrpSpPr>
            <p:cNvPr id="141" name="Group 140">
              <a:extLst>
                <a:ext uri="{FF2B5EF4-FFF2-40B4-BE49-F238E27FC236}">
                  <a16:creationId xmlns:a16="http://schemas.microsoft.com/office/drawing/2014/main" id="{74AE522C-EC96-6389-8BC0-8682E5A47F7B}"/>
                </a:ext>
              </a:extLst>
            </p:cNvPr>
            <p:cNvGrpSpPr/>
            <p:nvPr/>
          </p:nvGrpSpPr>
          <p:grpSpPr>
            <a:xfrm>
              <a:off x="2541163" y="1319324"/>
              <a:ext cx="4652836" cy="1960322"/>
              <a:chOff x="2541163" y="1319324"/>
              <a:chExt cx="4652836" cy="1960322"/>
            </a:xfrm>
          </p:grpSpPr>
          <p:sp>
            <p:nvSpPr>
              <p:cNvPr id="72" name="Freeform: Shape 71">
                <a:extLst>
                  <a:ext uri="{FF2B5EF4-FFF2-40B4-BE49-F238E27FC236}">
                    <a16:creationId xmlns:a16="http://schemas.microsoft.com/office/drawing/2014/main" id="{5B3DD518-74F4-CF05-89C4-866DDE275EF2}"/>
                  </a:ext>
                </a:extLst>
              </p:cNvPr>
              <p:cNvSpPr/>
              <p:nvPr/>
            </p:nvSpPr>
            <p:spPr>
              <a:xfrm>
                <a:off x="2592613" y="1324141"/>
                <a:ext cx="1271553" cy="1269677"/>
              </a:xfrm>
              <a:custGeom>
                <a:avLst/>
                <a:gdLst>
                  <a:gd name="connsiteX0" fmla="*/ 1271553 w 1271553"/>
                  <a:gd name="connsiteY0" fmla="*/ 0 h 1269677"/>
                  <a:gd name="connsiteX1" fmla="*/ 0 w 1271553"/>
                  <a:gd name="connsiteY1" fmla="*/ 1269677 h 1269677"/>
                </a:gdLst>
                <a:ahLst/>
                <a:cxnLst>
                  <a:cxn ang="0">
                    <a:pos x="connsiteX0" y="connsiteY0"/>
                  </a:cxn>
                  <a:cxn ang="0">
                    <a:pos x="connsiteX1" y="connsiteY1"/>
                  </a:cxn>
                </a:cxnLst>
                <a:rect l="l" t="t" r="r" b="b"/>
                <a:pathLst>
                  <a:path w="1271553" h="1269677">
                    <a:moveTo>
                      <a:pt x="1271553" y="0"/>
                    </a:moveTo>
                    <a:lnTo>
                      <a:pt x="0" y="1269677"/>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73" name="Freeform: Shape 72">
                <a:extLst>
                  <a:ext uri="{FF2B5EF4-FFF2-40B4-BE49-F238E27FC236}">
                    <a16:creationId xmlns:a16="http://schemas.microsoft.com/office/drawing/2014/main" id="{4C437796-885E-E5EB-8EE6-3610D26B0E42}"/>
                  </a:ext>
                </a:extLst>
              </p:cNvPr>
              <p:cNvSpPr/>
              <p:nvPr/>
            </p:nvSpPr>
            <p:spPr>
              <a:xfrm>
                <a:off x="3879645" y="1971274"/>
                <a:ext cx="660139" cy="1804"/>
              </a:xfrm>
              <a:custGeom>
                <a:avLst/>
                <a:gdLst>
                  <a:gd name="connsiteX0" fmla="*/ 660140 w 660139"/>
                  <a:gd name="connsiteY0" fmla="*/ 0 h 1804"/>
                  <a:gd name="connsiteX1" fmla="*/ 0 w 660139"/>
                  <a:gd name="connsiteY1" fmla="*/ 0 h 1804"/>
                </a:gdLst>
                <a:ahLst/>
                <a:cxnLst>
                  <a:cxn ang="0">
                    <a:pos x="connsiteX0" y="connsiteY0"/>
                  </a:cxn>
                  <a:cxn ang="0">
                    <a:pos x="connsiteX1" y="connsiteY1"/>
                  </a:cxn>
                </a:cxnLst>
                <a:rect l="l" t="t" r="r" b="b"/>
                <a:pathLst>
                  <a:path w="660139" h="1804">
                    <a:moveTo>
                      <a:pt x="660140"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77" name="Freeform: Shape 76">
                <a:extLst>
                  <a:ext uri="{FF2B5EF4-FFF2-40B4-BE49-F238E27FC236}">
                    <a16:creationId xmlns:a16="http://schemas.microsoft.com/office/drawing/2014/main" id="{1B171CCF-9AED-1B8B-03A1-C20345C3B6AF}"/>
                  </a:ext>
                </a:extLst>
              </p:cNvPr>
              <p:cNvSpPr/>
              <p:nvPr/>
            </p:nvSpPr>
            <p:spPr>
              <a:xfrm>
                <a:off x="2621892" y="1324141"/>
                <a:ext cx="1905841" cy="1903027"/>
              </a:xfrm>
              <a:custGeom>
                <a:avLst/>
                <a:gdLst>
                  <a:gd name="connsiteX0" fmla="*/ 0 w 1905841"/>
                  <a:gd name="connsiteY0" fmla="*/ 1903027 h 1903027"/>
                  <a:gd name="connsiteX1" fmla="*/ 1905842 w 1905841"/>
                  <a:gd name="connsiteY1" fmla="*/ 0 h 1903027"/>
                  <a:gd name="connsiteX2" fmla="*/ 1905842 w 1905841"/>
                  <a:gd name="connsiteY2" fmla="*/ 325461 h 1903027"/>
                </a:gdLst>
                <a:ahLst/>
                <a:cxnLst>
                  <a:cxn ang="0">
                    <a:pos x="connsiteX0" y="connsiteY0"/>
                  </a:cxn>
                  <a:cxn ang="0">
                    <a:pos x="connsiteX1" y="connsiteY1"/>
                  </a:cxn>
                  <a:cxn ang="0">
                    <a:pos x="connsiteX2" y="connsiteY2"/>
                  </a:cxn>
                </a:cxnLst>
                <a:rect l="l" t="t" r="r" b="b"/>
                <a:pathLst>
                  <a:path w="1905841" h="1903027">
                    <a:moveTo>
                      <a:pt x="0" y="1903027"/>
                    </a:moveTo>
                    <a:lnTo>
                      <a:pt x="1905842" y="0"/>
                    </a:lnTo>
                    <a:lnTo>
                      <a:pt x="1905842" y="32546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0" name="Freeform: Shape 79">
                <a:extLst>
                  <a:ext uri="{FF2B5EF4-FFF2-40B4-BE49-F238E27FC236}">
                    <a16:creationId xmlns:a16="http://schemas.microsoft.com/office/drawing/2014/main" id="{A7940E73-A1DC-128B-B61A-2D11875E46D3}"/>
                  </a:ext>
                </a:extLst>
              </p:cNvPr>
              <p:cNvSpPr/>
              <p:nvPr/>
            </p:nvSpPr>
            <p:spPr>
              <a:xfrm>
                <a:off x="3243588" y="1319324"/>
                <a:ext cx="1950364" cy="1947478"/>
              </a:xfrm>
              <a:custGeom>
                <a:avLst/>
                <a:gdLst>
                  <a:gd name="connsiteX0" fmla="*/ 0 w 1950364"/>
                  <a:gd name="connsiteY0" fmla="*/ 1947478 h 1947478"/>
                  <a:gd name="connsiteX1" fmla="*/ 1950365 w 1950364"/>
                  <a:gd name="connsiteY1" fmla="*/ 0 h 1947478"/>
                  <a:gd name="connsiteX2" fmla="*/ 1950365 w 1950364"/>
                  <a:gd name="connsiteY2" fmla="*/ 329646 h 1947478"/>
                </a:gdLst>
                <a:ahLst/>
                <a:cxnLst>
                  <a:cxn ang="0">
                    <a:pos x="connsiteX0" y="connsiteY0"/>
                  </a:cxn>
                  <a:cxn ang="0">
                    <a:pos x="connsiteX1" y="connsiteY1"/>
                  </a:cxn>
                  <a:cxn ang="0">
                    <a:pos x="connsiteX2" y="connsiteY2"/>
                  </a:cxn>
                </a:cxnLst>
                <a:rect l="l" t="t" r="r" b="b"/>
                <a:pathLst>
                  <a:path w="1950364" h="1947478">
                    <a:moveTo>
                      <a:pt x="0" y="1947478"/>
                    </a:moveTo>
                    <a:lnTo>
                      <a:pt x="1950365" y="0"/>
                    </a:lnTo>
                    <a:lnTo>
                      <a:pt x="1950365" y="329646"/>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5" name="Freeform: Shape 84">
                <a:extLst>
                  <a:ext uri="{FF2B5EF4-FFF2-40B4-BE49-F238E27FC236}">
                    <a16:creationId xmlns:a16="http://schemas.microsoft.com/office/drawing/2014/main" id="{E287A354-1EF6-1B8B-5ED7-0DF4DC413CFA}"/>
                  </a:ext>
                </a:extLst>
              </p:cNvPr>
              <p:cNvSpPr/>
              <p:nvPr/>
            </p:nvSpPr>
            <p:spPr>
              <a:xfrm>
                <a:off x="4587862" y="1707645"/>
                <a:ext cx="1534810" cy="1532529"/>
              </a:xfrm>
              <a:custGeom>
                <a:avLst/>
                <a:gdLst>
                  <a:gd name="connsiteX0" fmla="*/ 0 w 1918884"/>
                  <a:gd name="connsiteY0" fmla="*/ 1916034 h 1916034"/>
                  <a:gd name="connsiteX1" fmla="*/ 1918885 w 1918884"/>
                  <a:gd name="connsiteY1" fmla="*/ 0 h 1916034"/>
                  <a:gd name="connsiteX2" fmla="*/ 1918885 w 1918884"/>
                  <a:gd name="connsiteY2" fmla="*/ 324829 h 1916034"/>
                  <a:gd name="connsiteX0" fmla="*/ 0 w 1918885"/>
                  <a:gd name="connsiteY0" fmla="*/ 1916034 h 1916034"/>
                  <a:gd name="connsiteX1" fmla="*/ 1918885 w 1918885"/>
                  <a:gd name="connsiteY1" fmla="*/ 0 h 1916034"/>
                </a:gdLst>
                <a:ahLst/>
                <a:cxnLst>
                  <a:cxn ang="0">
                    <a:pos x="connsiteX0" y="connsiteY0"/>
                  </a:cxn>
                  <a:cxn ang="0">
                    <a:pos x="connsiteX1" y="connsiteY1"/>
                  </a:cxn>
                </a:cxnLst>
                <a:rect l="l" t="t" r="r" b="b"/>
                <a:pathLst>
                  <a:path w="1918885" h="1916034">
                    <a:moveTo>
                      <a:pt x="0" y="1916034"/>
                    </a:moveTo>
                    <a:lnTo>
                      <a:pt x="1918885"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6" name="Freeform: Shape 85">
                <a:extLst>
                  <a:ext uri="{FF2B5EF4-FFF2-40B4-BE49-F238E27FC236}">
                    <a16:creationId xmlns:a16="http://schemas.microsoft.com/office/drawing/2014/main" id="{A09D62EE-3197-B490-04E2-9B4E92B02682}"/>
                  </a:ext>
                </a:extLst>
              </p:cNvPr>
              <p:cNvSpPr/>
              <p:nvPr/>
            </p:nvSpPr>
            <p:spPr>
              <a:xfrm>
                <a:off x="5245565" y="1782295"/>
                <a:ext cx="1460035" cy="1457880"/>
              </a:xfrm>
              <a:custGeom>
                <a:avLst/>
                <a:gdLst>
                  <a:gd name="connsiteX0" fmla="*/ 0 w 1918866"/>
                  <a:gd name="connsiteY0" fmla="*/ 1916034 h 1916034"/>
                  <a:gd name="connsiteX1" fmla="*/ 1918867 w 1918866"/>
                  <a:gd name="connsiteY1" fmla="*/ 0 h 1916034"/>
                </a:gdLst>
                <a:ahLst/>
                <a:cxnLst>
                  <a:cxn ang="0">
                    <a:pos x="connsiteX0" y="connsiteY0"/>
                  </a:cxn>
                  <a:cxn ang="0">
                    <a:pos x="connsiteX1" y="connsiteY1"/>
                  </a:cxn>
                </a:cxnLst>
                <a:rect l="l" t="t" r="r" b="b"/>
                <a:pathLst>
                  <a:path w="1918866" h="1916034">
                    <a:moveTo>
                      <a:pt x="0" y="1916034"/>
                    </a:moveTo>
                    <a:lnTo>
                      <a:pt x="1918867"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7" name="Freeform: Shape 86">
                <a:extLst>
                  <a:ext uri="{FF2B5EF4-FFF2-40B4-BE49-F238E27FC236}">
                    <a16:creationId xmlns:a16="http://schemas.microsoft.com/office/drawing/2014/main" id="{0F23B646-773F-D63D-20A3-FB2D6079B68E}"/>
                  </a:ext>
                </a:extLst>
              </p:cNvPr>
              <p:cNvSpPr/>
              <p:nvPr/>
            </p:nvSpPr>
            <p:spPr>
              <a:xfrm>
                <a:off x="5894971" y="2491222"/>
                <a:ext cx="768719" cy="767570"/>
              </a:xfrm>
              <a:custGeom>
                <a:avLst/>
                <a:gdLst>
                  <a:gd name="connsiteX0" fmla="*/ 0 w 1918884"/>
                  <a:gd name="connsiteY0" fmla="*/ 1916016 h 1916016"/>
                  <a:gd name="connsiteX1" fmla="*/ 1918885 w 1918884"/>
                  <a:gd name="connsiteY1" fmla="*/ 0 h 1916016"/>
                </a:gdLst>
                <a:ahLst/>
                <a:cxnLst>
                  <a:cxn ang="0">
                    <a:pos x="connsiteX0" y="connsiteY0"/>
                  </a:cxn>
                  <a:cxn ang="0">
                    <a:pos x="connsiteX1" y="connsiteY1"/>
                  </a:cxn>
                </a:cxnLst>
                <a:rect l="l" t="t" r="r" b="b"/>
                <a:pathLst>
                  <a:path w="1918884" h="1916016">
                    <a:moveTo>
                      <a:pt x="0" y="1916016"/>
                    </a:moveTo>
                    <a:lnTo>
                      <a:pt x="1918885"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9" name="Freeform: Shape 88">
                <a:extLst>
                  <a:ext uri="{FF2B5EF4-FFF2-40B4-BE49-F238E27FC236}">
                    <a16:creationId xmlns:a16="http://schemas.microsoft.com/office/drawing/2014/main" id="{700845A9-0A06-8F86-A206-B562A8283713}"/>
                  </a:ext>
                </a:extLst>
              </p:cNvPr>
              <p:cNvSpPr/>
              <p:nvPr/>
            </p:nvSpPr>
            <p:spPr>
              <a:xfrm>
                <a:off x="2541163" y="1328687"/>
                <a:ext cx="667283" cy="972106"/>
              </a:xfrm>
              <a:custGeom>
                <a:avLst/>
                <a:gdLst>
                  <a:gd name="connsiteX0" fmla="*/ 667284 w 667283"/>
                  <a:gd name="connsiteY0" fmla="*/ 972106 h 972106"/>
                  <a:gd name="connsiteX1" fmla="*/ 667284 w 667283"/>
                  <a:gd name="connsiteY1" fmla="*/ 649803 h 972106"/>
                  <a:gd name="connsiteX2" fmla="*/ 51450 w 667283"/>
                  <a:gd name="connsiteY2" fmla="*/ 649803 h 972106"/>
                  <a:gd name="connsiteX3" fmla="*/ 0 w 667283"/>
                  <a:gd name="connsiteY3" fmla="*/ 649803 h 972106"/>
                  <a:gd name="connsiteX4" fmla="*/ 51450 w 667283"/>
                  <a:gd name="connsiteY4" fmla="*/ 602989 h 972106"/>
                  <a:gd name="connsiteX5" fmla="*/ 656279 w 667283"/>
                  <a:gd name="connsiteY5" fmla="*/ 0 h 97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7283" h="972106">
                    <a:moveTo>
                      <a:pt x="667284" y="972106"/>
                    </a:moveTo>
                    <a:lnTo>
                      <a:pt x="667284" y="649803"/>
                    </a:lnTo>
                    <a:lnTo>
                      <a:pt x="51450" y="649803"/>
                    </a:lnTo>
                    <a:lnTo>
                      <a:pt x="0" y="649803"/>
                    </a:lnTo>
                    <a:lnTo>
                      <a:pt x="51450" y="602989"/>
                    </a:lnTo>
                    <a:lnTo>
                      <a:pt x="656279"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90" name="Freeform: Shape 89">
                <a:extLst>
                  <a:ext uri="{FF2B5EF4-FFF2-40B4-BE49-F238E27FC236}">
                    <a16:creationId xmlns:a16="http://schemas.microsoft.com/office/drawing/2014/main" id="{DBCB02E7-D080-40C0-1DF9-36CB669635C0}"/>
                  </a:ext>
                </a:extLst>
              </p:cNvPr>
              <p:cNvSpPr/>
              <p:nvPr/>
            </p:nvSpPr>
            <p:spPr>
              <a:xfrm>
                <a:off x="3208446" y="1324141"/>
                <a:ext cx="1668091" cy="1625986"/>
              </a:xfrm>
              <a:custGeom>
                <a:avLst/>
                <a:gdLst>
                  <a:gd name="connsiteX0" fmla="*/ 0 w 1668091"/>
                  <a:gd name="connsiteY0" fmla="*/ 0 h 1625986"/>
                  <a:gd name="connsiteX1" fmla="*/ 0 w 1668091"/>
                  <a:gd name="connsiteY1" fmla="*/ 324829 h 1625986"/>
                  <a:gd name="connsiteX2" fmla="*/ 332298 w 1668091"/>
                  <a:gd name="connsiteY2" fmla="*/ 324829 h 1625986"/>
                  <a:gd name="connsiteX3" fmla="*/ 332298 w 1668091"/>
                  <a:gd name="connsiteY3" fmla="*/ 647133 h 1625986"/>
                  <a:gd name="connsiteX4" fmla="*/ 671198 w 1668091"/>
                  <a:gd name="connsiteY4" fmla="*/ 647133 h 1625986"/>
                  <a:gd name="connsiteX5" fmla="*/ 671198 w 1668091"/>
                  <a:gd name="connsiteY5" fmla="*/ 975083 h 1625986"/>
                  <a:gd name="connsiteX6" fmla="*/ 1004146 w 1668091"/>
                  <a:gd name="connsiteY6" fmla="*/ 975083 h 1625986"/>
                  <a:gd name="connsiteX7" fmla="*/ 1004146 w 1668091"/>
                  <a:gd name="connsiteY7" fmla="*/ 1301049 h 1625986"/>
                  <a:gd name="connsiteX8" fmla="*/ 1332330 w 1668091"/>
                  <a:gd name="connsiteY8" fmla="*/ 1301049 h 1625986"/>
                  <a:gd name="connsiteX9" fmla="*/ 1332330 w 1668091"/>
                  <a:gd name="connsiteY9" fmla="*/ 1625986 h 1625986"/>
                  <a:gd name="connsiteX10" fmla="*/ 1668092 w 1668091"/>
                  <a:gd name="connsiteY10" fmla="*/ 1625986 h 1625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091" h="1625986">
                    <a:moveTo>
                      <a:pt x="0" y="0"/>
                    </a:moveTo>
                    <a:lnTo>
                      <a:pt x="0" y="324829"/>
                    </a:lnTo>
                    <a:lnTo>
                      <a:pt x="332298" y="324829"/>
                    </a:lnTo>
                    <a:lnTo>
                      <a:pt x="332298" y="647133"/>
                    </a:lnTo>
                    <a:lnTo>
                      <a:pt x="671198" y="647133"/>
                    </a:lnTo>
                    <a:lnTo>
                      <a:pt x="671198" y="975083"/>
                    </a:lnTo>
                    <a:lnTo>
                      <a:pt x="1004146" y="975083"/>
                    </a:lnTo>
                    <a:lnTo>
                      <a:pt x="1004146" y="1301049"/>
                    </a:lnTo>
                    <a:lnTo>
                      <a:pt x="1332330" y="1301049"/>
                    </a:lnTo>
                    <a:lnTo>
                      <a:pt x="1332330" y="1625986"/>
                    </a:lnTo>
                    <a:lnTo>
                      <a:pt x="1668092" y="1625986"/>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91" name="Freeform: Shape 90">
                <a:extLst>
                  <a:ext uri="{FF2B5EF4-FFF2-40B4-BE49-F238E27FC236}">
                    <a16:creationId xmlns:a16="http://schemas.microsoft.com/office/drawing/2014/main" id="{A7EC1A9A-2367-196A-CD4B-50FB4B1767FD}"/>
                  </a:ext>
                </a:extLst>
              </p:cNvPr>
              <p:cNvSpPr/>
              <p:nvPr/>
            </p:nvSpPr>
            <p:spPr>
              <a:xfrm>
                <a:off x="2887640" y="2299224"/>
                <a:ext cx="992744" cy="651931"/>
              </a:xfrm>
              <a:custGeom>
                <a:avLst/>
                <a:gdLst>
                  <a:gd name="connsiteX0" fmla="*/ 659526 w 992744"/>
                  <a:gd name="connsiteY0" fmla="*/ 329628 h 651931"/>
                  <a:gd name="connsiteX1" fmla="*/ 659526 w 992744"/>
                  <a:gd name="connsiteY1" fmla="*/ 3482 h 651931"/>
                  <a:gd name="connsiteX2" fmla="*/ 0 w 992744"/>
                  <a:gd name="connsiteY2" fmla="*/ 0 h 651931"/>
                  <a:gd name="connsiteX3" fmla="*/ 0 w 992744"/>
                  <a:gd name="connsiteY3" fmla="*/ 329628 h 651931"/>
                  <a:gd name="connsiteX4" fmla="*/ 333452 w 992744"/>
                  <a:gd name="connsiteY4" fmla="*/ 329628 h 651931"/>
                  <a:gd name="connsiteX5" fmla="*/ 992744 w 992744"/>
                  <a:gd name="connsiteY5" fmla="*/ 329628 h 651931"/>
                  <a:gd name="connsiteX6" fmla="*/ 992744 w 992744"/>
                  <a:gd name="connsiteY6" fmla="*/ 651932 h 6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744" h="651931">
                    <a:moveTo>
                      <a:pt x="659526" y="329628"/>
                    </a:moveTo>
                    <a:lnTo>
                      <a:pt x="659526" y="3482"/>
                    </a:lnTo>
                    <a:lnTo>
                      <a:pt x="0" y="0"/>
                    </a:lnTo>
                    <a:lnTo>
                      <a:pt x="0" y="329628"/>
                    </a:lnTo>
                    <a:lnTo>
                      <a:pt x="333452" y="329628"/>
                    </a:lnTo>
                    <a:lnTo>
                      <a:pt x="992744" y="329628"/>
                    </a:lnTo>
                    <a:lnTo>
                      <a:pt x="992744" y="651932"/>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0" name="Freeform: Shape 109">
                <a:extLst>
                  <a:ext uri="{FF2B5EF4-FFF2-40B4-BE49-F238E27FC236}">
                    <a16:creationId xmlns:a16="http://schemas.microsoft.com/office/drawing/2014/main" id="{819F59F1-50AE-E366-F029-B88E171C9F82}"/>
                  </a:ext>
                </a:extLst>
              </p:cNvPr>
              <p:cNvSpPr/>
              <p:nvPr/>
            </p:nvSpPr>
            <p:spPr>
              <a:xfrm>
                <a:off x="3559704" y="2950127"/>
                <a:ext cx="655268" cy="329519"/>
              </a:xfrm>
              <a:custGeom>
                <a:avLst/>
                <a:gdLst>
                  <a:gd name="connsiteX0" fmla="*/ 0 w 655268"/>
                  <a:gd name="connsiteY0" fmla="*/ 277041 h 329519"/>
                  <a:gd name="connsiteX1" fmla="*/ 0 w 655268"/>
                  <a:gd name="connsiteY1" fmla="*/ 0 h 329519"/>
                  <a:gd name="connsiteX2" fmla="*/ 320680 w 655268"/>
                  <a:gd name="connsiteY2" fmla="*/ 0 h 329519"/>
                  <a:gd name="connsiteX3" fmla="*/ 655269 w 655268"/>
                  <a:gd name="connsiteY3" fmla="*/ 0 h 329519"/>
                  <a:gd name="connsiteX4" fmla="*/ 655269 w 655268"/>
                  <a:gd name="connsiteY4" fmla="*/ 329520 h 329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268" h="329519">
                    <a:moveTo>
                      <a:pt x="0" y="277041"/>
                    </a:moveTo>
                    <a:lnTo>
                      <a:pt x="0" y="0"/>
                    </a:lnTo>
                    <a:lnTo>
                      <a:pt x="320680" y="0"/>
                    </a:lnTo>
                    <a:lnTo>
                      <a:pt x="655269" y="0"/>
                    </a:lnTo>
                    <a:lnTo>
                      <a:pt x="655269" y="32952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3" name="Freeform: Shape 112">
                <a:extLst>
                  <a:ext uri="{FF2B5EF4-FFF2-40B4-BE49-F238E27FC236}">
                    <a16:creationId xmlns:a16="http://schemas.microsoft.com/office/drawing/2014/main" id="{08A6A834-B880-EDC9-5E0B-AD89B08B5435}"/>
                  </a:ext>
                </a:extLst>
              </p:cNvPr>
              <p:cNvSpPr/>
              <p:nvPr/>
            </p:nvSpPr>
            <p:spPr>
              <a:xfrm>
                <a:off x="3540744" y="1648970"/>
                <a:ext cx="661691" cy="323548"/>
              </a:xfrm>
              <a:custGeom>
                <a:avLst/>
                <a:gdLst>
                  <a:gd name="connsiteX0" fmla="*/ 0 w 661691"/>
                  <a:gd name="connsiteY0" fmla="*/ 0 h 323548"/>
                  <a:gd name="connsiteX1" fmla="*/ 661691 w 661691"/>
                  <a:gd name="connsiteY1" fmla="*/ 0 h 323548"/>
                  <a:gd name="connsiteX2" fmla="*/ 661691 w 661691"/>
                  <a:gd name="connsiteY2" fmla="*/ 323548 h 323548"/>
                </a:gdLst>
                <a:ahLst/>
                <a:cxnLst>
                  <a:cxn ang="0">
                    <a:pos x="connsiteX0" y="connsiteY0"/>
                  </a:cxn>
                  <a:cxn ang="0">
                    <a:pos x="connsiteX1" y="connsiteY1"/>
                  </a:cxn>
                  <a:cxn ang="0">
                    <a:pos x="connsiteX2" y="connsiteY2"/>
                  </a:cxn>
                </a:cxnLst>
                <a:rect l="l" t="t" r="r" b="b"/>
                <a:pathLst>
                  <a:path w="661691" h="323548">
                    <a:moveTo>
                      <a:pt x="0" y="0"/>
                    </a:moveTo>
                    <a:lnTo>
                      <a:pt x="661691" y="0"/>
                    </a:lnTo>
                    <a:lnTo>
                      <a:pt x="661691" y="323548"/>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6" name="Freeform: Shape 115">
                <a:extLst>
                  <a:ext uri="{FF2B5EF4-FFF2-40B4-BE49-F238E27FC236}">
                    <a16:creationId xmlns:a16="http://schemas.microsoft.com/office/drawing/2014/main" id="{98752BF3-88DA-2B2F-FF56-B3EC793C3FED}"/>
                  </a:ext>
                </a:extLst>
              </p:cNvPr>
              <p:cNvSpPr/>
              <p:nvPr/>
            </p:nvSpPr>
            <p:spPr>
              <a:xfrm>
                <a:off x="3223600" y="2628852"/>
                <a:ext cx="336104" cy="321275"/>
              </a:xfrm>
              <a:custGeom>
                <a:avLst/>
                <a:gdLst>
                  <a:gd name="connsiteX0" fmla="*/ 336104 w 336104"/>
                  <a:gd name="connsiteY0" fmla="*/ 321275 h 321275"/>
                  <a:gd name="connsiteX1" fmla="*/ 0 w 336104"/>
                  <a:gd name="connsiteY1" fmla="*/ 321275 h 321275"/>
                  <a:gd name="connsiteX2" fmla="*/ 0 w 336104"/>
                  <a:gd name="connsiteY2" fmla="*/ 0 h 321275"/>
                </a:gdLst>
                <a:ahLst/>
                <a:cxnLst>
                  <a:cxn ang="0">
                    <a:pos x="connsiteX0" y="connsiteY0"/>
                  </a:cxn>
                  <a:cxn ang="0">
                    <a:pos x="connsiteX1" y="connsiteY1"/>
                  </a:cxn>
                  <a:cxn ang="0">
                    <a:pos x="connsiteX2" y="connsiteY2"/>
                  </a:cxn>
                </a:cxnLst>
                <a:rect l="l" t="t" r="r" b="b"/>
                <a:pathLst>
                  <a:path w="336104" h="321275">
                    <a:moveTo>
                      <a:pt x="336104" y="321275"/>
                    </a:moveTo>
                    <a:lnTo>
                      <a:pt x="0" y="321275"/>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7" name="Freeform: Shape 126">
                <a:extLst>
                  <a:ext uri="{FF2B5EF4-FFF2-40B4-BE49-F238E27FC236}">
                    <a16:creationId xmlns:a16="http://schemas.microsoft.com/office/drawing/2014/main" id="{D7907F4F-38F5-9F44-2947-33088C05F00F}"/>
                  </a:ext>
                </a:extLst>
              </p:cNvPr>
              <p:cNvSpPr/>
              <p:nvPr/>
            </p:nvSpPr>
            <p:spPr>
              <a:xfrm>
                <a:off x="2586551" y="2956441"/>
                <a:ext cx="306464" cy="314961"/>
              </a:xfrm>
              <a:custGeom>
                <a:avLst/>
                <a:gdLst>
                  <a:gd name="connsiteX0" fmla="*/ 306464 w 306464"/>
                  <a:gd name="connsiteY0" fmla="*/ 314961 h 314961"/>
                  <a:gd name="connsiteX1" fmla="*/ 306464 w 306464"/>
                  <a:gd name="connsiteY1" fmla="*/ 0 h 314961"/>
                  <a:gd name="connsiteX2" fmla="*/ 0 w 306464"/>
                  <a:gd name="connsiteY2" fmla="*/ 0 h 314961"/>
                </a:gdLst>
                <a:ahLst/>
                <a:cxnLst>
                  <a:cxn ang="0">
                    <a:pos x="connsiteX0" y="connsiteY0"/>
                  </a:cxn>
                  <a:cxn ang="0">
                    <a:pos x="connsiteX1" y="connsiteY1"/>
                  </a:cxn>
                  <a:cxn ang="0">
                    <a:pos x="connsiteX2" y="connsiteY2"/>
                  </a:cxn>
                </a:cxnLst>
                <a:rect l="l" t="t" r="r" b="b"/>
                <a:pathLst>
                  <a:path w="306464" h="314961">
                    <a:moveTo>
                      <a:pt x="306464" y="314961"/>
                    </a:moveTo>
                    <a:lnTo>
                      <a:pt x="306464" y="0"/>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9" name="Freeform: Shape 128">
                <a:extLst>
                  <a:ext uri="{FF2B5EF4-FFF2-40B4-BE49-F238E27FC236}">
                    <a16:creationId xmlns:a16="http://schemas.microsoft.com/office/drawing/2014/main" id="{ABBC2D48-C98F-0EEF-EAD2-6E429F4B16D0}"/>
                  </a:ext>
                </a:extLst>
              </p:cNvPr>
              <p:cNvSpPr/>
              <p:nvPr/>
            </p:nvSpPr>
            <p:spPr>
              <a:xfrm>
                <a:off x="4526344" y="1648970"/>
                <a:ext cx="2039446" cy="1617832"/>
              </a:xfrm>
              <a:custGeom>
                <a:avLst/>
                <a:gdLst>
                  <a:gd name="connsiteX0" fmla="*/ 0 w 2039446"/>
                  <a:gd name="connsiteY0" fmla="*/ 0 h 1617832"/>
                  <a:gd name="connsiteX1" fmla="*/ 337475 w 2039446"/>
                  <a:gd name="connsiteY1" fmla="*/ 0 h 1617832"/>
                  <a:gd name="connsiteX2" fmla="*/ 337475 w 2039446"/>
                  <a:gd name="connsiteY2" fmla="*/ 322304 h 1617832"/>
                  <a:gd name="connsiteX3" fmla="*/ 667608 w 2039446"/>
                  <a:gd name="connsiteY3" fmla="*/ 322304 h 1617832"/>
                  <a:gd name="connsiteX4" fmla="*/ 667608 w 2039446"/>
                  <a:gd name="connsiteY4" fmla="*/ 644102 h 1617832"/>
                  <a:gd name="connsiteX5" fmla="*/ 1010045 w 2039446"/>
                  <a:gd name="connsiteY5" fmla="*/ 644102 h 1617832"/>
                  <a:gd name="connsiteX6" fmla="*/ 1010045 w 2039446"/>
                  <a:gd name="connsiteY6" fmla="*/ 963646 h 1617832"/>
                  <a:gd name="connsiteX7" fmla="*/ 1347719 w 2039446"/>
                  <a:gd name="connsiteY7" fmla="*/ 963646 h 1617832"/>
                  <a:gd name="connsiteX8" fmla="*/ 1347719 w 2039446"/>
                  <a:gd name="connsiteY8" fmla="*/ 1302185 h 1617832"/>
                  <a:gd name="connsiteX9" fmla="*/ 1676751 w 2039446"/>
                  <a:gd name="connsiteY9" fmla="*/ 1302185 h 1617832"/>
                  <a:gd name="connsiteX10" fmla="*/ 1676751 w 2039446"/>
                  <a:gd name="connsiteY10" fmla="*/ 1617832 h 1617832"/>
                  <a:gd name="connsiteX11" fmla="*/ 2039446 w 2039446"/>
                  <a:gd name="connsiteY11" fmla="*/ 1617832 h 161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9446" h="1617832">
                    <a:moveTo>
                      <a:pt x="0" y="0"/>
                    </a:moveTo>
                    <a:lnTo>
                      <a:pt x="337475" y="0"/>
                    </a:lnTo>
                    <a:lnTo>
                      <a:pt x="337475" y="322304"/>
                    </a:lnTo>
                    <a:lnTo>
                      <a:pt x="667608" y="322304"/>
                    </a:lnTo>
                    <a:lnTo>
                      <a:pt x="667608" y="644102"/>
                    </a:lnTo>
                    <a:lnTo>
                      <a:pt x="1010045" y="644102"/>
                    </a:lnTo>
                    <a:lnTo>
                      <a:pt x="1010045" y="963646"/>
                    </a:lnTo>
                    <a:lnTo>
                      <a:pt x="1347719" y="963646"/>
                    </a:lnTo>
                    <a:lnTo>
                      <a:pt x="1347719" y="1302185"/>
                    </a:lnTo>
                    <a:lnTo>
                      <a:pt x="1676751" y="1302185"/>
                    </a:lnTo>
                    <a:lnTo>
                      <a:pt x="1676751" y="1617832"/>
                    </a:lnTo>
                    <a:lnTo>
                      <a:pt x="2039446" y="1617832"/>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1" name="Freeform: Shape 130">
                <a:extLst>
                  <a:ext uri="{FF2B5EF4-FFF2-40B4-BE49-F238E27FC236}">
                    <a16:creationId xmlns:a16="http://schemas.microsoft.com/office/drawing/2014/main" id="{0F4ABA63-ED9B-5E1E-146A-3B459F4EEAD4}"/>
                  </a:ext>
                </a:extLst>
              </p:cNvPr>
              <p:cNvSpPr/>
              <p:nvPr/>
            </p:nvSpPr>
            <p:spPr>
              <a:xfrm>
                <a:off x="4539784" y="1971274"/>
                <a:ext cx="1373858" cy="1268901"/>
              </a:xfrm>
              <a:custGeom>
                <a:avLst/>
                <a:gdLst>
                  <a:gd name="connsiteX0" fmla="*/ 0 w 1373858"/>
                  <a:gd name="connsiteY0" fmla="*/ 0 h 1268901"/>
                  <a:gd name="connsiteX1" fmla="*/ 0 w 1373858"/>
                  <a:gd name="connsiteY1" fmla="*/ 321798 h 1268901"/>
                  <a:gd name="connsiteX2" fmla="*/ 333705 w 1373858"/>
                  <a:gd name="connsiteY2" fmla="*/ 321798 h 1268901"/>
                  <a:gd name="connsiteX3" fmla="*/ 333705 w 1373858"/>
                  <a:gd name="connsiteY3" fmla="*/ 653916 h 1268901"/>
                  <a:gd name="connsiteX4" fmla="*/ 662178 w 1373858"/>
                  <a:gd name="connsiteY4" fmla="*/ 653916 h 1268901"/>
                  <a:gd name="connsiteX5" fmla="*/ 662178 w 1373858"/>
                  <a:gd name="connsiteY5" fmla="*/ 979882 h 1268901"/>
                  <a:gd name="connsiteX6" fmla="*/ 994675 w 1373858"/>
                  <a:gd name="connsiteY6" fmla="*/ 979882 h 1268901"/>
                  <a:gd name="connsiteX7" fmla="*/ 994675 w 1373858"/>
                  <a:gd name="connsiteY7" fmla="*/ 1268901 h 1268901"/>
                  <a:gd name="connsiteX8" fmla="*/ 1373858 w 1373858"/>
                  <a:gd name="connsiteY8" fmla="*/ 1268901 h 126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858" h="1268901">
                    <a:moveTo>
                      <a:pt x="0" y="0"/>
                    </a:moveTo>
                    <a:lnTo>
                      <a:pt x="0" y="321798"/>
                    </a:lnTo>
                    <a:lnTo>
                      <a:pt x="333705" y="321798"/>
                    </a:lnTo>
                    <a:lnTo>
                      <a:pt x="333705" y="653916"/>
                    </a:lnTo>
                    <a:lnTo>
                      <a:pt x="662178" y="653916"/>
                    </a:lnTo>
                    <a:lnTo>
                      <a:pt x="662178" y="979882"/>
                    </a:lnTo>
                    <a:lnTo>
                      <a:pt x="994675" y="979882"/>
                    </a:lnTo>
                    <a:lnTo>
                      <a:pt x="994675" y="1268901"/>
                    </a:lnTo>
                    <a:lnTo>
                      <a:pt x="1373858" y="126890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2" name="Freeform: Shape 131">
                <a:extLst>
                  <a:ext uri="{FF2B5EF4-FFF2-40B4-BE49-F238E27FC236}">
                    <a16:creationId xmlns:a16="http://schemas.microsoft.com/office/drawing/2014/main" id="{DC911482-C7AA-4D71-DF7A-C6B58D466B1C}"/>
                  </a:ext>
                </a:extLst>
              </p:cNvPr>
              <p:cNvSpPr/>
              <p:nvPr/>
            </p:nvSpPr>
            <p:spPr>
              <a:xfrm>
                <a:off x="4863820" y="1648970"/>
                <a:ext cx="654637" cy="323548"/>
              </a:xfrm>
              <a:custGeom>
                <a:avLst/>
                <a:gdLst>
                  <a:gd name="connsiteX0" fmla="*/ 0 w 654637"/>
                  <a:gd name="connsiteY0" fmla="*/ 0 h 323548"/>
                  <a:gd name="connsiteX1" fmla="*/ 654638 w 654637"/>
                  <a:gd name="connsiteY1" fmla="*/ 0 h 323548"/>
                  <a:gd name="connsiteX2" fmla="*/ 654638 w 654637"/>
                  <a:gd name="connsiteY2" fmla="*/ 323548 h 323548"/>
                </a:gdLst>
                <a:ahLst/>
                <a:cxnLst>
                  <a:cxn ang="0">
                    <a:pos x="connsiteX0" y="connsiteY0"/>
                  </a:cxn>
                  <a:cxn ang="0">
                    <a:pos x="connsiteX1" y="connsiteY1"/>
                  </a:cxn>
                  <a:cxn ang="0">
                    <a:pos x="connsiteX2" y="connsiteY2"/>
                  </a:cxn>
                </a:cxnLst>
                <a:rect l="l" t="t" r="r" b="b"/>
                <a:pathLst>
                  <a:path w="654637" h="323548">
                    <a:moveTo>
                      <a:pt x="0" y="0"/>
                    </a:moveTo>
                    <a:lnTo>
                      <a:pt x="654638" y="0"/>
                    </a:lnTo>
                    <a:lnTo>
                      <a:pt x="654638" y="323548"/>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3" name="Freeform: Shape 132">
                <a:extLst>
                  <a:ext uri="{FF2B5EF4-FFF2-40B4-BE49-F238E27FC236}">
                    <a16:creationId xmlns:a16="http://schemas.microsoft.com/office/drawing/2014/main" id="{4DE693E0-4268-C56E-DD28-FCD519E3BDC0}"/>
                  </a:ext>
                </a:extLst>
              </p:cNvPr>
              <p:cNvSpPr/>
              <p:nvPr/>
            </p:nvSpPr>
            <p:spPr>
              <a:xfrm>
                <a:off x="5193953" y="1971274"/>
                <a:ext cx="662899" cy="320734"/>
              </a:xfrm>
              <a:custGeom>
                <a:avLst/>
                <a:gdLst>
                  <a:gd name="connsiteX0" fmla="*/ 0 w 662899"/>
                  <a:gd name="connsiteY0" fmla="*/ 0 h 320734"/>
                  <a:gd name="connsiteX1" fmla="*/ 662900 w 662899"/>
                  <a:gd name="connsiteY1" fmla="*/ 0 h 320734"/>
                  <a:gd name="connsiteX2" fmla="*/ 662900 w 662899"/>
                  <a:gd name="connsiteY2" fmla="*/ 320734 h 320734"/>
                </a:gdLst>
                <a:ahLst/>
                <a:cxnLst>
                  <a:cxn ang="0">
                    <a:pos x="connsiteX0" y="connsiteY0"/>
                  </a:cxn>
                  <a:cxn ang="0">
                    <a:pos x="connsiteX1" y="connsiteY1"/>
                  </a:cxn>
                  <a:cxn ang="0">
                    <a:pos x="connsiteX2" y="connsiteY2"/>
                  </a:cxn>
                </a:cxnLst>
                <a:rect l="l" t="t" r="r" b="b"/>
                <a:pathLst>
                  <a:path w="662899" h="320734">
                    <a:moveTo>
                      <a:pt x="0" y="0"/>
                    </a:moveTo>
                    <a:lnTo>
                      <a:pt x="662900" y="0"/>
                    </a:lnTo>
                    <a:lnTo>
                      <a:pt x="662900" y="320734"/>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4" name="Freeform: Shape 133">
                <a:extLst>
                  <a:ext uri="{FF2B5EF4-FFF2-40B4-BE49-F238E27FC236}">
                    <a16:creationId xmlns:a16="http://schemas.microsoft.com/office/drawing/2014/main" id="{DEF523FF-A840-2F83-E218-BCB0B1FD9591}"/>
                  </a:ext>
                </a:extLst>
              </p:cNvPr>
              <p:cNvSpPr/>
              <p:nvPr/>
            </p:nvSpPr>
            <p:spPr>
              <a:xfrm>
                <a:off x="4212592" y="2293072"/>
                <a:ext cx="327192" cy="1804"/>
              </a:xfrm>
              <a:custGeom>
                <a:avLst/>
                <a:gdLst>
                  <a:gd name="connsiteX0" fmla="*/ 327193 w 327192"/>
                  <a:gd name="connsiteY0" fmla="*/ 0 h 1804"/>
                  <a:gd name="connsiteX1" fmla="*/ 0 w 327192"/>
                  <a:gd name="connsiteY1" fmla="*/ 0 h 1804"/>
                </a:gdLst>
                <a:ahLst/>
                <a:cxnLst>
                  <a:cxn ang="0">
                    <a:pos x="connsiteX0" y="connsiteY0"/>
                  </a:cxn>
                  <a:cxn ang="0">
                    <a:pos x="connsiteX1" y="connsiteY1"/>
                  </a:cxn>
                </a:cxnLst>
                <a:rect l="l" t="t" r="r" b="b"/>
                <a:pathLst>
                  <a:path w="327192" h="1804">
                    <a:moveTo>
                      <a:pt x="327193"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5" name="Freeform: Shape 134">
                <a:extLst>
                  <a:ext uri="{FF2B5EF4-FFF2-40B4-BE49-F238E27FC236}">
                    <a16:creationId xmlns:a16="http://schemas.microsoft.com/office/drawing/2014/main" id="{C3BA0266-7866-A9B1-EC82-C458191FF281}"/>
                  </a:ext>
                </a:extLst>
              </p:cNvPr>
              <p:cNvSpPr/>
              <p:nvPr/>
            </p:nvSpPr>
            <p:spPr>
              <a:xfrm>
                <a:off x="4540776" y="2625190"/>
                <a:ext cx="332712" cy="1804"/>
              </a:xfrm>
              <a:custGeom>
                <a:avLst/>
                <a:gdLst>
                  <a:gd name="connsiteX0" fmla="*/ 332713 w 332712"/>
                  <a:gd name="connsiteY0" fmla="*/ 0 h 1804"/>
                  <a:gd name="connsiteX1" fmla="*/ 0 w 332712"/>
                  <a:gd name="connsiteY1" fmla="*/ 0 h 1804"/>
                </a:gdLst>
                <a:ahLst/>
                <a:cxnLst>
                  <a:cxn ang="0">
                    <a:pos x="connsiteX0" y="connsiteY0"/>
                  </a:cxn>
                  <a:cxn ang="0">
                    <a:pos x="connsiteX1" y="connsiteY1"/>
                  </a:cxn>
                </a:cxnLst>
                <a:rect l="l" t="t" r="r" b="b"/>
                <a:pathLst>
                  <a:path w="332712" h="1804">
                    <a:moveTo>
                      <a:pt x="332713"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6" name="Freeform: Shape 135">
                <a:extLst>
                  <a:ext uri="{FF2B5EF4-FFF2-40B4-BE49-F238E27FC236}">
                    <a16:creationId xmlns:a16="http://schemas.microsoft.com/office/drawing/2014/main" id="{343168F5-9F33-A459-6B76-049FA3EBE99D}"/>
                  </a:ext>
                </a:extLst>
              </p:cNvPr>
              <p:cNvSpPr/>
              <p:nvPr/>
            </p:nvSpPr>
            <p:spPr>
              <a:xfrm>
                <a:off x="5534585" y="2293072"/>
                <a:ext cx="657686" cy="319543"/>
              </a:xfrm>
              <a:custGeom>
                <a:avLst/>
                <a:gdLst>
                  <a:gd name="connsiteX0" fmla="*/ 0 w 657686"/>
                  <a:gd name="connsiteY0" fmla="*/ 0 h 319543"/>
                  <a:gd name="connsiteX1" fmla="*/ 657686 w 657686"/>
                  <a:gd name="connsiteY1" fmla="*/ 0 h 319543"/>
                  <a:gd name="connsiteX2" fmla="*/ 657686 w 657686"/>
                  <a:gd name="connsiteY2" fmla="*/ 319544 h 319543"/>
                </a:gdLst>
                <a:ahLst/>
                <a:cxnLst>
                  <a:cxn ang="0">
                    <a:pos x="connsiteX0" y="connsiteY0"/>
                  </a:cxn>
                  <a:cxn ang="0">
                    <a:pos x="connsiteX1" y="connsiteY1"/>
                  </a:cxn>
                  <a:cxn ang="0">
                    <a:pos x="connsiteX2" y="connsiteY2"/>
                  </a:cxn>
                </a:cxnLst>
                <a:rect l="l" t="t" r="r" b="b"/>
                <a:pathLst>
                  <a:path w="657686" h="319543">
                    <a:moveTo>
                      <a:pt x="0" y="0"/>
                    </a:moveTo>
                    <a:lnTo>
                      <a:pt x="657686" y="0"/>
                    </a:lnTo>
                    <a:lnTo>
                      <a:pt x="657686" y="319544"/>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7" name="Freeform: Shape 136">
                <a:extLst>
                  <a:ext uri="{FF2B5EF4-FFF2-40B4-BE49-F238E27FC236}">
                    <a16:creationId xmlns:a16="http://schemas.microsoft.com/office/drawing/2014/main" id="{5A7D1B26-20A6-3BF2-1E1E-59440505426B}"/>
                  </a:ext>
                </a:extLst>
              </p:cNvPr>
              <p:cNvSpPr/>
              <p:nvPr/>
            </p:nvSpPr>
            <p:spPr>
              <a:xfrm>
                <a:off x="5874063" y="2612616"/>
                <a:ext cx="1015582" cy="337511"/>
              </a:xfrm>
              <a:custGeom>
                <a:avLst/>
                <a:gdLst>
                  <a:gd name="connsiteX0" fmla="*/ 0 w 1015582"/>
                  <a:gd name="connsiteY0" fmla="*/ 0 h 337511"/>
                  <a:gd name="connsiteX1" fmla="*/ 668059 w 1015582"/>
                  <a:gd name="connsiteY1" fmla="*/ 0 h 337511"/>
                  <a:gd name="connsiteX2" fmla="*/ 668059 w 1015582"/>
                  <a:gd name="connsiteY2" fmla="*/ 337511 h 337511"/>
                  <a:gd name="connsiteX3" fmla="*/ 1015583 w 1015582"/>
                  <a:gd name="connsiteY3" fmla="*/ 337511 h 337511"/>
                </a:gdLst>
                <a:ahLst/>
                <a:cxnLst>
                  <a:cxn ang="0">
                    <a:pos x="connsiteX0" y="connsiteY0"/>
                  </a:cxn>
                  <a:cxn ang="0">
                    <a:pos x="connsiteX1" y="connsiteY1"/>
                  </a:cxn>
                  <a:cxn ang="0">
                    <a:pos x="connsiteX2" y="connsiteY2"/>
                  </a:cxn>
                  <a:cxn ang="0">
                    <a:pos x="connsiteX3" y="connsiteY3"/>
                  </a:cxn>
                </a:cxnLst>
                <a:rect l="l" t="t" r="r" b="b"/>
                <a:pathLst>
                  <a:path w="1015582" h="337511">
                    <a:moveTo>
                      <a:pt x="0" y="0"/>
                    </a:moveTo>
                    <a:lnTo>
                      <a:pt x="668059" y="0"/>
                    </a:lnTo>
                    <a:lnTo>
                      <a:pt x="668059" y="337511"/>
                    </a:lnTo>
                    <a:lnTo>
                      <a:pt x="1015583" y="33751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8" name="Freeform: Shape 137">
                <a:extLst>
                  <a:ext uri="{FF2B5EF4-FFF2-40B4-BE49-F238E27FC236}">
                    <a16:creationId xmlns:a16="http://schemas.microsoft.com/office/drawing/2014/main" id="{8D81DB22-AB9B-AB3C-840B-E2793D119A8A}"/>
                  </a:ext>
                </a:extLst>
              </p:cNvPr>
              <p:cNvSpPr/>
              <p:nvPr/>
            </p:nvSpPr>
            <p:spPr>
              <a:xfrm>
                <a:off x="3924871" y="1324141"/>
                <a:ext cx="2948196" cy="1916034"/>
              </a:xfrm>
              <a:custGeom>
                <a:avLst/>
                <a:gdLst>
                  <a:gd name="connsiteX0" fmla="*/ 0 w 3308618"/>
                  <a:gd name="connsiteY0" fmla="*/ 1916034 h 1916034"/>
                  <a:gd name="connsiteX1" fmla="*/ 1918885 w 3308618"/>
                  <a:gd name="connsiteY1" fmla="*/ 0 h 1916034"/>
                  <a:gd name="connsiteX2" fmla="*/ 1918885 w 3308618"/>
                  <a:gd name="connsiteY2" fmla="*/ 324829 h 1916034"/>
                  <a:gd name="connsiteX3" fmla="*/ 2267401 w 3308618"/>
                  <a:gd name="connsiteY3" fmla="*/ 324829 h 1916034"/>
                  <a:gd name="connsiteX4" fmla="*/ 2267401 w 3308618"/>
                  <a:gd name="connsiteY4" fmla="*/ 634830 h 1916034"/>
                  <a:gd name="connsiteX5" fmla="*/ 2603793 w 3308618"/>
                  <a:gd name="connsiteY5" fmla="*/ 634830 h 1916034"/>
                  <a:gd name="connsiteX6" fmla="*/ 2603793 w 3308618"/>
                  <a:gd name="connsiteY6" fmla="*/ 967867 h 1916034"/>
                  <a:gd name="connsiteX7" fmla="*/ 2948196 w 3308618"/>
                  <a:gd name="connsiteY7" fmla="*/ 967867 h 1916034"/>
                  <a:gd name="connsiteX8" fmla="*/ 2948196 w 3308618"/>
                  <a:gd name="connsiteY8" fmla="*/ 1288475 h 1916034"/>
                  <a:gd name="connsiteX9" fmla="*/ 3308619 w 3308618"/>
                  <a:gd name="connsiteY9" fmla="*/ 1288475 h 1916034"/>
                  <a:gd name="connsiteX0" fmla="*/ 0 w 2948196"/>
                  <a:gd name="connsiteY0" fmla="*/ 1916034 h 1916034"/>
                  <a:gd name="connsiteX1" fmla="*/ 1918885 w 2948196"/>
                  <a:gd name="connsiteY1" fmla="*/ 0 h 1916034"/>
                  <a:gd name="connsiteX2" fmla="*/ 1918885 w 2948196"/>
                  <a:gd name="connsiteY2" fmla="*/ 324829 h 1916034"/>
                  <a:gd name="connsiteX3" fmla="*/ 2267401 w 2948196"/>
                  <a:gd name="connsiteY3" fmla="*/ 324829 h 1916034"/>
                  <a:gd name="connsiteX4" fmla="*/ 2267401 w 2948196"/>
                  <a:gd name="connsiteY4" fmla="*/ 634830 h 1916034"/>
                  <a:gd name="connsiteX5" fmla="*/ 2603793 w 2948196"/>
                  <a:gd name="connsiteY5" fmla="*/ 634830 h 1916034"/>
                  <a:gd name="connsiteX6" fmla="*/ 2603793 w 2948196"/>
                  <a:gd name="connsiteY6" fmla="*/ 967867 h 1916034"/>
                  <a:gd name="connsiteX7" fmla="*/ 2948196 w 2948196"/>
                  <a:gd name="connsiteY7" fmla="*/ 967867 h 1916034"/>
                  <a:gd name="connsiteX8" fmla="*/ 2948196 w 2948196"/>
                  <a:gd name="connsiteY8" fmla="*/ 1288475 h 1916034"/>
                  <a:gd name="connsiteX0" fmla="*/ 0 w 2948196"/>
                  <a:gd name="connsiteY0" fmla="*/ 1916034 h 1916034"/>
                  <a:gd name="connsiteX1" fmla="*/ 1918885 w 2948196"/>
                  <a:gd name="connsiteY1" fmla="*/ 0 h 1916034"/>
                  <a:gd name="connsiteX2" fmla="*/ 1918885 w 2948196"/>
                  <a:gd name="connsiteY2" fmla="*/ 324829 h 1916034"/>
                  <a:gd name="connsiteX3" fmla="*/ 2267401 w 2948196"/>
                  <a:gd name="connsiteY3" fmla="*/ 324829 h 1916034"/>
                  <a:gd name="connsiteX4" fmla="*/ 2267401 w 2948196"/>
                  <a:gd name="connsiteY4" fmla="*/ 634830 h 1916034"/>
                  <a:gd name="connsiteX5" fmla="*/ 2603793 w 2948196"/>
                  <a:gd name="connsiteY5" fmla="*/ 634830 h 1916034"/>
                  <a:gd name="connsiteX6" fmla="*/ 2603793 w 2948196"/>
                  <a:gd name="connsiteY6" fmla="*/ 967867 h 1916034"/>
                  <a:gd name="connsiteX7" fmla="*/ 2948196 w 2948196"/>
                  <a:gd name="connsiteY7" fmla="*/ 967867 h 191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8196" h="1916034">
                    <a:moveTo>
                      <a:pt x="0" y="1916034"/>
                    </a:moveTo>
                    <a:lnTo>
                      <a:pt x="1918885" y="0"/>
                    </a:lnTo>
                    <a:lnTo>
                      <a:pt x="1918885" y="324829"/>
                    </a:lnTo>
                    <a:lnTo>
                      <a:pt x="2267401" y="324829"/>
                    </a:lnTo>
                    <a:lnTo>
                      <a:pt x="2267401" y="634830"/>
                    </a:lnTo>
                    <a:lnTo>
                      <a:pt x="2603793" y="634830"/>
                    </a:lnTo>
                    <a:lnTo>
                      <a:pt x="2603793" y="967867"/>
                    </a:lnTo>
                    <a:lnTo>
                      <a:pt x="2948196" y="967867"/>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9" name="Freeform: Shape 138">
                <a:extLst>
                  <a:ext uri="{FF2B5EF4-FFF2-40B4-BE49-F238E27FC236}">
                    <a16:creationId xmlns:a16="http://schemas.microsoft.com/office/drawing/2014/main" id="{24BB1F3B-ACE5-6E3E-B335-1F104A1CD7E3}"/>
                  </a:ext>
                </a:extLst>
              </p:cNvPr>
              <p:cNvSpPr/>
              <p:nvPr/>
            </p:nvSpPr>
            <p:spPr>
              <a:xfrm>
                <a:off x="6192271" y="1648970"/>
                <a:ext cx="646862" cy="310000"/>
              </a:xfrm>
              <a:custGeom>
                <a:avLst/>
                <a:gdLst>
                  <a:gd name="connsiteX0" fmla="*/ 0 w 646862"/>
                  <a:gd name="connsiteY0" fmla="*/ 0 h 310000"/>
                  <a:gd name="connsiteX1" fmla="*/ 646862 w 646862"/>
                  <a:gd name="connsiteY1" fmla="*/ 0 h 310000"/>
                  <a:gd name="connsiteX2" fmla="*/ 646862 w 646862"/>
                  <a:gd name="connsiteY2" fmla="*/ 310000 h 310000"/>
                </a:gdLst>
                <a:ahLst/>
                <a:cxnLst>
                  <a:cxn ang="0">
                    <a:pos x="connsiteX0" y="connsiteY0"/>
                  </a:cxn>
                  <a:cxn ang="0">
                    <a:pos x="connsiteX1" y="connsiteY1"/>
                  </a:cxn>
                  <a:cxn ang="0">
                    <a:pos x="connsiteX2" y="connsiteY2"/>
                  </a:cxn>
                </a:cxnLst>
                <a:rect l="l" t="t" r="r" b="b"/>
                <a:pathLst>
                  <a:path w="646862" h="310000">
                    <a:moveTo>
                      <a:pt x="0" y="0"/>
                    </a:moveTo>
                    <a:lnTo>
                      <a:pt x="646862" y="0"/>
                    </a:lnTo>
                    <a:lnTo>
                      <a:pt x="646862" y="31000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40" name="Freeform: Shape 139">
                <a:extLst>
                  <a:ext uri="{FF2B5EF4-FFF2-40B4-BE49-F238E27FC236}">
                    <a16:creationId xmlns:a16="http://schemas.microsoft.com/office/drawing/2014/main" id="{92DCCB1E-AEDC-1435-E3D6-9F88F1896023}"/>
                  </a:ext>
                </a:extLst>
              </p:cNvPr>
              <p:cNvSpPr/>
              <p:nvPr/>
            </p:nvSpPr>
            <p:spPr>
              <a:xfrm>
                <a:off x="6528664" y="1958970"/>
                <a:ext cx="665335" cy="1804"/>
              </a:xfrm>
              <a:custGeom>
                <a:avLst/>
                <a:gdLst>
                  <a:gd name="connsiteX0" fmla="*/ 0 w 665335"/>
                  <a:gd name="connsiteY0" fmla="*/ 0 h 1804"/>
                  <a:gd name="connsiteX1" fmla="*/ 665335 w 665335"/>
                  <a:gd name="connsiteY1" fmla="*/ 0 h 1804"/>
                </a:gdLst>
                <a:ahLst/>
                <a:cxnLst>
                  <a:cxn ang="0">
                    <a:pos x="connsiteX0" y="connsiteY0"/>
                  </a:cxn>
                  <a:cxn ang="0">
                    <a:pos x="connsiteX1" y="connsiteY1"/>
                  </a:cxn>
                </a:cxnLst>
                <a:rect l="l" t="t" r="r" b="b"/>
                <a:pathLst>
                  <a:path w="665335" h="1804">
                    <a:moveTo>
                      <a:pt x="0" y="0"/>
                    </a:moveTo>
                    <a:lnTo>
                      <a:pt x="665335"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grpSp>
      </p:grpSp>
      <p:grpSp>
        <p:nvGrpSpPr>
          <p:cNvPr id="2002" name="Code" hidden="1">
            <a:extLst>
              <a:ext uri="{FF2B5EF4-FFF2-40B4-BE49-F238E27FC236}">
                <a16:creationId xmlns:a16="http://schemas.microsoft.com/office/drawing/2014/main" id="{C8F0CAA4-EA52-31FC-ACEE-0CDBE403AA52}"/>
              </a:ext>
            </a:extLst>
          </p:cNvPr>
          <p:cNvGrpSpPr/>
          <p:nvPr/>
        </p:nvGrpSpPr>
        <p:grpSpPr>
          <a:xfrm>
            <a:off x="1822" y="-915534"/>
            <a:ext cx="4462536" cy="682961"/>
            <a:chOff x="-4180434" y="3074042"/>
            <a:chExt cx="4463698" cy="683139"/>
          </a:xfrm>
        </p:grpSpPr>
        <p:sp>
          <p:nvSpPr>
            <p:cNvPr id="707" name="Freeform: Shape 706">
              <a:extLst>
                <a:ext uri="{FF2B5EF4-FFF2-40B4-BE49-F238E27FC236}">
                  <a16:creationId xmlns:a16="http://schemas.microsoft.com/office/drawing/2014/main" id="{D4BD124D-D390-B6BE-3433-C79B30F38151}"/>
                </a:ext>
              </a:extLst>
            </p:cNvPr>
            <p:cNvSpPr/>
            <p:nvPr/>
          </p:nvSpPr>
          <p:spPr>
            <a:xfrm>
              <a:off x="-4180434" y="3075907"/>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09" name="Freeform: Shape 708">
              <a:extLst>
                <a:ext uri="{FF2B5EF4-FFF2-40B4-BE49-F238E27FC236}">
                  <a16:creationId xmlns:a16="http://schemas.microsoft.com/office/drawing/2014/main" id="{DD460820-7F9F-B459-B661-E1DCEED0AB83}"/>
                </a:ext>
              </a:extLst>
            </p:cNvPr>
            <p:cNvSpPr/>
            <p:nvPr/>
          </p:nvSpPr>
          <p:spPr>
            <a:xfrm>
              <a:off x="-4008460"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1" name="Freeform: Shape 710">
              <a:extLst>
                <a:ext uri="{FF2B5EF4-FFF2-40B4-BE49-F238E27FC236}">
                  <a16:creationId xmlns:a16="http://schemas.microsoft.com/office/drawing/2014/main" id="{7B91C611-2D57-9396-AE0D-5ACC0AEC3191}"/>
                </a:ext>
              </a:extLst>
            </p:cNvPr>
            <p:cNvSpPr/>
            <p:nvPr/>
          </p:nvSpPr>
          <p:spPr>
            <a:xfrm>
              <a:off x="-3824373"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3" name="Freeform: Shape 712">
              <a:extLst>
                <a:ext uri="{FF2B5EF4-FFF2-40B4-BE49-F238E27FC236}">
                  <a16:creationId xmlns:a16="http://schemas.microsoft.com/office/drawing/2014/main" id="{64B2CD06-4911-00F8-2619-7978A4409EA2}"/>
                </a:ext>
              </a:extLst>
            </p:cNvPr>
            <p:cNvSpPr/>
            <p:nvPr/>
          </p:nvSpPr>
          <p:spPr>
            <a:xfrm>
              <a:off x="-3640286"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5" name="Freeform: Shape 714">
              <a:extLst>
                <a:ext uri="{FF2B5EF4-FFF2-40B4-BE49-F238E27FC236}">
                  <a16:creationId xmlns:a16="http://schemas.microsoft.com/office/drawing/2014/main" id="{4859BAC7-7180-6585-6531-853FB1118EAB}"/>
                </a:ext>
              </a:extLst>
            </p:cNvPr>
            <p:cNvSpPr/>
            <p:nvPr/>
          </p:nvSpPr>
          <p:spPr>
            <a:xfrm>
              <a:off x="-3405953"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7" name="Freeform: Shape 716">
              <a:extLst>
                <a:ext uri="{FF2B5EF4-FFF2-40B4-BE49-F238E27FC236}">
                  <a16:creationId xmlns:a16="http://schemas.microsoft.com/office/drawing/2014/main" id="{FBAB5B87-76D9-1892-DA1B-C6BF217C8B7A}"/>
                </a:ext>
              </a:extLst>
            </p:cNvPr>
            <p:cNvSpPr/>
            <p:nvPr/>
          </p:nvSpPr>
          <p:spPr>
            <a:xfrm>
              <a:off x="-3233979"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9" name="Freeform: Shape 718">
              <a:extLst>
                <a:ext uri="{FF2B5EF4-FFF2-40B4-BE49-F238E27FC236}">
                  <a16:creationId xmlns:a16="http://schemas.microsoft.com/office/drawing/2014/main" id="{097502D6-29C7-53A0-8DC0-41F5228C34A3}"/>
                </a:ext>
              </a:extLst>
            </p:cNvPr>
            <p:cNvSpPr/>
            <p:nvPr/>
          </p:nvSpPr>
          <p:spPr>
            <a:xfrm>
              <a:off x="-3037629"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1" name="Freeform: Shape 720">
              <a:extLst>
                <a:ext uri="{FF2B5EF4-FFF2-40B4-BE49-F238E27FC236}">
                  <a16:creationId xmlns:a16="http://schemas.microsoft.com/office/drawing/2014/main" id="{6FA066A6-EC74-115E-BC4F-949E8D2287AF}"/>
                </a:ext>
              </a:extLst>
            </p:cNvPr>
            <p:cNvSpPr/>
            <p:nvPr/>
          </p:nvSpPr>
          <p:spPr>
            <a:xfrm>
              <a:off x="-2853542"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3" name="Freeform: Shape 722">
              <a:extLst>
                <a:ext uri="{FF2B5EF4-FFF2-40B4-BE49-F238E27FC236}">
                  <a16:creationId xmlns:a16="http://schemas.microsoft.com/office/drawing/2014/main" id="{D99D0B5F-FA77-ADCC-EE25-02ACAD6BA504}"/>
                </a:ext>
              </a:extLst>
            </p:cNvPr>
            <p:cNvSpPr/>
            <p:nvPr/>
          </p:nvSpPr>
          <p:spPr>
            <a:xfrm>
              <a:off x="-2631322"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5" name="Freeform: Shape 724">
              <a:extLst>
                <a:ext uri="{FF2B5EF4-FFF2-40B4-BE49-F238E27FC236}">
                  <a16:creationId xmlns:a16="http://schemas.microsoft.com/office/drawing/2014/main" id="{80DBCC54-7874-9B32-E551-D89E37B316B2}"/>
                </a:ext>
              </a:extLst>
            </p:cNvPr>
            <p:cNvSpPr/>
            <p:nvPr/>
          </p:nvSpPr>
          <p:spPr>
            <a:xfrm>
              <a:off x="-2459498"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7" name="Freeform: Shape 726">
              <a:extLst>
                <a:ext uri="{FF2B5EF4-FFF2-40B4-BE49-F238E27FC236}">
                  <a16:creationId xmlns:a16="http://schemas.microsoft.com/office/drawing/2014/main" id="{62B4A313-723A-B679-AABA-684436E64F47}"/>
                </a:ext>
              </a:extLst>
            </p:cNvPr>
            <p:cNvSpPr/>
            <p:nvPr/>
          </p:nvSpPr>
          <p:spPr>
            <a:xfrm>
              <a:off x="-2263147"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9" name="Freeform: Shape 728">
              <a:extLst>
                <a:ext uri="{FF2B5EF4-FFF2-40B4-BE49-F238E27FC236}">
                  <a16:creationId xmlns:a16="http://schemas.microsoft.com/office/drawing/2014/main" id="{D603BEDC-9058-66C6-5661-55BD91908579}"/>
                </a:ext>
              </a:extLst>
            </p:cNvPr>
            <p:cNvSpPr/>
            <p:nvPr/>
          </p:nvSpPr>
          <p:spPr>
            <a:xfrm>
              <a:off x="-2091324" y="3074042"/>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1" name="Freeform: Shape 730">
              <a:extLst>
                <a:ext uri="{FF2B5EF4-FFF2-40B4-BE49-F238E27FC236}">
                  <a16:creationId xmlns:a16="http://schemas.microsoft.com/office/drawing/2014/main" id="{5622CA30-5439-FEAD-5D92-3A0773C264E7}"/>
                </a:ext>
              </a:extLst>
            </p:cNvPr>
            <p:cNvSpPr/>
            <p:nvPr/>
          </p:nvSpPr>
          <p:spPr>
            <a:xfrm>
              <a:off x="-1856840" y="3075907"/>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3" name="Freeform: Shape 732">
              <a:extLst>
                <a:ext uri="{FF2B5EF4-FFF2-40B4-BE49-F238E27FC236}">
                  <a16:creationId xmlns:a16="http://schemas.microsoft.com/office/drawing/2014/main" id="{4A2D4025-5D66-EFD3-91F9-743C37330FEE}"/>
                </a:ext>
              </a:extLst>
            </p:cNvPr>
            <p:cNvSpPr/>
            <p:nvPr/>
          </p:nvSpPr>
          <p:spPr>
            <a:xfrm>
              <a:off x="-1685017" y="3074042"/>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5" name="Freeform: Shape 734">
              <a:extLst>
                <a:ext uri="{FF2B5EF4-FFF2-40B4-BE49-F238E27FC236}">
                  <a16:creationId xmlns:a16="http://schemas.microsoft.com/office/drawing/2014/main" id="{13DC27AC-C3D7-7CF3-99C7-EB1D3EA497C9}"/>
                </a:ext>
              </a:extLst>
            </p:cNvPr>
            <p:cNvSpPr/>
            <p:nvPr/>
          </p:nvSpPr>
          <p:spPr>
            <a:xfrm>
              <a:off x="-1488666"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7" name="Freeform: Shape 736">
              <a:extLst>
                <a:ext uri="{FF2B5EF4-FFF2-40B4-BE49-F238E27FC236}">
                  <a16:creationId xmlns:a16="http://schemas.microsoft.com/office/drawing/2014/main" id="{D2795A86-AF5D-D943-4385-84D79DEBB9E8}"/>
                </a:ext>
              </a:extLst>
            </p:cNvPr>
            <p:cNvSpPr/>
            <p:nvPr/>
          </p:nvSpPr>
          <p:spPr>
            <a:xfrm>
              <a:off x="-1316842"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9" name="Freeform: Shape 738">
              <a:extLst>
                <a:ext uri="{FF2B5EF4-FFF2-40B4-BE49-F238E27FC236}">
                  <a16:creationId xmlns:a16="http://schemas.microsoft.com/office/drawing/2014/main" id="{29C177D4-556D-1AC8-FD6D-B4F3ECCB45FD}"/>
                </a:ext>
              </a:extLst>
            </p:cNvPr>
            <p:cNvSpPr/>
            <p:nvPr/>
          </p:nvSpPr>
          <p:spPr>
            <a:xfrm>
              <a:off x="-1082359"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1" name="Freeform: Shape 740">
              <a:extLst>
                <a:ext uri="{FF2B5EF4-FFF2-40B4-BE49-F238E27FC236}">
                  <a16:creationId xmlns:a16="http://schemas.microsoft.com/office/drawing/2014/main" id="{FCEC844D-8285-49B7-CE04-F276D13A6A0B}"/>
                </a:ext>
              </a:extLst>
            </p:cNvPr>
            <p:cNvSpPr/>
            <p:nvPr/>
          </p:nvSpPr>
          <p:spPr>
            <a:xfrm>
              <a:off x="-910535"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3" name="Freeform: Shape 742">
              <a:extLst>
                <a:ext uri="{FF2B5EF4-FFF2-40B4-BE49-F238E27FC236}">
                  <a16:creationId xmlns:a16="http://schemas.microsoft.com/office/drawing/2014/main" id="{183FFF1A-A6AF-3302-0F7C-0DDC841834AE}"/>
                </a:ext>
              </a:extLst>
            </p:cNvPr>
            <p:cNvSpPr/>
            <p:nvPr/>
          </p:nvSpPr>
          <p:spPr>
            <a:xfrm>
              <a:off x="-714186"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5" name="Freeform: Shape 744">
              <a:extLst>
                <a:ext uri="{FF2B5EF4-FFF2-40B4-BE49-F238E27FC236}">
                  <a16:creationId xmlns:a16="http://schemas.microsoft.com/office/drawing/2014/main" id="{D17F0747-CB2B-B0B7-E159-D6DA065958FA}"/>
                </a:ext>
              </a:extLst>
            </p:cNvPr>
            <p:cNvSpPr/>
            <p:nvPr/>
          </p:nvSpPr>
          <p:spPr>
            <a:xfrm>
              <a:off x="-530099" y="3075907"/>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7" name="Freeform: Shape 746">
              <a:extLst>
                <a:ext uri="{FF2B5EF4-FFF2-40B4-BE49-F238E27FC236}">
                  <a16:creationId xmlns:a16="http://schemas.microsoft.com/office/drawing/2014/main" id="{A40128B0-AE89-914F-9F2F-5B3238E74793}"/>
                </a:ext>
              </a:extLst>
            </p:cNvPr>
            <p:cNvSpPr/>
            <p:nvPr/>
          </p:nvSpPr>
          <p:spPr>
            <a:xfrm>
              <a:off x="-320141" y="3074042"/>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9" name="Freeform: Shape 748">
              <a:extLst>
                <a:ext uri="{FF2B5EF4-FFF2-40B4-BE49-F238E27FC236}">
                  <a16:creationId xmlns:a16="http://schemas.microsoft.com/office/drawing/2014/main" id="{214C98E0-7E66-1815-34FC-DCE567A06A5B}"/>
                </a:ext>
              </a:extLst>
            </p:cNvPr>
            <p:cNvSpPr/>
            <p:nvPr/>
          </p:nvSpPr>
          <p:spPr>
            <a:xfrm>
              <a:off x="-136053" y="3074042"/>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1" name="Freeform: Shape 750">
              <a:extLst>
                <a:ext uri="{FF2B5EF4-FFF2-40B4-BE49-F238E27FC236}">
                  <a16:creationId xmlns:a16="http://schemas.microsoft.com/office/drawing/2014/main" id="{7FC61477-4BC0-3882-EE9D-AC5BDFDF8155}"/>
                </a:ext>
              </a:extLst>
            </p:cNvPr>
            <p:cNvSpPr/>
            <p:nvPr/>
          </p:nvSpPr>
          <p:spPr>
            <a:xfrm>
              <a:off x="48034" y="3074042"/>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3" name="Freeform: Shape 752">
              <a:extLst>
                <a:ext uri="{FF2B5EF4-FFF2-40B4-BE49-F238E27FC236}">
                  <a16:creationId xmlns:a16="http://schemas.microsoft.com/office/drawing/2014/main" id="{824D4161-EA9F-E7C1-90DA-74961FAACA19}"/>
                </a:ext>
              </a:extLst>
            </p:cNvPr>
            <p:cNvSpPr/>
            <p:nvPr/>
          </p:nvSpPr>
          <p:spPr>
            <a:xfrm>
              <a:off x="244383"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5" name="Freeform: Shape 754">
              <a:extLst>
                <a:ext uri="{FF2B5EF4-FFF2-40B4-BE49-F238E27FC236}">
                  <a16:creationId xmlns:a16="http://schemas.microsoft.com/office/drawing/2014/main" id="{06AD8154-F989-EC8E-80BA-DC2A0AC5FB84}"/>
                </a:ext>
              </a:extLst>
            </p:cNvPr>
            <p:cNvSpPr/>
            <p:nvPr/>
          </p:nvSpPr>
          <p:spPr>
            <a:xfrm>
              <a:off x="-4180434" y="3267816"/>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7" name="Freeform: Shape 756">
              <a:extLst>
                <a:ext uri="{FF2B5EF4-FFF2-40B4-BE49-F238E27FC236}">
                  <a16:creationId xmlns:a16="http://schemas.microsoft.com/office/drawing/2014/main" id="{5411B3C5-D6CF-6597-459F-52AC37D73706}"/>
                </a:ext>
              </a:extLst>
            </p:cNvPr>
            <p:cNvSpPr/>
            <p:nvPr/>
          </p:nvSpPr>
          <p:spPr>
            <a:xfrm>
              <a:off x="-4008460"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9" name="Freeform: Shape 758">
              <a:extLst>
                <a:ext uri="{FF2B5EF4-FFF2-40B4-BE49-F238E27FC236}">
                  <a16:creationId xmlns:a16="http://schemas.microsoft.com/office/drawing/2014/main" id="{B8D7F09D-9659-DDD9-22BB-E7D50964E076}"/>
                </a:ext>
              </a:extLst>
            </p:cNvPr>
            <p:cNvSpPr/>
            <p:nvPr/>
          </p:nvSpPr>
          <p:spPr>
            <a:xfrm>
              <a:off x="-3824373"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61" name="Freeform: Shape 760">
              <a:extLst>
                <a:ext uri="{FF2B5EF4-FFF2-40B4-BE49-F238E27FC236}">
                  <a16:creationId xmlns:a16="http://schemas.microsoft.com/office/drawing/2014/main" id="{3EEFFE6E-B34D-4F75-3EFB-027DCDDD6DC3}"/>
                </a:ext>
              </a:extLst>
            </p:cNvPr>
            <p:cNvSpPr/>
            <p:nvPr/>
          </p:nvSpPr>
          <p:spPr>
            <a:xfrm>
              <a:off x="-3640286"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63" name="Freeform: Shape 762">
              <a:extLst>
                <a:ext uri="{FF2B5EF4-FFF2-40B4-BE49-F238E27FC236}">
                  <a16:creationId xmlns:a16="http://schemas.microsoft.com/office/drawing/2014/main" id="{4F7CD34F-2CBD-0D78-3305-3BA12F6A86A5}"/>
                </a:ext>
              </a:extLst>
            </p:cNvPr>
            <p:cNvSpPr/>
            <p:nvPr/>
          </p:nvSpPr>
          <p:spPr>
            <a:xfrm>
              <a:off x="-3405953"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957" name="Freeform: Shape 956">
              <a:extLst>
                <a:ext uri="{FF2B5EF4-FFF2-40B4-BE49-F238E27FC236}">
                  <a16:creationId xmlns:a16="http://schemas.microsoft.com/office/drawing/2014/main" id="{1C8E89F9-38F9-EADD-EC2C-8B91C2A0C5E0}"/>
                </a:ext>
              </a:extLst>
            </p:cNvPr>
            <p:cNvSpPr/>
            <p:nvPr/>
          </p:nvSpPr>
          <p:spPr>
            <a:xfrm>
              <a:off x="-3233979"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959" name="Freeform: Shape 958">
              <a:extLst>
                <a:ext uri="{FF2B5EF4-FFF2-40B4-BE49-F238E27FC236}">
                  <a16:creationId xmlns:a16="http://schemas.microsoft.com/office/drawing/2014/main" id="{C711AA2C-6343-D224-568F-4EAC593ABF7E}"/>
                </a:ext>
              </a:extLst>
            </p:cNvPr>
            <p:cNvSpPr/>
            <p:nvPr/>
          </p:nvSpPr>
          <p:spPr>
            <a:xfrm>
              <a:off x="-3037629"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5" name="Freeform: Shape 1344">
              <a:extLst>
                <a:ext uri="{FF2B5EF4-FFF2-40B4-BE49-F238E27FC236}">
                  <a16:creationId xmlns:a16="http://schemas.microsoft.com/office/drawing/2014/main" id="{0731C1F3-9073-BB15-D611-59E9847ACA5E}"/>
                </a:ext>
              </a:extLst>
            </p:cNvPr>
            <p:cNvSpPr/>
            <p:nvPr/>
          </p:nvSpPr>
          <p:spPr>
            <a:xfrm>
              <a:off x="-2853542"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7" name="Freeform: Shape 1346">
              <a:extLst>
                <a:ext uri="{FF2B5EF4-FFF2-40B4-BE49-F238E27FC236}">
                  <a16:creationId xmlns:a16="http://schemas.microsoft.com/office/drawing/2014/main" id="{20CA7B4E-3431-8E1E-17F3-9F3D9BC536C8}"/>
                </a:ext>
              </a:extLst>
            </p:cNvPr>
            <p:cNvSpPr/>
            <p:nvPr/>
          </p:nvSpPr>
          <p:spPr>
            <a:xfrm>
              <a:off x="-2631322"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9" name="Freeform: Shape 1348">
              <a:extLst>
                <a:ext uri="{FF2B5EF4-FFF2-40B4-BE49-F238E27FC236}">
                  <a16:creationId xmlns:a16="http://schemas.microsoft.com/office/drawing/2014/main" id="{886EBDCE-CDE5-0A8D-979B-C6CF3AE6B0FF}"/>
                </a:ext>
              </a:extLst>
            </p:cNvPr>
            <p:cNvSpPr/>
            <p:nvPr/>
          </p:nvSpPr>
          <p:spPr>
            <a:xfrm>
              <a:off x="-2459498"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1" name="Freeform: Shape 1350">
              <a:extLst>
                <a:ext uri="{FF2B5EF4-FFF2-40B4-BE49-F238E27FC236}">
                  <a16:creationId xmlns:a16="http://schemas.microsoft.com/office/drawing/2014/main" id="{322ABF95-C5A2-84E2-0DFE-9BCC6F4DEECB}"/>
                </a:ext>
              </a:extLst>
            </p:cNvPr>
            <p:cNvSpPr/>
            <p:nvPr/>
          </p:nvSpPr>
          <p:spPr>
            <a:xfrm>
              <a:off x="-2263147"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3" name="Freeform: Shape 1352">
              <a:extLst>
                <a:ext uri="{FF2B5EF4-FFF2-40B4-BE49-F238E27FC236}">
                  <a16:creationId xmlns:a16="http://schemas.microsoft.com/office/drawing/2014/main" id="{BCA17DC4-F73E-5CA5-87A7-6C7255D56D44}"/>
                </a:ext>
              </a:extLst>
            </p:cNvPr>
            <p:cNvSpPr/>
            <p:nvPr/>
          </p:nvSpPr>
          <p:spPr>
            <a:xfrm>
              <a:off x="-2091324" y="3265950"/>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5" name="Freeform: Shape 1354">
              <a:extLst>
                <a:ext uri="{FF2B5EF4-FFF2-40B4-BE49-F238E27FC236}">
                  <a16:creationId xmlns:a16="http://schemas.microsoft.com/office/drawing/2014/main" id="{BA5E9549-0FB9-04EB-1168-4EBBA9577711}"/>
                </a:ext>
              </a:extLst>
            </p:cNvPr>
            <p:cNvSpPr/>
            <p:nvPr/>
          </p:nvSpPr>
          <p:spPr>
            <a:xfrm>
              <a:off x="-1856840" y="3267816"/>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7" name="Freeform: Shape 1356">
              <a:extLst>
                <a:ext uri="{FF2B5EF4-FFF2-40B4-BE49-F238E27FC236}">
                  <a16:creationId xmlns:a16="http://schemas.microsoft.com/office/drawing/2014/main" id="{CFABCED1-9AC5-103D-C46F-D7E6C489BB05}"/>
                </a:ext>
              </a:extLst>
            </p:cNvPr>
            <p:cNvSpPr/>
            <p:nvPr/>
          </p:nvSpPr>
          <p:spPr>
            <a:xfrm>
              <a:off x="-1685017" y="3265950"/>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9" name="Freeform: Shape 1358">
              <a:extLst>
                <a:ext uri="{FF2B5EF4-FFF2-40B4-BE49-F238E27FC236}">
                  <a16:creationId xmlns:a16="http://schemas.microsoft.com/office/drawing/2014/main" id="{EECBB5DA-5A31-EFD1-2279-9BA27D9D82FD}"/>
                </a:ext>
              </a:extLst>
            </p:cNvPr>
            <p:cNvSpPr/>
            <p:nvPr/>
          </p:nvSpPr>
          <p:spPr>
            <a:xfrm>
              <a:off x="-1488666"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1" name="Freeform: Shape 1360">
              <a:extLst>
                <a:ext uri="{FF2B5EF4-FFF2-40B4-BE49-F238E27FC236}">
                  <a16:creationId xmlns:a16="http://schemas.microsoft.com/office/drawing/2014/main" id="{5E96E61E-38DE-3A41-1F62-17382105C92A}"/>
                </a:ext>
              </a:extLst>
            </p:cNvPr>
            <p:cNvSpPr/>
            <p:nvPr/>
          </p:nvSpPr>
          <p:spPr>
            <a:xfrm>
              <a:off x="-1316842"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3" name="Freeform: Shape 1362">
              <a:extLst>
                <a:ext uri="{FF2B5EF4-FFF2-40B4-BE49-F238E27FC236}">
                  <a16:creationId xmlns:a16="http://schemas.microsoft.com/office/drawing/2014/main" id="{6271C0DA-6082-C3D1-6199-3AE7245021B9}"/>
                </a:ext>
              </a:extLst>
            </p:cNvPr>
            <p:cNvSpPr/>
            <p:nvPr/>
          </p:nvSpPr>
          <p:spPr>
            <a:xfrm>
              <a:off x="-1082359"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5" name="Freeform: Shape 1364">
              <a:extLst>
                <a:ext uri="{FF2B5EF4-FFF2-40B4-BE49-F238E27FC236}">
                  <a16:creationId xmlns:a16="http://schemas.microsoft.com/office/drawing/2014/main" id="{F5E0D503-14C7-6BB2-3CD0-54435230713C}"/>
                </a:ext>
              </a:extLst>
            </p:cNvPr>
            <p:cNvSpPr/>
            <p:nvPr/>
          </p:nvSpPr>
          <p:spPr>
            <a:xfrm>
              <a:off x="-910535"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7" name="Freeform: Shape 1366">
              <a:extLst>
                <a:ext uri="{FF2B5EF4-FFF2-40B4-BE49-F238E27FC236}">
                  <a16:creationId xmlns:a16="http://schemas.microsoft.com/office/drawing/2014/main" id="{01124C24-EBC4-2A69-EBEC-EE72AC368DCC}"/>
                </a:ext>
              </a:extLst>
            </p:cNvPr>
            <p:cNvSpPr/>
            <p:nvPr/>
          </p:nvSpPr>
          <p:spPr>
            <a:xfrm>
              <a:off x="-714186"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9" name="Freeform: Shape 1368">
              <a:extLst>
                <a:ext uri="{FF2B5EF4-FFF2-40B4-BE49-F238E27FC236}">
                  <a16:creationId xmlns:a16="http://schemas.microsoft.com/office/drawing/2014/main" id="{00C75157-F6A3-A35D-C6A8-61950C3AD0C1}"/>
                </a:ext>
              </a:extLst>
            </p:cNvPr>
            <p:cNvSpPr/>
            <p:nvPr/>
          </p:nvSpPr>
          <p:spPr>
            <a:xfrm>
              <a:off x="-530099" y="3267816"/>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1" name="Freeform: Shape 1370">
              <a:extLst>
                <a:ext uri="{FF2B5EF4-FFF2-40B4-BE49-F238E27FC236}">
                  <a16:creationId xmlns:a16="http://schemas.microsoft.com/office/drawing/2014/main" id="{2965CF22-57B6-C42E-7DFE-7C0769DE0C34}"/>
                </a:ext>
              </a:extLst>
            </p:cNvPr>
            <p:cNvSpPr/>
            <p:nvPr/>
          </p:nvSpPr>
          <p:spPr>
            <a:xfrm>
              <a:off x="-320141" y="3265950"/>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3" name="Freeform: Shape 1372">
              <a:extLst>
                <a:ext uri="{FF2B5EF4-FFF2-40B4-BE49-F238E27FC236}">
                  <a16:creationId xmlns:a16="http://schemas.microsoft.com/office/drawing/2014/main" id="{DBB4728C-9FBA-7187-8AD7-8BA930222560}"/>
                </a:ext>
              </a:extLst>
            </p:cNvPr>
            <p:cNvSpPr/>
            <p:nvPr/>
          </p:nvSpPr>
          <p:spPr>
            <a:xfrm>
              <a:off x="-136053" y="3265950"/>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5" name="Freeform: Shape 1374">
              <a:extLst>
                <a:ext uri="{FF2B5EF4-FFF2-40B4-BE49-F238E27FC236}">
                  <a16:creationId xmlns:a16="http://schemas.microsoft.com/office/drawing/2014/main" id="{C7586FFA-13A6-518D-BAEC-00FE72FCB1AA}"/>
                </a:ext>
              </a:extLst>
            </p:cNvPr>
            <p:cNvSpPr/>
            <p:nvPr/>
          </p:nvSpPr>
          <p:spPr>
            <a:xfrm>
              <a:off x="48034" y="3265950"/>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7" name="Freeform: Shape 1376">
              <a:extLst>
                <a:ext uri="{FF2B5EF4-FFF2-40B4-BE49-F238E27FC236}">
                  <a16:creationId xmlns:a16="http://schemas.microsoft.com/office/drawing/2014/main" id="{E0970BFD-2D9F-15B8-29DB-4C7C11F4D397}"/>
                </a:ext>
              </a:extLst>
            </p:cNvPr>
            <p:cNvSpPr/>
            <p:nvPr/>
          </p:nvSpPr>
          <p:spPr>
            <a:xfrm>
              <a:off x="244383"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9" name="Freeform: Shape 1378">
              <a:extLst>
                <a:ext uri="{FF2B5EF4-FFF2-40B4-BE49-F238E27FC236}">
                  <a16:creationId xmlns:a16="http://schemas.microsoft.com/office/drawing/2014/main" id="{E74A8EE1-553F-4086-FDEC-848139A05FE4}"/>
                </a:ext>
              </a:extLst>
            </p:cNvPr>
            <p:cNvSpPr/>
            <p:nvPr/>
          </p:nvSpPr>
          <p:spPr>
            <a:xfrm>
              <a:off x="-4180434" y="3459723"/>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1" name="Freeform: Shape 1380">
              <a:extLst>
                <a:ext uri="{FF2B5EF4-FFF2-40B4-BE49-F238E27FC236}">
                  <a16:creationId xmlns:a16="http://schemas.microsoft.com/office/drawing/2014/main" id="{234884AE-4A91-4097-D45F-D2F16DE3E30E}"/>
                </a:ext>
              </a:extLst>
            </p:cNvPr>
            <p:cNvSpPr/>
            <p:nvPr/>
          </p:nvSpPr>
          <p:spPr>
            <a:xfrm>
              <a:off x="-4008460"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3" name="Freeform: Shape 1382">
              <a:extLst>
                <a:ext uri="{FF2B5EF4-FFF2-40B4-BE49-F238E27FC236}">
                  <a16:creationId xmlns:a16="http://schemas.microsoft.com/office/drawing/2014/main" id="{30D5AE0F-1EC5-9AB7-B46C-DE735D56E84A}"/>
                </a:ext>
              </a:extLst>
            </p:cNvPr>
            <p:cNvSpPr/>
            <p:nvPr/>
          </p:nvSpPr>
          <p:spPr>
            <a:xfrm>
              <a:off x="-3824373"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5" name="Freeform: Shape 1384">
              <a:extLst>
                <a:ext uri="{FF2B5EF4-FFF2-40B4-BE49-F238E27FC236}">
                  <a16:creationId xmlns:a16="http://schemas.microsoft.com/office/drawing/2014/main" id="{223EA55D-258C-D787-5FD5-2DF0C57B03CB}"/>
                </a:ext>
              </a:extLst>
            </p:cNvPr>
            <p:cNvSpPr/>
            <p:nvPr/>
          </p:nvSpPr>
          <p:spPr>
            <a:xfrm>
              <a:off x="-3640286"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7" name="Freeform: Shape 1386">
              <a:extLst>
                <a:ext uri="{FF2B5EF4-FFF2-40B4-BE49-F238E27FC236}">
                  <a16:creationId xmlns:a16="http://schemas.microsoft.com/office/drawing/2014/main" id="{91013D4E-A439-67C4-436A-FBC09FF56EA5}"/>
                </a:ext>
              </a:extLst>
            </p:cNvPr>
            <p:cNvSpPr/>
            <p:nvPr/>
          </p:nvSpPr>
          <p:spPr>
            <a:xfrm>
              <a:off x="-3405953"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0" name="Freeform: Shape 1389">
              <a:extLst>
                <a:ext uri="{FF2B5EF4-FFF2-40B4-BE49-F238E27FC236}">
                  <a16:creationId xmlns:a16="http://schemas.microsoft.com/office/drawing/2014/main" id="{896FBBBB-AF55-2B0C-35D6-32C4B511505B}"/>
                </a:ext>
              </a:extLst>
            </p:cNvPr>
            <p:cNvSpPr/>
            <p:nvPr/>
          </p:nvSpPr>
          <p:spPr>
            <a:xfrm>
              <a:off x="-3233979"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2" name="Freeform: Shape 1391">
              <a:extLst>
                <a:ext uri="{FF2B5EF4-FFF2-40B4-BE49-F238E27FC236}">
                  <a16:creationId xmlns:a16="http://schemas.microsoft.com/office/drawing/2014/main" id="{A36BEC54-34E3-E443-5703-A6BD4303DA9B}"/>
                </a:ext>
              </a:extLst>
            </p:cNvPr>
            <p:cNvSpPr/>
            <p:nvPr/>
          </p:nvSpPr>
          <p:spPr>
            <a:xfrm>
              <a:off x="-3037629"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4" name="Freeform: Shape 1393">
              <a:extLst>
                <a:ext uri="{FF2B5EF4-FFF2-40B4-BE49-F238E27FC236}">
                  <a16:creationId xmlns:a16="http://schemas.microsoft.com/office/drawing/2014/main" id="{438D6FEA-F88D-9F66-DFB3-F4647C7D2110}"/>
                </a:ext>
              </a:extLst>
            </p:cNvPr>
            <p:cNvSpPr/>
            <p:nvPr/>
          </p:nvSpPr>
          <p:spPr>
            <a:xfrm>
              <a:off x="-2853542"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6" name="Freeform: Shape 1395">
              <a:extLst>
                <a:ext uri="{FF2B5EF4-FFF2-40B4-BE49-F238E27FC236}">
                  <a16:creationId xmlns:a16="http://schemas.microsoft.com/office/drawing/2014/main" id="{27D7ADB4-910A-9CDB-EE9B-4EE696BA59B2}"/>
                </a:ext>
              </a:extLst>
            </p:cNvPr>
            <p:cNvSpPr/>
            <p:nvPr/>
          </p:nvSpPr>
          <p:spPr>
            <a:xfrm>
              <a:off x="-2631322"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8" name="Freeform: Shape 1397">
              <a:extLst>
                <a:ext uri="{FF2B5EF4-FFF2-40B4-BE49-F238E27FC236}">
                  <a16:creationId xmlns:a16="http://schemas.microsoft.com/office/drawing/2014/main" id="{C89FB914-3EE3-2610-284E-98DA04AA47F7}"/>
                </a:ext>
              </a:extLst>
            </p:cNvPr>
            <p:cNvSpPr/>
            <p:nvPr/>
          </p:nvSpPr>
          <p:spPr>
            <a:xfrm>
              <a:off x="-2459498"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0" name="Freeform: Shape 1399">
              <a:extLst>
                <a:ext uri="{FF2B5EF4-FFF2-40B4-BE49-F238E27FC236}">
                  <a16:creationId xmlns:a16="http://schemas.microsoft.com/office/drawing/2014/main" id="{98DFB702-D5E1-51AE-4E28-01FA98201A88}"/>
                </a:ext>
              </a:extLst>
            </p:cNvPr>
            <p:cNvSpPr/>
            <p:nvPr/>
          </p:nvSpPr>
          <p:spPr>
            <a:xfrm>
              <a:off x="-2263147"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2" name="Freeform: Shape 1401">
              <a:extLst>
                <a:ext uri="{FF2B5EF4-FFF2-40B4-BE49-F238E27FC236}">
                  <a16:creationId xmlns:a16="http://schemas.microsoft.com/office/drawing/2014/main" id="{9AFCA585-DA59-063A-1A98-7A93D4FAAF1C}"/>
                </a:ext>
              </a:extLst>
            </p:cNvPr>
            <p:cNvSpPr/>
            <p:nvPr/>
          </p:nvSpPr>
          <p:spPr>
            <a:xfrm>
              <a:off x="-2091324" y="3457858"/>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4" name="Freeform: Shape 1403">
              <a:extLst>
                <a:ext uri="{FF2B5EF4-FFF2-40B4-BE49-F238E27FC236}">
                  <a16:creationId xmlns:a16="http://schemas.microsoft.com/office/drawing/2014/main" id="{42D2E181-22C0-85DC-3EC3-22BE162F5608}"/>
                </a:ext>
              </a:extLst>
            </p:cNvPr>
            <p:cNvSpPr/>
            <p:nvPr/>
          </p:nvSpPr>
          <p:spPr>
            <a:xfrm>
              <a:off x="-1856840" y="3459723"/>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6" name="Freeform: Shape 1405">
              <a:extLst>
                <a:ext uri="{FF2B5EF4-FFF2-40B4-BE49-F238E27FC236}">
                  <a16:creationId xmlns:a16="http://schemas.microsoft.com/office/drawing/2014/main" id="{2DBBCEB4-5100-2748-D066-D8058D8D6F13}"/>
                </a:ext>
              </a:extLst>
            </p:cNvPr>
            <p:cNvSpPr/>
            <p:nvPr/>
          </p:nvSpPr>
          <p:spPr>
            <a:xfrm>
              <a:off x="-1685017" y="3457858"/>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2" name="Freeform: Shape 1471">
              <a:extLst>
                <a:ext uri="{FF2B5EF4-FFF2-40B4-BE49-F238E27FC236}">
                  <a16:creationId xmlns:a16="http://schemas.microsoft.com/office/drawing/2014/main" id="{0E87A374-1D1E-5B9D-2C46-6C588369C50C}"/>
                </a:ext>
              </a:extLst>
            </p:cNvPr>
            <p:cNvSpPr/>
            <p:nvPr/>
          </p:nvSpPr>
          <p:spPr>
            <a:xfrm>
              <a:off x="-1488666"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4" name="Freeform: Shape 1473">
              <a:extLst>
                <a:ext uri="{FF2B5EF4-FFF2-40B4-BE49-F238E27FC236}">
                  <a16:creationId xmlns:a16="http://schemas.microsoft.com/office/drawing/2014/main" id="{4562E588-7301-0A65-E2B7-26F8EE7168CD}"/>
                </a:ext>
              </a:extLst>
            </p:cNvPr>
            <p:cNvSpPr/>
            <p:nvPr/>
          </p:nvSpPr>
          <p:spPr>
            <a:xfrm>
              <a:off x="-1316842"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6" name="Freeform: Shape 1475">
              <a:extLst>
                <a:ext uri="{FF2B5EF4-FFF2-40B4-BE49-F238E27FC236}">
                  <a16:creationId xmlns:a16="http://schemas.microsoft.com/office/drawing/2014/main" id="{C4CD9C5B-F76E-8D7D-05CE-B7B52BBB8D3D}"/>
                </a:ext>
              </a:extLst>
            </p:cNvPr>
            <p:cNvSpPr/>
            <p:nvPr/>
          </p:nvSpPr>
          <p:spPr>
            <a:xfrm>
              <a:off x="-1082359"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8" name="Freeform: Shape 1477">
              <a:extLst>
                <a:ext uri="{FF2B5EF4-FFF2-40B4-BE49-F238E27FC236}">
                  <a16:creationId xmlns:a16="http://schemas.microsoft.com/office/drawing/2014/main" id="{9CD1E5AE-4F35-8EB9-CBB7-A66F06D3E9C3}"/>
                </a:ext>
              </a:extLst>
            </p:cNvPr>
            <p:cNvSpPr/>
            <p:nvPr/>
          </p:nvSpPr>
          <p:spPr>
            <a:xfrm>
              <a:off x="-910535"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0" name="Freeform: Shape 1479">
              <a:extLst>
                <a:ext uri="{FF2B5EF4-FFF2-40B4-BE49-F238E27FC236}">
                  <a16:creationId xmlns:a16="http://schemas.microsoft.com/office/drawing/2014/main" id="{A348F544-B257-B04B-F631-F6F519D6C885}"/>
                </a:ext>
              </a:extLst>
            </p:cNvPr>
            <p:cNvSpPr/>
            <p:nvPr/>
          </p:nvSpPr>
          <p:spPr>
            <a:xfrm>
              <a:off x="-714186"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2" name="Freeform: Shape 1481">
              <a:extLst>
                <a:ext uri="{FF2B5EF4-FFF2-40B4-BE49-F238E27FC236}">
                  <a16:creationId xmlns:a16="http://schemas.microsoft.com/office/drawing/2014/main" id="{301E0CFF-2AC1-3FB9-83C1-95E7B8C51BD0}"/>
                </a:ext>
              </a:extLst>
            </p:cNvPr>
            <p:cNvSpPr/>
            <p:nvPr/>
          </p:nvSpPr>
          <p:spPr>
            <a:xfrm>
              <a:off x="-530099" y="3459723"/>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4" name="Freeform: Shape 1483">
              <a:extLst>
                <a:ext uri="{FF2B5EF4-FFF2-40B4-BE49-F238E27FC236}">
                  <a16:creationId xmlns:a16="http://schemas.microsoft.com/office/drawing/2014/main" id="{39245AC1-F1C1-9AB5-DD96-77FE44ACD016}"/>
                </a:ext>
              </a:extLst>
            </p:cNvPr>
            <p:cNvSpPr/>
            <p:nvPr/>
          </p:nvSpPr>
          <p:spPr>
            <a:xfrm>
              <a:off x="-320141" y="3457858"/>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6" name="Freeform: Shape 1485">
              <a:extLst>
                <a:ext uri="{FF2B5EF4-FFF2-40B4-BE49-F238E27FC236}">
                  <a16:creationId xmlns:a16="http://schemas.microsoft.com/office/drawing/2014/main" id="{4A67DD8B-E8FB-D7FF-B828-D237BB390F74}"/>
                </a:ext>
              </a:extLst>
            </p:cNvPr>
            <p:cNvSpPr/>
            <p:nvPr/>
          </p:nvSpPr>
          <p:spPr>
            <a:xfrm>
              <a:off x="-136053" y="3457858"/>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8" name="Freeform: Shape 1487">
              <a:extLst>
                <a:ext uri="{FF2B5EF4-FFF2-40B4-BE49-F238E27FC236}">
                  <a16:creationId xmlns:a16="http://schemas.microsoft.com/office/drawing/2014/main" id="{08334AA2-1EA7-7BED-70CA-76F6C9E406EC}"/>
                </a:ext>
              </a:extLst>
            </p:cNvPr>
            <p:cNvSpPr/>
            <p:nvPr/>
          </p:nvSpPr>
          <p:spPr>
            <a:xfrm>
              <a:off x="48034" y="3457858"/>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0" name="Freeform: Shape 1489">
              <a:extLst>
                <a:ext uri="{FF2B5EF4-FFF2-40B4-BE49-F238E27FC236}">
                  <a16:creationId xmlns:a16="http://schemas.microsoft.com/office/drawing/2014/main" id="{CD94F93F-C4BE-B7A6-C5BC-7D5B3C9EB014}"/>
                </a:ext>
              </a:extLst>
            </p:cNvPr>
            <p:cNvSpPr/>
            <p:nvPr/>
          </p:nvSpPr>
          <p:spPr>
            <a:xfrm>
              <a:off x="244383"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2" name="Freeform: Shape 1491">
              <a:extLst>
                <a:ext uri="{FF2B5EF4-FFF2-40B4-BE49-F238E27FC236}">
                  <a16:creationId xmlns:a16="http://schemas.microsoft.com/office/drawing/2014/main" id="{E9505903-F019-85C4-E64B-6F5ADE4EECC5}"/>
                </a:ext>
              </a:extLst>
            </p:cNvPr>
            <p:cNvSpPr/>
            <p:nvPr/>
          </p:nvSpPr>
          <p:spPr>
            <a:xfrm>
              <a:off x="-4180434" y="3651632"/>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4" name="Freeform: Shape 1493">
              <a:extLst>
                <a:ext uri="{FF2B5EF4-FFF2-40B4-BE49-F238E27FC236}">
                  <a16:creationId xmlns:a16="http://schemas.microsoft.com/office/drawing/2014/main" id="{D38D4498-4396-D692-B21A-59DF9DE83428}"/>
                </a:ext>
              </a:extLst>
            </p:cNvPr>
            <p:cNvSpPr/>
            <p:nvPr/>
          </p:nvSpPr>
          <p:spPr>
            <a:xfrm>
              <a:off x="-4008460"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6" name="Freeform: Shape 1495">
              <a:extLst>
                <a:ext uri="{FF2B5EF4-FFF2-40B4-BE49-F238E27FC236}">
                  <a16:creationId xmlns:a16="http://schemas.microsoft.com/office/drawing/2014/main" id="{093406E5-8930-7EA7-4400-5FD9AC8E78B7}"/>
                </a:ext>
              </a:extLst>
            </p:cNvPr>
            <p:cNvSpPr/>
            <p:nvPr/>
          </p:nvSpPr>
          <p:spPr>
            <a:xfrm>
              <a:off x="-3824373"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8" name="Freeform: Shape 1497">
              <a:extLst>
                <a:ext uri="{FF2B5EF4-FFF2-40B4-BE49-F238E27FC236}">
                  <a16:creationId xmlns:a16="http://schemas.microsoft.com/office/drawing/2014/main" id="{E760C319-69F0-C0FA-38CF-6E3E826160A4}"/>
                </a:ext>
              </a:extLst>
            </p:cNvPr>
            <p:cNvSpPr/>
            <p:nvPr/>
          </p:nvSpPr>
          <p:spPr>
            <a:xfrm>
              <a:off x="-3640286"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8"/>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0" name="Freeform: Shape 1499">
              <a:extLst>
                <a:ext uri="{FF2B5EF4-FFF2-40B4-BE49-F238E27FC236}">
                  <a16:creationId xmlns:a16="http://schemas.microsoft.com/office/drawing/2014/main" id="{0CD2F022-5A99-88E3-99FC-1FC465486735}"/>
                </a:ext>
              </a:extLst>
            </p:cNvPr>
            <p:cNvSpPr/>
            <p:nvPr/>
          </p:nvSpPr>
          <p:spPr>
            <a:xfrm>
              <a:off x="-3405953"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2" name="Freeform: Shape 1501">
              <a:extLst>
                <a:ext uri="{FF2B5EF4-FFF2-40B4-BE49-F238E27FC236}">
                  <a16:creationId xmlns:a16="http://schemas.microsoft.com/office/drawing/2014/main" id="{C9C8F5C7-9912-87B2-5326-E8988BA05B03}"/>
                </a:ext>
              </a:extLst>
            </p:cNvPr>
            <p:cNvSpPr/>
            <p:nvPr/>
          </p:nvSpPr>
          <p:spPr>
            <a:xfrm>
              <a:off x="-3233979"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4" name="Freeform: Shape 1503">
              <a:extLst>
                <a:ext uri="{FF2B5EF4-FFF2-40B4-BE49-F238E27FC236}">
                  <a16:creationId xmlns:a16="http://schemas.microsoft.com/office/drawing/2014/main" id="{33F85D13-7C46-1758-3DD9-5EDFA213485C}"/>
                </a:ext>
              </a:extLst>
            </p:cNvPr>
            <p:cNvSpPr/>
            <p:nvPr/>
          </p:nvSpPr>
          <p:spPr>
            <a:xfrm>
              <a:off x="-3037629"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6" name="Freeform: Shape 1505">
              <a:extLst>
                <a:ext uri="{FF2B5EF4-FFF2-40B4-BE49-F238E27FC236}">
                  <a16:creationId xmlns:a16="http://schemas.microsoft.com/office/drawing/2014/main" id="{6084655C-84F5-5109-9905-02E3774ECE48}"/>
                </a:ext>
              </a:extLst>
            </p:cNvPr>
            <p:cNvSpPr/>
            <p:nvPr/>
          </p:nvSpPr>
          <p:spPr>
            <a:xfrm>
              <a:off x="-2853542"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8" name="Freeform: Shape 1507">
              <a:extLst>
                <a:ext uri="{FF2B5EF4-FFF2-40B4-BE49-F238E27FC236}">
                  <a16:creationId xmlns:a16="http://schemas.microsoft.com/office/drawing/2014/main" id="{48FDD111-7C4E-D8ED-08DA-8306F9DFAC68}"/>
                </a:ext>
              </a:extLst>
            </p:cNvPr>
            <p:cNvSpPr/>
            <p:nvPr/>
          </p:nvSpPr>
          <p:spPr>
            <a:xfrm>
              <a:off x="-2631322"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0" name="Freeform: Shape 1509">
              <a:extLst>
                <a:ext uri="{FF2B5EF4-FFF2-40B4-BE49-F238E27FC236}">
                  <a16:creationId xmlns:a16="http://schemas.microsoft.com/office/drawing/2014/main" id="{C9B1A3A2-B434-CE8C-35A2-FF15FAD476E7}"/>
                </a:ext>
              </a:extLst>
            </p:cNvPr>
            <p:cNvSpPr/>
            <p:nvPr/>
          </p:nvSpPr>
          <p:spPr>
            <a:xfrm>
              <a:off x="-2459498"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2" name="Freeform: Shape 1511">
              <a:extLst>
                <a:ext uri="{FF2B5EF4-FFF2-40B4-BE49-F238E27FC236}">
                  <a16:creationId xmlns:a16="http://schemas.microsoft.com/office/drawing/2014/main" id="{E0017937-1E41-EB40-002F-A7F8CA01BB2F}"/>
                </a:ext>
              </a:extLst>
            </p:cNvPr>
            <p:cNvSpPr/>
            <p:nvPr/>
          </p:nvSpPr>
          <p:spPr>
            <a:xfrm>
              <a:off x="-2263147"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4" name="Freeform: Shape 1513">
              <a:extLst>
                <a:ext uri="{FF2B5EF4-FFF2-40B4-BE49-F238E27FC236}">
                  <a16:creationId xmlns:a16="http://schemas.microsoft.com/office/drawing/2014/main" id="{9CFF13D5-C323-CF35-BFB4-D11D2EA8F81B}"/>
                </a:ext>
              </a:extLst>
            </p:cNvPr>
            <p:cNvSpPr/>
            <p:nvPr/>
          </p:nvSpPr>
          <p:spPr>
            <a:xfrm>
              <a:off x="-2091324" y="3649766"/>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8"/>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6" name="Freeform: Shape 1515">
              <a:extLst>
                <a:ext uri="{FF2B5EF4-FFF2-40B4-BE49-F238E27FC236}">
                  <a16:creationId xmlns:a16="http://schemas.microsoft.com/office/drawing/2014/main" id="{39BF7CFA-CE46-AD02-FE11-7DFA271D1683}"/>
                </a:ext>
              </a:extLst>
            </p:cNvPr>
            <p:cNvSpPr/>
            <p:nvPr/>
          </p:nvSpPr>
          <p:spPr>
            <a:xfrm>
              <a:off x="-1856840" y="3651632"/>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8" name="Freeform: Shape 1517">
              <a:extLst>
                <a:ext uri="{FF2B5EF4-FFF2-40B4-BE49-F238E27FC236}">
                  <a16:creationId xmlns:a16="http://schemas.microsoft.com/office/drawing/2014/main" id="{6B388383-1AB5-0DDC-F763-76A1FC3BC87B}"/>
                </a:ext>
              </a:extLst>
            </p:cNvPr>
            <p:cNvSpPr/>
            <p:nvPr/>
          </p:nvSpPr>
          <p:spPr>
            <a:xfrm>
              <a:off x="-1685017" y="3649766"/>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0" name="Freeform: Shape 1519">
              <a:extLst>
                <a:ext uri="{FF2B5EF4-FFF2-40B4-BE49-F238E27FC236}">
                  <a16:creationId xmlns:a16="http://schemas.microsoft.com/office/drawing/2014/main" id="{CB184118-8724-59E6-8DFA-9D07C3A64258}"/>
                </a:ext>
              </a:extLst>
            </p:cNvPr>
            <p:cNvSpPr/>
            <p:nvPr/>
          </p:nvSpPr>
          <p:spPr>
            <a:xfrm>
              <a:off x="-1488666"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2" name="Freeform: Shape 1521">
              <a:extLst>
                <a:ext uri="{FF2B5EF4-FFF2-40B4-BE49-F238E27FC236}">
                  <a16:creationId xmlns:a16="http://schemas.microsoft.com/office/drawing/2014/main" id="{1418EE94-0BD8-C7E0-5B71-049B5CA458CD}"/>
                </a:ext>
              </a:extLst>
            </p:cNvPr>
            <p:cNvSpPr/>
            <p:nvPr/>
          </p:nvSpPr>
          <p:spPr>
            <a:xfrm>
              <a:off x="-1316842"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8"/>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4" name="Freeform: Shape 1523">
              <a:extLst>
                <a:ext uri="{FF2B5EF4-FFF2-40B4-BE49-F238E27FC236}">
                  <a16:creationId xmlns:a16="http://schemas.microsoft.com/office/drawing/2014/main" id="{FD2D16E9-C981-E3B6-30BF-F1DB63025211}"/>
                </a:ext>
              </a:extLst>
            </p:cNvPr>
            <p:cNvSpPr/>
            <p:nvPr/>
          </p:nvSpPr>
          <p:spPr>
            <a:xfrm>
              <a:off x="-1082359"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6" name="Freeform: Shape 1525">
              <a:extLst>
                <a:ext uri="{FF2B5EF4-FFF2-40B4-BE49-F238E27FC236}">
                  <a16:creationId xmlns:a16="http://schemas.microsoft.com/office/drawing/2014/main" id="{479C5E0D-CE87-85AC-0018-971205594CC7}"/>
                </a:ext>
              </a:extLst>
            </p:cNvPr>
            <p:cNvSpPr/>
            <p:nvPr/>
          </p:nvSpPr>
          <p:spPr>
            <a:xfrm>
              <a:off x="-910535"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8" name="Freeform: Shape 1527">
              <a:extLst>
                <a:ext uri="{FF2B5EF4-FFF2-40B4-BE49-F238E27FC236}">
                  <a16:creationId xmlns:a16="http://schemas.microsoft.com/office/drawing/2014/main" id="{7DDACC9D-A687-A0F9-DBB8-827CA88D527A}"/>
                </a:ext>
              </a:extLst>
            </p:cNvPr>
            <p:cNvSpPr/>
            <p:nvPr/>
          </p:nvSpPr>
          <p:spPr>
            <a:xfrm>
              <a:off x="-714186"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0" name="Freeform: Shape 1529">
              <a:extLst>
                <a:ext uri="{FF2B5EF4-FFF2-40B4-BE49-F238E27FC236}">
                  <a16:creationId xmlns:a16="http://schemas.microsoft.com/office/drawing/2014/main" id="{2790400A-9BCE-E9AA-7304-C63139165700}"/>
                </a:ext>
              </a:extLst>
            </p:cNvPr>
            <p:cNvSpPr/>
            <p:nvPr/>
          </p:nvSpPr>
          <p:spPr>
            <a:xfrm>
              <a:off x="-530099" y="3651632"/>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5" name="Freeform: Shape 1534">
              <a:extLst>
                <a:ext uri="{FF2B5EF4-FFF2-40B4-BE49-F238E27FC236}">
                  <a16:creationId xmlns:a16="http://schemas.microsoft.com/office/drawing/2014/main" id="{1A688814-47E1-71CB-3753-C373217BC8F5}"/>
                </a:ext>
              </a:extLst>
            </p:cNvPr>
            <p:cNvSpPr/>
            <p:nvPr/>
          </p:nvSpPr>
          <p:spPr>
            <a:xfrm>
              <a:off x="-320141" y="3649766"/>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8"/>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7" name="Freeform: Shape 1536">
              <a:extLst>
                <a:ext uri="{FF2B5EF4-FFF2-40B4-BE49-F238E27FC236}">
                  <a16:creationId xmlns:a16="http://schemas.microsoft.com/office/drawing/2014/main" id="{3D5D26AD-A33D-CA10-5BE0-34262096244B}"/>
                </a:ext>
              </a:extLst>
            </p:cNvPr>
            <p:cNvSpPr/>
            <p:nvPr/>
          </p:nvSpPr>
          <p:spPr>
            <a:xfrm>
              <a:off x="-136053" y="3649766"/>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8"/>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53" name="Freeform: Shape 1552">
              <a:extLst>
                <a:ext uri="{FF2B5EF4-FFF2-40B4-BE49-F238E27FC236}">
                  <a16:creationId xmlns:a16="http://schemas.microsoft.com/office/drawing/2014/main" id="{10EA0858-011F-247D-902B-1F69DDE3641B}"/>
                </a:ext>
              </a:extLst>
            </p:cNvPr>
            <p:cNvSpPr/>
            <p:nvPr/>
          </p:nvSpPr>
          <p:spPr>
            <a:xfrm>
              <a:off x="48034" y="3649766"/>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8"/>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55" name="Freeform: Shape 1554">
              <a:extLst>
                <a:ext uri="{FF2B5EF4-FFF2-40B4-BE49-F238E27FC236}">
                  <a16:creationId xmlns:a16="http://schemas.microsoft.com/office/drawing/2014/main" id="{1A4C86F8-3C57-0A87-761E-0E46F065A6B5}"/>
                </a:ext>
              </a:extLst>
            </p:cNvPr>
            <p:cNvSpPr/>
            <p:nvPr/>
          </p:nvSpPr>
          <p:spPr>
            <a:xfrm>
              <a:off x="244383"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grpSp>
      <p:sp>
        <p:nvSpPr>
          <p:cNvPr id="58" name="Freeform 57">
            <a:extLst>
              <a:ext uri="{FF2B5EF4-FFF2-40B4-BE49-F238E27FC236}">
                <a16:creationId xmlns:a16="http://schemas.microsoft.com/office/drawing/2014/main" id="{6D8423C6-4012-31D7-375A-9FD577E7A4D2}"/>
              </a:ext>
            </a:extLst>
          </p:cNvPr>
          <p:cNvSpPr/>
          <p:nvPr/>
        </p:nvSpPr>
        <p:spPr>
          <a:xfrm>
            <a:off x="11200699" y="6244255"/>
            <a:ext cx="940501" cy="550193"/>
          </a:xfrm>
          <a:custGeom>
            <a:avLst/>
            <a:gdLst/>
            <a:ahLst/>
            <a:cxnLst/>
            <a:rect l="l" t="t" r="r" b="b"/>
            <a:pathLst>
              <a:path w="1410752" h="825290">
                <a:moveTo>
                  <a:pt x="0" y="0"/>
                </a:moveTo>
                <a:lnTo>
                  <a:pt x="1410752" y="0"/>
                </a:lnTo>
                <a:lnTo>
                  <a:pt x="1410752" y="825290"/>
                </a:lnTo>
                <a:lnTo>
                  <a:pt x="0" y="825290"/>
                </a:lnTo>
                <a:lnTo>
                  <a:pt x="0" y="0"/>
                </a:lnTo>
                <a:close/>
              </a:path>
            </a:pathLst>
          </a:custGeom>
          <a:blipFill>
            <a:blip r:embed="rId6"/>
            <a:stretch>
              <a:fillRect/>
            </a:stretch>
          </a:blipFill>
        </p:spPr>
        <p:txBody>
          <a:bodyPr/>
          <a:lstStyle/>
          <a:p>
            <a:endParaRPr lang="en-IN" sz="1200"/>
          </a:p>
        </p:txBody>
      </p:sp>
      <p:sp>
        <p:nvSpPr>
          <p:cNvPr id="59" name="Freeform 58">
            <a:extLst>
              <a:ext uri="{FF2B5EF4-FFF2-40B4-BE49-F238E27FC236}">
                <a16:creationId xmlns:a16="http://schemas.microsoft.com/office/drawing/2014/main" id="{7AE63DCD-8A41-549B-EA33-A14EFB479207}"/>
              </a:ext>
            </a:extLst>
          </p:cNvPr>
          <p:cNvSpPr/>
          <p:nvPr/>
        </p:nvSpPr>
        <p:spPr>
          <a:xfrm>
            <a:off x="10379075" y="63553"/>
            <a:ext cx="1762125" cy="633231"/>
          </a:xfrm>
          <a:custGeom>
            <a:avLst/>
            <a:gdLst/>
            <a:ahLst/>
            <a:cxnLst/>
            <a:rect l="l" t="t" r="r" b="b"/>
            <a:pathLst>
              <a:path w="2753181" h="949847">
                <a:moveTo>
                  <a:pt x="0" y="0"/>
                </a:moveTo>
                <a:lnTo>
                  <a:pt x="2753181" y="0"/>
                </a:lnTo>
                <a:lnTo>
                  <a:pt x="2753181" y="949847"/>
                </a:lnTo>
                <a:lnTo>
                  <a:pt x="0" y="949847"/>
                </a:lnTo>
                <a:lnTo>
                  <a:pt x="0" y="0"/>
                </a:lnTo>
                <a:close/>
              </a:path>
            </a:pathLst>
          </a:custGeom>
          <a:blipFill>
            <a:blip r:embed="rId7"/>
            <a:stretch>
              <a:fillRect/>
            </a:stretch>
          </a:blipFill>
        </p:spPr>
        <p:txBody>
          <a:bodyPr/>
          <a:lstStyle/>
          <a:p>
            <a:endParaRPr lang="en-IN" sz="1200"/>
          </a:p>
        </p:txBody>
      </p:sp>
      <p:pic>
        <p:nvPicPr>
          <p:cNvPr id="5" name="Picture 4">
            <a:extLst>
              <a:ext uri="{FF2B5EF4-FFF2-40B4-BE49-F238E27FC236}">
                <a16:creationId xmlns:a16="http://schemas.microsoft.com/office/drawing/2014/main" id="{8D18403D-AE05-A9B1-7DEC-6E8F138F2C96}"/>
              </a:ext>
            </a:extLst>
          </p:cNvPr>
          <p:cNvPicPr>
            <a:picLocks noChangeAspect="1"/>
          </p:cNvPicPr>
          <p:nvPr/>
        </p:nvPicPr>
        <p:blipFill>
          <a:blip r:embed="rId8"/>
          <a:stretch>
            <a:fillRect/>
          </a:stretch>
        </p:blipFill>
        <p:spPr>
          <a:xfrm>
            <a:off x="888373" y="1203882"/>
            <a:ext cx="4519778" cy="2139682"/>
          </a:xfrm>
          <a:prstGeom prst="rect">
            <a:avLst/>
          </a:prstGeom>
        </p:spPr>
      </p:pic>
      <p:pic>
        <p:nvPicPr>
          <p:cNvPr id="7" name="Picture 6">
            <a:extLst>
              <a:ext uri="{FF2B5EF4-FFF2-40B4-BE49-F238E27FC236}">
                <a16:creationId xmlns:a16="http://schemas.microsoft.com/office/drawing/2014/main" id="{ACF1323B-5B94-C3AC-DC2D-0753F7C7BC5D}"/>
              </a:ext>
            </a:extLst>
          </p:cNvPr>
          <p:cNvPicPr>
            <a:picLocks noChangeAspect="1"/>
          </p:cNvPicPr>
          <p:nvPr/>
        </p:nvPicPr>
        <p:blipFill>
          <a:blip r:embed="rId9"/>
          <a:stretch>
            <a:fillRect/>
          </a:stretch>
        </p:blipFill>
        <p:spPr>
          <a:xfrm>
            <a:off x="5903718" y="1203881"/>
            <a:ext cx="4990822" cy="2139682"/>
          </a:xfrm>
          <a:prstGeom prst="rect">
            <a:avLst/>
          </a:prstGeom>
        </p:spPr>
      </p:pic>
      <p:pic>
        <p:nvPicPr>
          <p:cNvPr id="9" name="Picture 8">
            <a:extLst>
              <a:ext uri="{FF2B5EF4-FFF2-40B4-BE49-F238E27FC236}">
                <a16:creationId xmlns:a16="http://schemas.microsoft.com/office/drawing/2014/main" id="{3C056A99-476F-4637-07DA-F22449E6949A}"/>
              </a:ext>
            </a:extLst>
          </p:cNvPr>
          <p:cNvPicPr>
            <a:picLocks noChangeAspect="1"/>
          </p:cNvPicPr>
          <p:nvPr/>
        </p:nvPicPr>
        <p:blipFill>
          <a:blip r:embed="rId10"/>
          <a:stretch>
            <a:fillRect/>
          </a:stretch>
        </p:blipFill>
        <p:spPr>
          <a:xfrm>
            <a:off x="888373" y="4037413"/>
            <a:ext cx="4646243" cy="2206842"/>
          </a:xfrm>
          <a:prstGeom prst="rect">
            <a:avLst/>
          </a:prstGeom>
        </p:spPr>
      </p:pic>
      <p:pic>
        <p:nvPicPr>
          <p:cNvPr id="11" name="Picture 10">
            <a:extLst>
              <a:ext uri="{FF2B5EF4-FFF2-40B4-BE49-F238E27FC236}">
                <a16:creationId xmlns:a16="http://schemas.microsoft.com/office/drawing/2014/main" id="{B5DC1B71-A614-4436-F355-9C4FDBAD8A6C}"/>
              </a:ext>
            </a:extLst>
          </p:cNvPr>
          <p:cNvPicPr>
            <a:picLocks noChangeAspect="1"/>
          </p:cNvPicPr>
          <p:nvPr/>
        </p:nvPicPr>
        <p:blipFill>
          <a:blip r:embed="rId11"/>
          <a:stretch>
            <a:fillRect/>
          </a:stretch>
        </p:blipFill>
        <p:spPr>
          <a:xfrm>
            <a:off x="5903718" y="4037413"/>
            <a:ext cx="4990822" cy="2296521"/>
          </a:xfrm>
          <a:prstGeom prst="rect">
            <a:avLst/>
          </a:prstGeom>
        </p:spPr>
      </p:pic>
      <p:sp>
        <p:nvSpPr>
          <p:cNvPr id="13" name="TextBox 12">
            <a:extLst>
              <a:ext uri="{FF2B5EF4-FFF2-40B4-BE49-F238E27FC236}">
                <a16:creationId xmlns:a16="http://schemas.microsoft.com/office/drawing/2014/main" id="{43C6404E-01B6-E861-2D3C-90E8575B93F6}"/>
              </a:ext>
            </a:extLst>
          </p:cNvPr>
          <p:cNvSpPr txBox="1"/>
          <p:nvPr/>
        </p:nvSpPr>
        <p:spPr>
          <a:xfrm>
            <a:off x="888372" y="443635"/>
            <a:ext cx="6096000" cy="646331"/>
          </a:xfrm>
          <a:prstGeom prst="rect">
            <a:avLst/>
          </a:prstGeom>
          <a:noFill/>
        </p:spPr>
        <p:txBody>
          <a:bodyPr wrap="square">
            <a:spAutoFit/>
          </a:bodyPr>
          <a:lstStyle/>
          <a:p>
            <a:r>
              <a:rPr lang="en-IN" sz="3600" b="1"/>
              <a:t>User Interface</a:t>
            </a:r>
          </a:p>
        </p:txBody>
      </p:sp>
    </p:spTree>
    <p:extLst>
      <p:ext uri="{BB962C8B-B14F-4D97-AF65-F5344CB8AC3E}">
        <p14:creationId xmlns:p14="http://schemas.microsoft.com/office/powerpoint/2010/main" val="1906710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5EC48-9B94-2F14-A4AB-A8F3720ED485}"/>
            </a:ext>
          </a:extLst>
        </p:cNvPr>
        <p:cNvGrpSpPr/>
        <p:nvPr/>
      </p:nvGrpSpPr>
      <p:grpSpPr>
        <a:xfrm>
          <a:off x="0" y="0"/>
          <a:ext cx="0" cy="0"/>
          <a:chOff x="0" y="0"/>
          <a:chExt cx="0" cy="0"/>
        </a:xfrm>
      </p:grpSpPr>
      <p:graphicFrame>
        <p:nvGraphicFramePr>
          <p:cNvPr id="96" name="think-cell data - do not delete" hidden="1">
            <a:extLst>
              <a:ext uri="{FF2B5EF4-FFF2-40B4-BE49-F238E27FC236}">
                <a16:creationId xmlns:a16="http://schemas.microsoft.com/office/drawing/2014/main" id="{D021CFCA-4F20-317E-CE8E-55C63AAC2FD1}"/>
              </a:ext>
            </a:extLst>
          </p:cNvPr>
          <p:cNvGraphicFramePr>
            <a:graphicFrameLocks noChangeAspect="1"/>
          </p:cNvGraphicFramePr>
          <p:nvPr>
            <p:custDataLst>
              <p:tags r:id="rId1"/>
            </p:custDataLst>
          </p:nvPr>
        </p:nvGraphicFramePr>
        <p:xfrm>
          <a:off x="7934" y="4264"/>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96" name="think-cell data - do not delete" hidden="1">
                        <a:extLst>
                          <a:ext uri="{FF2B5EF4-FFF2-40B4-BE49-F238E27FC236}">
                            <a16:creationId xmlns:a16="http://schemas.microsoft.com/office/drawing/2014/main" id="{D021CFCA-4F20-317E-CE8E-55C63AAC2FD1}"/>
                          </a:ext>
                        </a:extLst>
                      </p:cNvPr>
                      <p:cNvPicPr/>
                      <p:nvPr/>
                    </p:nvPicPr>
                    <p:blipFill>
                      <a:blip r:embed="rId5"/>
                      <a:stretch>
                        <a:fillRect/>
                      </a:stretch>
                    </p:blipFill>
                    <p:spPr>
                      <a:xfrm>
                        <a:off x="7934" y="4264"/>
                        <a:ext cx="1588" cy="1588"/>
                      </a:xfrm>
                      <a:prstGeom prst="rect">
                        <a:avLst/>
                      </a:prstGeom>
                    </p:spPr>
                  </p:pic>
                </p:oleObj>
              </mc:Fallback>
            </mc:AlternateContent>
          </a:graphicData>
        </a:graphic>
      </p:graphicFrame>
      <p:sp>
        <p:nvSpPr>
          <p:cNvPr id="172" name="Rectangle 171" hidden="1">
            <a:extLst>
              <a:ext uri="{FF2B5EF4-FFF2-40B4-BE49-F238E27FC236}">
                <a16:creationId xmlns:a16="http://schemas.microsoft.com/office/drawing/2014/main" id="{5AF54872-B906-0A42-29A9-374B943FF90E}"/>
              </a:ext>
            </a:extLst>
          </p:cNvPr>
          <p:cNvSpPr/>
          <p:nvPr/>
        </p:nvSpPr>
        <p:spPr bwMode="gray">
          <a:xfrm>
            <a:off x="1445560" y="2954166"/>
            <a:ext cx="4469812" cy="2142220"/>
          </a:xfrm>
          <a:prstGeom prst="rect">
            <a:avLst/>
          </a:prstGeom>
          <a:noFill/>
          <a:ln w="25400" algn="ctr">
            <a:noFill/>
            <a:miter lim="800000"/>
            <a:headEnd/>
            <a:tailEnd/>
          </a:ln>
        </p:spPr>
        <p:txBody>
          <a:bodyPr lIns="182736" tIns="146190" rIns="182736" bIns="146190" rtlCol="0" anchor="ctr"/>
          <a:lstStyle/>
          <a:p>
            <a:pPr algn="ctr" defTabSz="1088176" fontAlgn="base">
              <a:spcAft>
                <a:spcPct val="0"/>
              </a:spcAft>
              <a:buClr>
                <a:srgbClr val="F0AB00"/>
              </a:buClr>
              <a:buSzPct val="80000"/>
              <a:defRPr/>
            </a:pPr>
            <a:r>
              <a:rPr lang="en-US" sz="1400" spc="50">
                <a:gradFill flip="none" rotWithShape="1">
                  <a:gsLst>
                    <a:gs pos="0">
                      <a:srgbClr val="89D1FF"/>
                    </a:gs>
                    <a:gs pos="100000">
                      <a:srgbClr val="1B90FF"/>
                    </a:gs>
                  </a:gsLst>
                  <a:lin ang="10800000" scaled="1"/>
                  <a:tileRect/>
                </a:gradFill>
                <a:latin typeface="72 Brand Medium"/>
              </a:rPr>
              <a:t>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a:t>
            </a:r>
            <a:endParaRPr lang="en-US" sz="1400" kern="0">
              <a:gradFill flip="none" rotWithShape="1">
                <a:gsLst>
                  <a:gs pos="0">
                    <a:srgbClr val="89D1FF"/>
                  </a:gs>
                  <a:gs pos="100000">
                    <a:srgbClr val="1B90FF"/>
                  </a:gs>
                </a:gsLst>
                <a:lin ang="10800000" scaled="1"/>
                <a:tileRect/>
              </a:gradFill>
              <a:latin typeface="72 Brand"/>
              <a:ea typeface="72 Brand" pitchFamily="34" charset="-128"/>
              <a:cs typeface="72 Brand" pitchFamily="34" charset="-128"/>
            </a:endParaRPr>
          </a:p>
        </p:txBody>
      </p:sp>
      <p:grpSp>
        <p:nvGrpSpPr>
          <p:cNvPr id="142" name="Group 141" hidden="1">
            <a:extLst>
              <a:ext uri="{FF2B5EF4-FFF2-40B4-BE49-F238E27FC236}">
                <a16:creationId xmlns:a16="http://schemas.microsoft.com/office/drawing/2014/main" id="{B057E0FD-C4FB-A1C7-FCE4-69F3AC22E04C}"/>
              </a:ext>
            </a:extLst>
          </p:cNvPr>
          <p:cNvGrpSpPr/>
          <p:nvPr/>
        </p:nvGrpSpPr>
        <p:grpSpPr>
          <a:xfrm>
            <a:off x="2545528" y="1260063"/>
            <a:ext cx="4649202" cy="1958791"/>
            <a:chOff x="2541163" y="1319324"/>
            <a:chExt cx="4652836" cy="1960322"/>
          </a:xfrm>
        </p:grpSpPr>
        <p:sp>
          <p:nvSpPr>
            <p:cNvPr id="88" name="Freeform: Shape 87">
              <a:extLst>
                <a:ext uri="{FF2B5EF4-FFF2-40B4-BE49-F238E27FC236}">
                  <a16:creationId xmlns:a16="http://schemas.microsoft.com/office/drawing/2014/main" id="{EB415880-23B0-0967-882B-CCF97DCDE8D8}"/>
                </a:ext>
              </a:extLst>
            </p:cNvPr>
            <p:cNvSpPr/>
            <p:nvPr/>
          </p:nvSpPr>
          <p:spPr>
            <a:xfrm>
              <a:off x="2592613" y="1648970"/>
              <a:ext cx="283571" cy="329519"/>
            </a:xfrm>
            <a:custGeom>
              <a:avLst/>
              <a:gdLst>
                <a:gd name="connsiteX0" fmla="*/ 283572 w 283571"/>
                <a:gd name="connsiteY0" fmla="*/ 329520 h 329519"/>
                <a:gd name="connsiteX1" fmla="*/ 283572 w 283571"/>
                <a:gd name="connsiteY1" fmla="*/ 0 h 329519"/>
                <a:gd name="connsiteX2" fmla="*/ 0 w 283571"/>
                <a:gd name="connsiteY2" fmla="*/ 0 h 329519"/>
              </a:gdLst>
              <a:ahLst/>
              <a:cxnLst>
                <a:cxn ang="0">
                  <a:pos x="connsiteX0" y="connsiteY0"/>
                </a:cxn>
                <a:cxn ang="0">
                  <a:pos x="connsiteX1" y="connsiteY1"/>
                </a:cxn>
                <a:cxn ang="0">
                  <a:pos x="connsiteX2" y="connsiteY2"/>
                </a:cxn>
              </a:cxnLst>
              <a:rect l="l" t="t" r="r" b="b"/>
              <a:pathLst>
                <a:path w="283571" h="329519">
                  <a:moveTo>
                    <a:pt x="283572" y="329520"/>
                  </a:moveTo>
                  <a:lnTo>
                    <a:pt x="283572" y="0"/>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8" name="Freeform: Shape 127">
              <a:extLst>
                <a:ext uri="{FF2B5EF4-FFF2-40B4-BE49-F238E27FC236}">
                  <a16:creationId xmlns:a16="http://schemas.microsoft.com/office/drawing/2014/main" id="{6377C5EA-6EF9-5AB4-4F1F-36700CFE2C7D}"/>
                </a:ext>
              </a:extLst>
            </p:cNvPr>
            <p:cNvSpPr/>
            <p:nvPr/>
          </p:nvSpPr>
          <p:spPr>
            <a:xfrm>
              <a:off x="2592613" y="2299224"/>
              <a:ext cx="295027" cy="1804"/>
            </a:xfrm>
            <a:custGeom>
              <a:avLst/>
              <a:gdLst>
                <a:gd name="connsiteX0" fmla="*/ 295027 w 295027"/>
                <a:gd name="connsiteY0" fmla="*/ 0 h 1804"/>
                <a:gd name="connsiteX1" fmla="*/ 0 w 295027"/>
                <a:gd name="connsiteY1" fmla="*/ 0 h 1804"/>
              </a:gdLst>
              <a:ahLst/>
              <a:cxnLst>
                <a:cxn ang="0">
                  <a:pos x="connsiteX0" y="connsiteY0"/>
                </a:cxn>
                <a:cxn ang="0">
                  <a:pos x="connsiteX1" y="connsiteY1"/>
                </a:cxn>
              </a:cxnLst>
              <a:rect l="l" t="t" r="r" b="b"/>
              <a:pathLst>
                <a:path w="295027" h="1804">
                  <a:moveTo>
                    <a:pt x="295027"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grpSp>
          <p:nvGrpSpPr>
            <p:cNvPr id="141" name="Group 140">
              <a:extLst>
                <a:ext uri="{FF2B5EF4-FFF2-40B4-BE49-F238E27FC236}">
                  <a16:creationId xmlns:a16="http://schemas.microsoft.com/office/drawing/2014/main" id="{ABB31BBA-BCA5-338A-CBE4-76A83F9920CC}"/>
                </a:ext>
              </a:extLst>
            </p:cNvPr>
            <p:cNvGrpSpPr/>
            <p:nvPr/>
          </p:nvGrpSpPr>
          <p:grpSpPr>
            <a:xfrm>
              <a:off x="2541163" y="1319324"/>
              <a:ext cx="4652836" cy="1960322"/>
              <a:chOff x="2541163" y="1319324"/>
              <a:chExt cx="4652836" cy="1960322"/>
            </a:xfrm>
          </p:grpSpPr>
          <p:sp>
            <p:nvSpPr>
              <p:cNvPr id="72" name="Freeform: Shape 71">
                <a:extLst>
                  <a:ext uri="{FF2B5EF4-FFF2-40B4-BE49-F238E27FC236}">
                    <a16:creationId xmlns:a16="http://schemas.microsoft.com/office/drawing/2014/main" id="{5EDDE7BD-C0B5-5EC1-84D5-1E517BAD1CA3}"/>
                  </a:ext>
                </a:extLst>
              </p:cNvPr>
              <p:cNvSpPr/>
              <p:nvPr/>
            </p:nvSpPr>
            <p:spPr>
              <a:xfrm>
                <a:off x="2592613" y="1324141"/>
                <a:ext cx="1271553" cy="1269677"/>
              </a:xfrm>
              <a:custGeom>
                <a:avLst/>
                <a:gdLst>
                  <a:gd name="connsiteX0" fmla="*/ 1271553 w 1271553"/>
                  <a:gd name="connsiteY0" fmla="*/ 0 h 1269677"/>
                  <a:gd name="connsiteX1" fmla="*/ 0 w 1271553"/>
                  <a:gd name="connsiteY1" fmla="*/ 1269677 h 1269677"/>
                </a:gdLst>
                <a:ahLst/>
                <a:cxnLst>
                  <a:cxn ang="0">
                    <a:pos x="connsiteX0" y="connsiteY0"/>
                  </a:cxn>
                  <a:cxn ang="0">
                    <a:pos x="connsiteX1" y="connsiteY1"/>
                  </a:cxn>
                </a:cxnLst>
                <a:rect l="l" t="t" r="r" b="b"/>
                <a:pathLst>
                  <a:path w="1271553" h="1269677">
                    <a:moveTo>
                      <a:pt x="1271553" y="0"/>
                    </a:moveTo>
                    <a:lnTo>
                      <a:pt x="0" y="1269677"/>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73" name="Freeform: Shape 72">
                <a:extLst>
                  <a:ext uri="{FF2B5EF4-FFF2-40B4-BE49-F238E27FC236}">
                    <a16:creationId xmlns:a16="http://schemas.microsoft.com/office/drawing/2014/main" id="{0E2325B1-AAC8-DCCC-49C6-7D0EE1F21E83}"/>
                  </a:ext>
                </a:extLst>
              </p:cNvPr>
              <p:cNvSpPr/>
              <p:nvPr/>
            </p:nvSpPr>
            <p:spPr>
              <a:xfrm>
                <a:off x="3879645" y="1971274"/>
                <a:ext cx="660139" cy="1804"/>
              </a:xfrm>
              <a:custGeom>
                <a:avLst/>
                <a:gdLst>
                  <a:gd name="connsiteX0" fmla="*/ 660140 w 660139"/>
                  <a:gd name="connsiteY0" fmla="*/ 0 h 1804"/>
                  <a:gd name="connsiteX1" fmla="*/ 0 w 660139"/>
                  <a:gd name="connsiteY1" fmla="*/ 0 h 1804"/>
                </a:gdLst>
                <a:ahLst/>
                <a:cxnLst>
                  <a:cxn ang="0">
                    <a:pos x="connsiteX0" y="connsiteY0"/>
                  </a:cxn>
                  <a:cxn ang="0">
                    <a:pos x="connsiteX1" y="connsiteY1"/>
                  </a:cxn>
                </a:cxnLst>
                <a:rect l="l" t="t" r="r" b="b"/>
                <a:pathLst>
                  <a:path w="660139" h="1804">
                    <a:moveTo>
                      <a:pt x="660140"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77" name="Freeform: Shape 76">
                <a:extLst>
                  <a:ext uri="{FF2B5EF4-FFF2-40B4-BE49-F238E27FC236}">
                    <a16:creationId xmlns:a16="http://schemas.microsoft.com/office/drawing/2014/main" id="{9526EBD5-57E4-F6B4-4DF4-97F42DE97958}"/>
                  </a:ext>
                </a:extLst>
              </p:cNvPr>
              <p:cNvSpPr/>
              <p:nvPr/>
            </p:nvSpPr>
            <p:spPr>
              <a:xfrm>
                <a:off x="2621892" y="1324141"/>
                <a:ext cx="1905841" cy="1903027"/>
              </a:xfrm>
              <a:custGeom>
                <a:avLst/>
                <a:gdLst>
                  <a:gd name="connsiteX0" fmla="*/ 0 w 1905841"/>
                  <a:gd name="connsiteY0" fmla="*/ 1903027 h 1903027"/>
                  <a:gd name="connsiteX1" fmla="*/ 1905842 w 1905841"/>
                  <a:gd name="connsiteY1" fmla="*/ 0 h 1903027"/>
                  <a:gd name="connsiteX2" fmla="*/ 1905842 w 1905841"/>
                  <a:gd name="connsiteY2" fmla="*/ 325461 h 1903027"/>
                </a:gdLst>
                <a:ahLst/>
                <a:cxnLst>
                  <a:cxn ang="0">
                    <a:pos x="connsiteX0" y="connsiteY0"/>
                  </a:cxn>
                  <a:cxn ang="0">
                    <a:pos x="connsiteX1" y="connsiteY1"/>
                  </a:cxn>
                  <a:cxn ang="0">
                    <a:pos x="connsiteX2" y="connsiteY2"/>
                  </a:cxn>
                </a:cxnLst>
                <a:rect l="l" t="t" r="r" b="b"/>
                <a:pathLst>
                  <a:path w="1905841" h="1903027">
                    <a:moveTo>
                      <a:pt x="0" y="1903027"/>
                    </a:moveTo>
                    <a:lnTo>
                      <a:pt x="1905842" y="0"/>
                    </a:lnTo>
                    <a:lnTo>
                      <a:pt x="1905842" y="32546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0" name="Freeform: Shape 79">
                <a:extLst>
                  <a:ext uri="{FF2B5EF4-FFF2-40B4-BE49-F238E27FC236}">
                    <a16:creationId xmlns:a16="http://schemas.microsoft.com/office/drawing/2014/main" id="{F9DF9FB7-E7CB-645C-6390-A3323A01ACE8}"/>
                  </a:ext>
                </a:extLst>
              </p:cNvPr>
              <p:cNvSpPr/>
              <p:nvPr/>
            </p:nvSpPr>
            <p:spPr>
              <a:xfrm>
                <a:off x="3243588" y="1319324"/>
                <a:ext cx="1950364" cy="1947478"/>
              </a:xfrm>
              <a:custGeom>
                <a:avLst/>
                <a:gdLst>
                  <a:gd name="connsiteX0" fmla="*/ 0 w 1950364"/>
                  <a:gd name="connsiteY0" fmla="*/ 1947478 h 1947478"/>
                  <a:gd name="connsiteX1" fmla="*/ 1950365 w 1950364"/>
                  <a:gd name="connsiteY1" fmla="*/ 0 h 1947478"/>
                  <a:gd name="connsiteX2" fmla="*/ 1950365 w 1950364"/>
                  <a:gd name="connsiteY2" fmla="*/ 329646 h 1947478"/>
                </a:gdLst>
                <a:ahLst/>
                <a:cxnLst>
                  <a:cxn ang="0">
                    <a:pos x="connsiteX0" y="connsiteY0"/>
                  </a:cxn>
                  <a:cxn ang="0">
                    <a:pos x="connsiteX1" y="connsiteY1"/>
                  </a:cxn>
                  <a:cxn ang="0">
                    <a:pos x="connsiteX2" y="connsiteY2"/>
                  </a:cxn>
                </a:cxnLst>
                <a:rect l="l" t="t" r="r" b="b"/>
                <a:pathLst>
                  <a:path w="1950364" h="1947478">
                    <a:moveTo>
                      <a:pt x="0" y="1947478"/>
                    </a:moveTo>
                    <a:lnTo>
                      <a:pt x="1950365" y="0"/>
                    </a:lnTo>
                    <a:lnTo>
                      <a:pt x="1950365" y="329646"/>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5" name="Freeform: Shape 84">
                <a:extLst>
                  <a:ext uri="{FF2B5EF4-FFF2-40B4-BE49-F238E27FC236}">
                    <a16:creationId xmlns:a16="http://schemas.microsoft.com/office/drawing/2014/main" id="{B4C59AE1-8955-AF3C-8E63-91DA29BB486C}"/>
                  </a:ext>
                </a:extLst>
              </p:cNvPr>
              <p:cNvSpPr/>
              <p:nvPr/>
            </p:nvSpPr>
            <p:spPr>
              <a:xfrm>
                <a:off x="4587862" y="1707645"/>
                <a:ext cx="1534810" cy="1532529"/>
              </a:xfrm>
              <a:custGeom>
                <a:avLst/>
                <a:gdLst>
                  <a:gd name="connsiteX0" fmla="*/ 0 w 1918884"/>
                  <a:gd name="connsiteY0" fmla="*/ 1916034 h 1916034"/>
                  <a:gd name="connsiteX1" fmla="*/ 1918885 w 1918884"/>
                  <a:gd name="connsiteY1" fmla="*/ 0 h 1916034"/>
                  <a:gd name="connsiteX2" fmla="*/ 1918885 w 1918884"/>
                  <a:gd name="connsiteY2" fmla="*/ 324829 h 1916034"/>
                  <a:gd name="connsiteX0" fmla="*/ 0 w 1918885"/>
                  <a:gd name="connsiteY0" fmla="*/ 1916034 h 1916034"/>
                  <a:gd name="connsiteX1" fmla="*/ 1918885 w 1918885"/>
                  <a:gd name="connsiteY1" fmla="*/ 0 h 1916034"/>
                </a:gdLst>
                <a:ahLst/>
                <a:cxnLst>
                  <a:cxn ang="0">
                    <a:pos x="connsiteX0" y="connsiteY0"/>
                  </a:cxn>
                  <a:cxn ang="0">
                    <a:pos x="connsiteX1" y="connsiteY1"/>
                  </a:cxn>
                </a:cxnLst>
                <a:rect l="l" t="t" r="r" b="b"/>
                <a:pathLst>
                  <a:path w="1918885" h="1916034">
                    <a:moveTo>
                      <a:pt x="0" y="1916034"/>
                    </a:moveTo>
                    <a:lnTo>
                      <a:pt x="1918885"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6" name="Freeform: Shape 85">
                <a:extLst>
                  <a:ext uri="{FF2B5EF4-FFF2-40B4-BE49-F238E27FC236}">
                    <a16:creationId xmlns:a16="http://schemas.microsoft.com/office/drawing/2014/main" id="{AEE6A04C-C6C3-1E9C-B069-A4F76DE1DCB7}"/>
                  </a:ext>
                </a:extLst>
              </p:cNvPr>
              <p:cNvSpPr/>
              <p:nvPr/>
            </p:nvSpPr>
            <p:spPr>
              <a:xfrm>
                <a:off x="5245565" y="1782295"/>
                <a:ext cx="1460035" cy="1457880"/>
              </a:xfrm>
              <a:custGeom>
                <a:avLst/>
                <a:gdLst>
                  <a:gd name="connsiteX0" fmla="*/ 0 w 1918866"/>
                  <a:gd name="connsiteY0" fmla="*/ 1916034 h 1916034"/>
                  <a:gd name="connsiteX1" fmla="*/ 1918867 w 1918866"/>
                  <a:gd name="connsiteY1" fmla="*/ 0 h 1916034"/>
                </a:gdLst>
                <a:ahLst/>
                <a:cxnLst>
                  <a:cxn ang="0">
                    <a:pos x="connsiteX0" y="connsiteY0"/>
                  </a:cxn>
                  <a:cxn ang="0">
                    <a:pos x="connsiteX1" y="connsiteY1"/>
                  </a:cxn>
                </a:cxnLst>
                <a:rect l="l" t="t" r="r" b="b"/>
                <a:pathLst>
                  <a:path w="1918866" h="1916034">
                    <a:moveTo>
                      <a:pt x="0" y="1916034"/>
                    </a:moveTo>
                    <a:lnTo>
                      <a:pt x="1918867"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7" name="Freeform: Shape 86">
                <a:extLst>
                  <a:ext uri="{FF2B5EF4-FFF2-40B4-BE49-F238E27FC236}">
                    <a16:creationId xmlns:a16="http://schemas.microsoft.com/office/drawing/2014/main" id="{04D938BE-98D7-BF65-BEAC-856A137A92C7}"/>
                  </a:ext>
                </a:extLst>
              </p:cNvPr>
              <p:cNvSpPr/>
              <p:nvPr/>
            </p:nvSpPr>
            <p:spPr>
              <a:xfrm>
                <a:off x="5894971" y="2491222"/>
                <a:ext cx="768719" cy="767570"/>
              </a:xfrm>
              <a:custGeom>
                <a:avLst/>
                <a:gdLst>
                  <a:gd name="connsiteX0" fmla="*/ 0 w 1918884"/>
                  <a:gd name="connsiteY0" fmla="*/ 1916016 h 1916016"/>
                  <a:gd name="connsiteX1" fmla="*/ 1918885 w 1918884"/>
                  <a:gd name="connsiteY1" fmla="*/ 0 h 1916016"/>
                </a:gdLst>
                <a:ahLst/>
                <a:cxnLst>
                  <a:cxn ang="0">
                    <a:pos x="connsiteX0" y="connsiteY0"/>
                  </a:cxn>
                  <a:cxn ang="0">
                    <a:pos x="connsiteX1" y="connsiteY1"/>
                  </a:cxn>
                </a:cxnLst>
                <a:rect l="l" t="t" r="r" b="b"/>
                <a:pathLst>
                  <a:path w="1918884" h="1916016">
                    <a:moveTo>
                      <a:pt x="0" y="1916016"/>
                    </a:moveTo>
                    <a:lnTo>
                      <a:pt x="1918885"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9" name="Freeform: Shape 88">
                <a:extLst>
                  <a:ext uri="{FF2B5EF4-FFF2-40B4-BE49-F238E27FC236}">
                    <a16:creationId xmlns:a16="http://schemas.microsoft.com/office/drawing/2014/main" id="{189BBCBF-46DC-D42C-4B26-87D7E489DE7F}"/>
                  </a:ext>
                </a:extLst>
              </p:cNvPr>
              <p:cNvSpPr/>
              <p:nvPr/>
            </p:nvSpPr>
            <p:spPr>
              <a:xfrm>
                <a:off x="2541163" y="1328687"/>
                <a:ext cx="667283" cy="972106"/>
              </a:xfrm>
              <a:custGeom>
                <a:avLst/>
                <a:gdLst>
                  <a:gd name="connsiteX0" fmla="*/ 667284 w 667283"/>
                  <a:gd name="connsiteY0" fmla="*/ 972106 h 972106"/>
                  <a:gd name="connsiteX1" fmla="*/ 667284 w 667283"/>
                  <a:gd name="connsiteY1" fmla="*/ 649803 h 972106"/>
                  <a:gd name="connsiteX2" fmla="*/ 51450 w 667283"/>
                  <a:gd name="connsiteY2" fmla="*/ 649803 h 972106"/>
                  <a:gd name="connsiteX3" fmla="*/ 0 w 667283"/>
                  <a:gd name="connsiteY3" fmla="*/ 649803 h 972106"/>
                  <a:gd name="connsiteX4" fmla="*/ 51450 w 667283"/>
                  <a:gd name="connsiteY4" fmla="*/ 602989 h 972106"/>
                  <a:gd name="connsiteX5" fmla="*/ 656279 w 667283"/>
                  <a:gd name="connsiteY5" fmla="*/ 0 h 97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7283" h="972106">
                    <a:moveTo>
                      <a:pt x="667284" y="972106"/>
                    </a:moveTo>
                    <a:lnTo>
                      <a:pt x="667284" y="649803"/>
                    </a:lnTo>
                    <a:lnTo>
                      <a:pt x="51450" y="649803"/>
                    </a:lnTo>
                    <a:lnTo>
                      <a:pt x="0" y="649803"/>
                    </a:lnTo>
                    <a:lnTo>
                      <a:pt x="51450" y="602989"/>
                    </a:lnTo>
                    <a:lnTo>
                      <a:pt x="656279"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90" name="Freeform: Shape 89">
                <a:extLst>
                  <a:ext uri="{FF2B5EF4-FFF2-40B4-BE49-F238E27FC236}">
                    <a16:creationId xmlns:a16="http://schemas.microsoft.com/office/drawing/2014/main" id="{458BAABB-6351-D7B0-6905-24A13633D622}"/>
                  </a:ext>
                </a:extLst>
              </p:cNvPr>
              <p:cNvSpPr/>
              <p:nvPr/>
            </p:nvSpPr>
            <p:spPr>
              <a:xfrm>
                <a:off x="3208446" y="1324141"/>
                <a:ext cx="1668091" cy="1625986"/>
              </a:xfrm>
              <a:custGeom>
                <a:avLst/>
                <a:gdLst>
                  <a:gd name="connsiteX0" fmla="*/ 0 w 1668091"/>
                  <a:gd name="connsiteY0" fmla="*/ 0 h 1625986"/>
                  <a:gd name="connsiteX1" fmla="*/ 0 w 1668091"/>
                  <a:gd name="connsiteY1" fmla="*/ 324829 h 1625986"/>
                  <a:gd name="connsiteX2" fmla="*/ 332298 w 1668091"/>
                  <a:gd name="connsiteY2" fmla="*/ 324829 h 1625986"/>
                  <a:gd name="connsiteX3" fmla="*/ 332298 w 1668091"/>
                  <a:gd name="connsiteY3" fmla="*/ 647133 h 1625986"/>
                  <a:gd name="connsiteX4" fmla="*/ 671198 w 1668091"/>
                  <a:gd name="connsiteY4" fmla="*/ 647133 h 1625986"/>
                  <a:gd name="connsiteX5" fmla="*/ 671198 w 1668091"/>
                  <a:gd name="connsiteY5" fmla="*/ 975083 h 1625986"/>
                  <a:gd name="connsiteX6" fmla="*/ 1004146 w 1668091"/>
                  <a:gd name="connsiteY6" fmla="*/ 975083 h 1625986"/>
                  <a:gd name="connsiteX7" fmla="*/ 1004146 w 1668091"/>
                  <a:gd name="connsiteY7" fmla="*/ 1301049 h 1625986"/>
                  <a:gd name="connsiteX8" fmla="*/ 1332330 w 1668091"/>
                  <a:gd name="connsiteY8" fmla="*/ 1301049 h 1625986"/>
                  <a:gd name="connsiteX9" fmla="*/ 1332330 w 1668091"/>
                  <a:gd name="connsiteY9" fmla="*/ 1625986 h 1625986"/>
                  <a:gd name="connsiteX10" fmla="*/ 1668092 w 1668091"/>
                  <a:gd name="connsiteY10" fmla="*/ 1625986 h 1625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091" h="1625986">
                    <a:moveTo>
                      <a:pt x="0" y="0"/>
                    </a:moveTo>
                    <a:lnTo>
                      <a:pt x="0" y="324829"/>
                    </a:lnTo>
                    <a:lnTo>
                      <a:pt x="332298" y="324829"/>
                    </a:lnTo>
                    <a:lnTo>
                      <a:pt x="332298" y="647133"/>
                    </a:lnTo>
                    <a:lnTo>
                      <a:pt x="671198" y="647133"/>
                    </a:lnTo>
                    <a:lnTo>
                      <a:pt x="671198" y="975083"/>
                    </a:lnTo>
                    <a:lnTo>
                      <a:pt x="1004146" y="975083"/>
                    </a:lnTo>
                    <a:lnTo>
                      <a:pt x="1004146" y="1301049"/>
                    </a:lnTo>
                    <a:lnTo>
                      <a:pt x="1332330" y="1301049"/>
                    </a:lnTo>
                    <a:lnTo>
                      <a:pt x="1332330" y="1625986"/>
                    </a:lnTo>
                    <a:lnTo>
                      <a:pt x="1668092" y="1625986"/>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91" name="Freeform: Shape 90">
                <a:extLst>
                  <a:ext uri="{FF2B5EF4-FFF2-40B4-BE49-F238E27FC236}">
                    <a16:creationId xmlns:a16="http://schemas.microsoft.com/office/drawing/2014/main" id="{199A3DC6-C826-C76A-D363-DFFA4979AD66}"/>
                  </a:ext>
                </a:extLst>
              </p:cNvPr>
              <p:cNvSpPr/>
              <p:nvPr/>
            </p:nvSpPr>
            <p:spPr>
              <a:xfrm>
                <a:off x="2887640" y="2299224"/>
                <a:ext cx="992744" cy="651931"/>
              </a:xfrm>
              <a:custGeom>
                <a:avLst/>
                <a:gdLst>
                  <a:gd name="connsiteX0" fmla="*/ 659526 w 992744"/>
                  <a:gd name="connsiteY0" fmla="*/ 329628 h 651931"/>
                  <a:gd name="connsiteX1" fmla="*/ 659526 w 992744"/>
                  <a:gd name="connsiteY1" fmla="*/ 3482 h 651931"/>
                  <a:gd name="connsiteX2" fmla="*/ 0 w 992744"/>
                  <a:gd name="connsiteY2" fmla="*/ 0 h 651931"/>
                  <a:gd name="connsiteX3" fmla="*/ 0 w 992744"/>
                  <a:gd name="connsiteY3" fmla="*/ 329628 h 651931"/>
                  <a:gd name="connsiteX4" fmla="*/ 333452 w 992744"/>
                  <a:gd name="connsiteY4" fmla="*/ 329628 h 651931"/>
                  <a:gd name="connsiteX5" fmla="*/ 992744 w 992744"/>
                  <a:gd name="connsiteY5" fmla="*/ 329628 h 651931"/>
                  <a:gd name="connsiteX6" fmla="*/ 992744 w 992744"/>
                  <a:gd name="connsiteY6" fmla="*/ 651932 h 6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744" h="651931">
                    <a:moveTo>
                      <a:pt x="659526" y="329628"/>
                    </a:moveTo>
                    <a:lnTo>
                      <a:pt x="659526" y="3482"/>
                    </a:lnTo>
                    <a:lnTo>
                      <a:pt x="0" y="0"/>
                    </a:lnTo>
                    <a:lnTo>
                      <a:pt x="0" y="329628"/>
                    </a:lnTo>
                    <a:lnTo>
                      <a:pt x="333452" y="329628"/>
                    </a:lnTo>
                    <a:lnTo>
                      <a:pt x="992744" y="329628"/>
                    </a:lnTo>
                    <a:lnTo>
                      <a:pt x="992744" y="651932"/>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0" name="Freeform: Shape 109">
                <a:extLst>
                  <a:ext uri="{FF2B5EF4-FFF2-40B4-BE49-F238E27FC236}">
                    <a16:creationId xmlns:a16="http://schemas.microsoft.com/office/drawing/2014/main" id="{57FCAF98-7988-1DD7-FE7B-97729D38D648}"/>
                  </a:ext>
                </a:extLst>
              </p:cNvPr>
              <p:cNvSpPr/>
              <p:nvPr/>
            </p:nvSpPr>
            <p:spPr>
              <a:xfrm>
                <a:off x="3559704" y="2950127"/>
                <a:ext cx="655268" cy="329519"/>
              </a:xfrm>
              <a:custGeom>
                <a:avLst/>
                <a:gdLst>
                  <a:gd name="connsiteX0" fmla="*/ 0 w 655268"/>
                  <a:gd name="connsiteY0" fmla="*/ 277041 h 329519"/>
                  <a:gd name="connsiteX1" fmla="*/ 0 w 655268"/>
                  <a:gd name="connsiteY1" fmla="*/ 0 h 329519"/>
                  <a:gd name="connsiteX2" fmla="*/ 320680 w 655268"/>
                  <a:gd name="connsiteY2" fmla="*/ 0 h 329519"/>
                  <a:gd name="connsiteX3" fmla="*/ 655269 w 655268"/>
                  <a:gd name="connsiteY3" fmla="*/ 0 h 329519"/>
                  <a:gd name="connsiteX4" fmla="*/ 655269 w 655268"/>
                  <a:gd name="connsiteY4" fmla="*/ 329520 h 329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268" h="329519">
                    <a:moveTo>
                      <a:pt x="0" y="277041"/>
                    </a:moveTo>
                    <a:lnTo>
                      <a:pt x="0" y="0"/>
                    </a:lnTo>
                    <a:lnTo>
                      <a:pt x="320680" y="0"/>
                    </a:lnTo>
                    <a:lnTo>
                      <a:pt x="655269" y="0"/>
                    </a:lnTo>
                    <a:lnTo>
                      <a:pt x="655269" y="32952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3" name="Freeform: Shape 112">
                <a:extLst>
                  <a:ext uri="{FF2B5EF4-FFF2-40B4-BE49-F238E27FC236}">
                    <a16:creationId xmlns:a16="http://schemas.microsoft.com/office/drawing/2014/main" id="{5454C77D-F847-BCBE-ECBA-BD6CC093833B}"/>
                  </a:ext>
                </a:extLst>
              </p:cNvPr>
              <p:cNvSpPr/>
              <p:nvPr/>
            </p:nvSpPr>
            <p:spPr>
              <a:xfrm>
                <a:off x="3540744" y="1648970"/>
                <a:ext cx="661691" cy="323548"/>
              </a:xfrm>
              <a:custGeom>
                <a:avLst/>
                <a:gdLst>
                  <a:gd name="connsiteX0" fmla="*/ 0 w 661691"/>
                  <a:gd name="connsiteY0" fmla="*/ 0 h 323548"/>
                  <a:gd name="connsiteX1" fmla="*/ 661691 w 661691"/>
                  <a:gd name="connsiteY1" fmla="*/ 0 h 323548"/>
                  <a:gd name="connsiteX2" fmla="*/ 661691 w 661691"/>
                  <a:gd name="connsiteY2" fmla="*/ 323548 h 323548"/>
                </a:gdLst>
                <a:ahLst/>
                <a:cxnLst>
                  <a:cxn ang="0">
                    <a:pos x="connsiteX0" y="connsiteY0"/>
                  </a:cxn>
                  <a:cxn ang="0">
                    <a:pos x="connsiteX1" y="connsiteY1"/>
                  </a:cxn>
                  <a:cxn ang="0">
                    <a:pos x="connsiteX2" y="connsiteY2"/>
                  </a:cxn>
                </a:cxnLst>
                <a:rect l="l" t="t" r="r" b="b"/>
                <a:pathLst>
                  <a:path w="661691" h="323548">
                    <a:moveTo>
                      <a:pt x="0" y="0"/>
                    </a:moveTo>
                    <a:lnTo>
                      <a:pt x="661691" y="0"/>
                    </a:lnTo>
                    <a:lnTo>
                      <a:pt x="661691" y="323548"/>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6" name="Freeform: Shape 115">
                <a:extLst>
                  <a:ext uri="{FF2B5EF4-FFF2-40B4-BE49-F238E27FC236}">
                    <a16:creationId xmlns:a16="http://schemas.microsoft.com/office/drawing/2014/main" id="{99499AD4-7D4E-ED6B-EC9E-662C1D4C2643}"/>
                  </a:ext>
                </a:extLst>
              </p:cNvPr>
              <p:cNvSpPr/>
              <p:nvPr/>
            </p:nvSpPr>
            <p:spPr>
              <a:xfrm>
                <a:off x="3223600" y="2628852"/>
                <a:ext cx="336104" cy="321275"/>
              </a:xfrm>
              <a:custGeom>
                <a:avLst/>
                <a:gdLst>
                  <a:gd name="connsiteX0" fmla="*/ 336104 w 336104"/>
                  <a:gd name="connsiteY0" fmla="*/ 321275 h 321275"/>
                  <a:gd name="connsiteX1" fmla="*/ 0 w 336104"/>
                  <a:gd name="connsiteY1" fmla="*/ 321275 h 321275"/>
                  <a:gd name="connsiteX2" fmla="*/ 0 w 336104"/>
                  <a:gd name="connsiteY2" fmla="*/ 0 h 321275"/>
                </a:gdLst>
                <a:ahLst/>
                <a:cxnLst>
                  <a:cxn ang="0">
                    <a:pos x="connsiteX0" y="connsiteY0"/>
                  </a:cxn>
                  <a:cxn ang="0">
                    <a:pos x="connsiteX1" y="connsiteY1"/>
                  </a:cxn>
                  <a:cxn ang="0">
                    <a:pos x="connsiteX2" y="connsiteY2"/>
                  </a:cxn>
                </a:cxnLst>
                <a:rect l="l" t="t" r="r" b="b"/>
                <a:pathLst>
                  <a:path w="336104" h="321275">
                    <a:moveTo>
                      <a:pt x="336104" y="321275"/>
                    </a:moveTo>
                    <a:lnTo>
                      <a:pt x="0" y="321275"/>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7" name="Freeform: Shape 126">
                <a:extLst>
                  <a:ext uri="{FF2B5EF4-FFF2-40B4-BE49-F238E27FC236}">
                    <a16:creationId xmlns:a16="http://schemas.microsoft.com/office/drawing/2014/main" id="{B6358BEE-DAC8-9194-2F02-3527D6454366}"/>
                  </a:ext>
                </a:extLst>
              </p:cNvPr>
              <p:cNvSpPr/>
              <p:nvPr/>
            </p:nvSpPr>
            <p:spPr>
              <a:xfrm>
                <a:off x="2586551" y="2956441"/>
                <a:ext cx="306464" cy="314961"/>
              </a:xfrm>
              <a:custGeom>
                <a:avLst/>
                <a:gdLst>
                  <a:gd name="connsiteX0" fmla="*/ 306464 w 306464"/>
                  <a:gd name="connsiteY0" fmla="*/ 314961 h 314961"/>
                  <a:gd name="connsiteX1" fmla="*/ 306464 w 306464"/>
                  <a:gd name="connsiteY1" fmla="*/ 0 h 314961"/>
                  <a:gd name="connsiteX2" fmla="*/ 0 w 306464"/>
                  <a:gd name="connsiteY2" fmla="*/ 0 h 314961"/>
                </a:gdLst>
                <a:ahLst/>
                <a:cxnLst>
                  <a:cxn ang="0">
                    <a:pos x="connsiteX0" y="connsiteY0"/>
                  </a:cxn>
                  <a:cxn ang="0">
                    <a:pos x="connsiteX1" y="connsiteY1"/>
                  </a:cxn>
                  <a:cxn ang="0">
                    <a:pos x="connsiteX2" y="connsiteY2"/>
                  </a:cxn>
                </a:cxnLst>
                <a:rect l="l" t="t" r="r" b="b"/>
                <a:pathLst>
                  <a:path w="306464" h="314961">
                    <a:moveTo>
                      <a:pt x="306464" y="314961"/>
                    </a:moveTo>
                    <a:lnTo>
                      <a:pt x="306464" y="0"/>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9" name="Freeform: Shape 128">
                <a:extLst>
                  <a:ext uri="{FF2B5EF4-FFF2-40B4-BE49-F238E27FC236}">
                    <a16:creationId xmlns:a16="http://schemas.microsoft.com/office/drawing/2014/main" id="{0AFB0B1A-053B-65D4-EBAA-78ABE42F4D04}"/>
                  </a:ext>
                </a:extLst>
              </p:cNvPr>
              <p:cNvSpPr/>
              <p:nvPr/>
            </p:nvSpPr>
            <p:spPr>
              <a:xfrm>
                <a:off x="4526344" y="1648970"/>
                <a:ext cx="2039446" cy="1617832"/>
              </a:xfrm>
              <a:custGeom>
                <a:avLst/>
                <a:gdLst>
                  <a:gd name="connsiteX0" fmla="*/ 0 w 2039446"/>
                  <a:gd name="connsiteY0" fmla="*/ 0 h 1617832"/>
                  <a:gd name="connsiteX1" fmla="*/ 337475 w 2039446"/>
                  <a:gd name="connsiteY1" fmla="*/ 0 h 1617832"/>
                  <a:gd name="connsiteX2" fmla="*/ 337475 w 2039446"/>
                  <a:gd name="connsiteY2" fmla="*/ 322304 h 1617832"/>
                  <a:gd name="connsiteX3" fmla="*/ 667608 w 2039446"/>
                  <a:gd name="connsiteY3" fmla="*/ 322304 h 1617832"/>
                  <a:gd name="connsiteX4" fmla="*/ 667608 w 2039446"/>
                  <a:gd name="connsiteY4" fmla="*/ 644102 h 1617832"/>
                  <a:gd name="connsiteX5" fmla="*/ 1010045 w 2039446"/>
                  <a:gd name="connsiteY5" fmla="*/ 644102 h 1617832"/>
                  <a:gd name="connsiteX6" fmla="*/ 1010045 w 2039446"/>
                  <a:gd name="connsiteY6" fmla="*/ 963646 h 1617832"/>
                  <a:gd name="connsiteX7" fmla="*/ 1347719 w 2039446"/>
                  <a:gd name="connsiteY7" fmla="*/ 963646 h 1617832"/>
                  <a:gd name="connsiteX8" fmla="*/ 1347719 w 2039446"/>
                  <a:gd name="connsiteY8" fmla="*/ 1302185 h 1617832"/>
                  <a:gd name="connsiteX9" fmla="*/ 1676751 w 2039446"/>
                  <a:gd name="connsiteY9" fmla="*/ 1302185 h 1617832"/>
                  <a:gd name="connsiteX10" fmla="*/ 1676751 w 2039446"/>
                  <a:gd name="connsiteY10" fmla="*/ 1617832 h 1617832"/>
                  <a:gd name="connsiteX11" fmla="*/ 2039446 w 2039446"/>
                  <a:gd name="connsiteY11" fmla="*/ 1617832 h 161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9446" h="1617832">
                    <a:moveTo>
                      <a:pt x="0" y="0"/>
                    </a:moveTo>
                    <a:lnTo>
                      <a:pt x="337475" y="0"/>
                    </a:lnTo>
                    <a:lnTo>
                      <a:pt x="337475" y="322304"/>
                    </a:lnTo>
                    <a:lnTo>
                      <a:pt x="667608" y="322304"/>
                    </a:lnTo>
                    <a:lnTo>
                      <a:pt x="667608" y="644102"/>
                    </a:lnTo>
                    <a:lnTo>
                      <a:pt x="1010045" y="644102"/>
                    </a:lnTo>
                    <a:lnTo>
                      <a:pt x="1010045" y="963646"/>
                    </a:lnTo>
                    <a:lnTo>
                      <a:pt x="1347719" y="963646"/>
                    </a:lnTo>
                    <a:lnTo>
                      <a:pt x="1347719" y="1302185"/>
                    </a:lnTo>
                    <a:lnTo>
                      <a:pt x="1676751" y="1302185"/>
                    </a:lnTo>
                    <a:lnTo>
                      <a:pt x="1676751" y="1617832"/>
                    </a:lnTo>
                    <a:lnTo>
                      <a:pt x="2039446" y="1617832"/>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1" name="Freeform: Shape 130">
                <a:extLst>
                  <a:ext uri="{FF2B5EF4-FFF2-40B4-BE49-F238E27FC236}">
                    <a16:creationId xmlns:a16="http://schemas.microsoft.com/office/drawing/2014/main" id="{CE4EA6B5-3F75-AFE7-4E87-ADCDFCBF1A27}"/>
                  </a:ext>
                </a:extLst>
              </p:cNvPr>
              <p:cNvSpPr/>
              <p:nvPr/>
            </p:nvSpPr>
            <p:spPr>
              <a:xfrm>
                <a:off x="4539784" y="1971274"/>
                <a:ext cx="1373858" cy="1268901"/>
              </a:xfrm>
              <a:custGeom>
                <a:avLst/>
                <a:gdLst>
                  <a:gd name="connsiteX0" fmla="*/ 0 w 1373858"/>
                  <a:gd name="connsiteY0" fmla="*/ 0 h 1268901"/>
                  <a:gd name="connsiteX1" fmla="*/ 0 w 1373858"/>
                  <a:gd name="connsiteY1" fmla="*/ 321798 h 1268901"/>
                  <a:gd name="connsiteX2" fmla="*/ 333705 w 1373858"/>
                  <a:gd name="connsiteY2" fmla="*/ 321798 h 1268901"/>
                  <a:gd name="connsiteX3" fmla="*/ 333705 w 1373858"/>
                  <a:gd name="connsiteY3" fmla="*/ 653916 h 1268901"/>
                  <a:gd name="connsiteX4" fmla="*/ 662178 w 1373858"/>
                  <a:gd name="connsiteY4" fmla="*/ 653916 h 1268901"/>
                  <a:gd name="connsiteX5" fmla="*/ 662178 w 1373858"/>
                  <a:gd name="connsiteY5" fmla="*/ 979882 h 1268901"/>
                  <a:gd name="connsiteX6" fmla="*/ 994675 w 1373858"/>
                  <a:gd name="connsiteY6" fmla="*/ 979882 h 1268901"/>
                  <a:gd name="connsiteX7" fmla="*/ 994675 w 1373858"/>
                  <a:gd name="connsiteY7" fmla="*/ 1268901 h 1268901"/>
                  <a:gd name="connsiteX8" fmla="*/ 1373858 w 1373858"/>
                  <a:gd name="connsiteY8" fmla="*/ 1268901 h 126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858" h="1268901">
                    <a:moveTo>
                      <a:pt x="0" y="0"/>
                    </a:moveTo>
                    <a:lnTo>
                      <a:pt x="0" y="321798"/>
                    </a:lnTo>
                    <a:lnTo>
                      <a:pt x="333705" y="321798"/>
                    </a:lnTo>
                    <a:lnTo>
                      <a:pt x="333705" y="653916"/>
                    </a:lnTo>
                    <a:lnTo>
                      <a:pt x="662178" y="653916"/>
                    </a:lnTo>
                    <a:lnTo>
                      <a:pt x="662178" y="979882"/>
                    </a:lnTo>
                    <a:lnTo>
                      <a:pt x="994675" y="979882"/>
                    </a:lnTo>
                    <a:lnTo>
                      <a:pt x="994675" y="1268901"/>
                    </a:lnTo>
                    <a:lnTo>
                      <a:pt x="1373858" y="126890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2" name="Freeform: Shape 131">
                <a:extLst>
                  <a:ext uri="{FF2B5EF4-FFF2-40B4-BE49-F238E27FC236}">
                    <a16:creationId xmlns:a16="http://schemas.microsoft.com/office/drawing/2014/main" id="{479B2016-2992-F8EB-B2C7-6FB75DC886F5}"/>
                  </a:ext>
                </a:extLst>
              </p:cNvPr>
              <p:cNvSpPr/>
              <p:nvPr/>
            </p:nvSpPr>
            <p:spPr>
              <a:xfrm>
                <a:off x="4863820" y="1648970"/>
                <a:ext cx="654637" cy="323548"/>
              </a:xfrm>
              <a:custGeom>
                <a:avLst/>
                <a:gdLst>
                  <a:gd name="connsiteX0" fmla="*/ 0 w 654637"/>
                  <a:gd name="connsiteY0" fmla="*/ 0 h 323548"/>
                  <a:gd name="connsiteX1" fmla="*/ 654638 w 654637"/>
                  <a:gd name="connsiteY1" fmla="*/ 0 h 323548"/>
                  <a:gd name="connsiteX2" fmla="*/ 654638 w 654637"/>
                  <a:gd name="connsiteY2" fmla="*/ 323548 h 323548"/>
                </a:gdLst>
                <a:ahLst/>
                <a:cxnLst>
                  <a:cxn ang="0">
                    <a:pos x="connsiteX0" y="connsiteY0"/>
                  </a:cxn>
                  <a:cxn ang="0">
                    <a:pos x="connsiteX1" y="connsiteY1"/>
                  </a:cxn>
                  <a:cxn ang="0">
                    <a:pos x="connsiteX2" y="connsiteY2"/>
                  </a:cxn>
                </a:cxnLst>
                <a:rect l="l" t="t" r="r" b="b"/>
                <a:pathLst>
                  <a:path w="654637" h="323548">
                    <a:moveTo>
                      <a:pt x="0" y="0"/>
                    </a:moveTo>
                    <a:lnTo>
                      <a:pt x="654638" y="0"/>
                    </a:lnTo>
                    <a:lnTo>
                      <a:pt x="654638" y="323548"/>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3" name="Freeform: Shape 132">
                <a:extLst>
                  <a:ext uri="{FF2B5EF4-FFF2-40B4-BE49-F238E27FC236}">
                    <a16:creationId xmlns:a16="http://schemas.microsoft.com/office/drawing/2014/main" id="{EAACC0E7-5147-1244-DEBE-68C49E6E1B88}"/>
                  </a:ext>
                </a:extLst>
              </p:cNvPr>
              <p:cNvSpPr/>
              <p:nvPr/>
            </p:nvSpPr>
            <p:spPr>
              <a:xfrm>
                <a:off x="5193953" y="1971274"/>
                <a:ext cx="662899" cy="320734"/>
              </a:xfrm>
              <a:custGeom>
                <a:avLst/>
                <a:gdLst>
                  <a:gd name="connsiteX0" fmla="*/ 0 w 662899"/>
                  <a:gd name="connsiteY0" fmla="*/ 0 h 320734"/>
                  <a:gd name="connsiteX1" fmla="*/ 662900 w 662899"/>
                  <a:gd name="connsiteY1" fmla="*/ 0 h 320734"/>
                  <a:gd name="connsiteX2" fmla="*/ 662900 w 662899"/>
                  <a:gd name="connsiteY2" fmla="*/ 320734 h 320734"/>
                </a:gdLst>
                <a:ahLst/>
                <a:cxnLst>
                  <a:cxn ang="0">
                    <a:pos x="connsiteX0" y="connsiteY0"/>
                  </a:cxn>
                  <a:cxn ang="0">
                    <a:pos x="connsiteX1" y="connsiteY1"/>
                  </a:cxn>
                  <a:cxn ang="0">
                    <a:pos x="connsiteX2" y="connsiteY2"/>
                  </a:cxn>
                </a:cxnLst>
                <a:rect l="l" t="t" r="r" b="b"/>
                <a:pathLst>
                  <a:path w="662899" h="320734">
                    <a:moveTo>
                      <a:pt x="0" y="0"/>
                    </a:moveTo>
                    <a:lnTo>
                      <a:pt x="662900" y="0"/>
                    </a:lnTo>
                    <a:lnTo>
                      <a:pt x="662900" y="320734"/>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4" name="Freeform: Shape 133">
                <a:extLst>
                  <a:ext uri="{FF2B5EF4-FFF2-40B4-BE49-F238E27FC236}">
                    <a16:creationId xmlns:a16="http://schemas.microsoft.com/office/drawing/2014/main" id="{AA5CA51A-E938-A759-2212-007144324E02}"/>
                  </a:ext>
                </a:extLst>
              </p:cNvPr>
              <p:cNvSpPr/>
              <p:nvPr/>
            </p:nvSpPr>
            <p:spPr>
              <a:xfrm>
                <a:off x="4212592" y="2293072"/>
                <a:ext cx="327192" cy="1804"/>
              </a:xfrm>
              <a:custGeom>
                <a:avLst/>
                <a:gdLst>
                  <a:gd name="connsiteX0" fmla="*/ 327193 w 327192"/>
                  <a:gd name="connsiteY0" fmla="*/ 0 h 1804"/>
                  <a:gd name="connsiteX1" fmla="*/ 0 w 327192"/>
                  <a:gd name="connsiteY1" fmla="*/ 0 h 1804"/>
                </a:gdLst>
                <a:ahLst/>
                <a:cxnLst>
                  <a:cxn ang="0">
                    <a:pos x="connsiteX0" y="connsiteY0"/>
                  </a:cxn>
                  <a:cxn ang="0">
                    <a:pos x="connsiteX1" y="connsiteY1"/>
                  </a:cxn>
                </a:cxnLst>
                <a:rect l="l" t="t" r="r" b="b"/>
                <a:pathLst>
                  <a:path w="327192" h="1804">
                    <a:moveTo>
                      <a:pt x="327193"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5" name="Freeform: Shape 134">
                <a:extLst>
                  <a:ext uri="{FF2B5EF4-FFF2-40B4-BE49-F238E27FC236}">
                    <a16:creationId xmlns:a16="http://schemas.microsoft.com/office/drawing/2014/main" id="{A297F2F0-B1CB-2C4C-901C-022B1531947A}"/>
                  </a:ext>
                </a:extLst>
              </p:cNvPr>
              <p:cNvSpPr/>
              <p:nvPr/>
            </p:nvSpPr>
            <p:spPr>
              <a:xfrm>
                <a:off x="4540776" y="2625190"/>
                <a:ext cx="332712" cy="1804"/>
              </a:xfrm>
              <a:custGeom>
                <a:avLst/>
                <a:gdLst>
                  <a:gd name="connsiteX0" fmla="*/ 332713 w 332712"/>
                  <a:gd name="connsiteY0" fmla="*/ 0 h 1804"/>
                  <a:gd name="connsiteX1" fmla="*/ 0 w 332712"/>
                  <a:gd name="connsiteY1" fmla="*/ 0 h 1804"/>
                </a:gdLst>
                <a:ahLst/>
                <a:cxnLst>
                  <a:cxn ang="0">
                    <a:pos x="connsiteX0" y="connsiteY0"/>
                  </a:cxn>
                  <a:cxn ang="0">
                    <a:pos x="connsiteX1" y="connsiteY1"/>
                  </a:cxn>
                </a:cxnLst>
                <a:rect l="l" t="t" r="r" b="b"/>
                <a:pathLst>
                  <a:path w="332712" h="1804">
                    <a:moveTo>
                      <a:pt x="332713"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6" name="Freeform: Shape 135">
                <a:extLst>
                  <a:ext uri="{FF2B5EF4-FFF2-40B4-BE49-F238E27FC236}">
                    <a16:creationId xmlns:a16="http://schemas.microsoft.com/office/drawing/2014/main" id="{FE48F53C-2C33-7CDD-6051-61ED3B924F03}"/>
                  </a:ext>
                </a:extLst>
              </p:cNvPr>
              <p:cNvSpPr/>
              <p:nvPr/>
            </p:nvSpPr>
            <p:spPr>
              <a:xfrm>
                <a:off x="5534585" y="2293072"/>
                <a:ext cx="657686" cy="319543"/>
              </a:xfrm>
              <a:custGeom>
                <a:avLst/>
                <a:gdLst>
                  <a:gd name="connsiteX0" fmla="*/ 0 w 657686"/>
                  <a:gd name="connsiteY0" fmla="*/ 0 h 319543"/>
                  <a:gd name="connsiteX1" fmla="*/ 657686 w 657686"/>
                  <a:gd name="connsiteY1" fmla="*/ 0 h 319543"/>
                  <a:gd name="connsiteX2" fmla="*/ 657686 w 657686"/>
                  <a:gd name="connsiteY2" fmla="*/ 319544 h 319543"/>
                </a:gdLst>
                <a:ahLst/>
                <a:cxnLst>
                  <a:cxn ang="0">
                    <a:pos x="connsiteX0" y="connsiteY0"/>
                  </a:cxn>
                  <a:cxn ang="0">
                    <a:pos x="connsiteX1" y="connsiteY1"/>
                  </a:cxn>
                  <a:cxn ang="0">
                    <a:pos x="connsiteX2" y="connsiteY2"/>
                  </a:cxn>
                </a:cxnLst>
                <a:rect l="l" t="t" r="r" b="b"/>
                <a:pathLst>
                  <a:path w="657686" h="319543">
                    <a:moveTo>
                      <a:pt x="0" y="0"/>
                    </a:moveTo>
                    <a:lnTo>
                      <a:pt x="657686" y="0"/>
                    </a:lnTo>
                    <a:lnTo>
                      <a:pt x="657686" y="319544"/>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7" name="Freeform: Shape 136">
                <a:extLst>
                  <a:ext uri="{FF2B5EF4-FFF2-40B4-BE49-F238E27FC236}">
                    <a16:creationId xmlns:a16="http://schemas.microsoft.com/office/drawing/2014/main" id="{D9A8B292-83AF-4B5A-3819-11B3F59F92E9}"/>
                  </a:ext>
                </a:extLst>
              </p:cNvPr>
              <p:cNvSpPr/>
              <p:nvPr/>
            </p:nvSpPr>
            <p:spPr>
              <a:xfrm>
                <a:off x="5874063" y="2612616"/>
                <a:ext cx="1015582" cy="337511"/>
              </a:xfrm>
              <a:custGeom>
                <a:avLst/>
                <a:gdLst>
                  <a:gd name="connsiteX0" fmla="*/ 0 w 1015582"/>
                  <a:gd name="connsiteY0" fmla="*/ 0 h 337511"/>
                  <a:gd name="connsiteX1" fmla="*/ 668059 w 1015582"/>
                  <a:gd name="connsiteY1" fmla="*/ 0 h 337511"/>
                  <a:gd name="connsiteX2" fmla="*/ 668059 w 1015582"/>
                  <a:gd name="connsiteY2" fmla="*/ 337511 h 337511"/>
                  <a:gd name="connsiteX3" fmla="*/ 1015583 w 1015582"/>
                  <a:gd name="connsiteY3" fmla="*/ 337511 h 337511"/>
                </a:gdLst>
                <a:ahLst/>
                <a:cxnLst>
                  <a:cxn ang="0">
                    <a:pos x="connsiteX0" y="connsiteY0"/>
                  </a:cxn>
                  <a:cxn ang="0">
                    <a:pos x="connsiteX1" y="connsiteY1"/>
                  </a:cxn>
                  <a:cxn ang="0">
                    <a:pos x="connsiteX2" y="connsiteY2"/>
                  </a:cxn>
                  <a:cxn ang="0">
                    <a:pos x="connsiteX3" y="connsiteY3"/>
                  </a:cxn>
                </a:cxnLst>
                <a:rect l="l" t="t" r="r" b="b"/>
                <a:pathLst>
                  <a:path w="1015582" h="337511">
                    <a:moveTo>
                      <a:pt x="0" y="0"/>
                    </a:moveTo>
                    <a:lnTo>
                      <a:pt x="668059" y="0"/>
                    </a:lnTo>
                    <a:lnTo>
                      <a:pt x="668059" y="337511"/>
                    </a:lnTo>
                    <a:lnTo>
                      <a:pt x="1015583" y="33751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8" name="Freeform: Shape 137">
                <a:extLst>
                  <a:ext uri="{FF2B5EF4-FFF2-40B4-BE49-F238E27FC236}">
                    <a16:creationId xmlns:a16="http://schemas.microsoft.com/office/drawing/2014/main" id="{DB2017C8-A27F-3705-E36E-5F8695A7BD69}"/>
                  </a:ext>
                </a:extLst>
              </p:cNvPr>
              <p:cNvSpPr/>
              <p:nvPr/>
            </p:nvSpPr>
            <p:spPr>
              <a:xfrm>
                <a:off x="3924871" y="1324141"/>
                <a:ext cx="2948196" cy="1916034"/>
              </a:xfrm>
              <a:custGeom>
                <a:avLst/>
                <a:gdLst>
                  <a:gd name="connsiteX0" fmla="*/ 0 w 3308618"/>
                  <a:gd name="connsiteY0" fmla="*/ 1916034 h 1916034"/>
                  <a:gd name="connsiteX1" fmla="*/ 1918885 w 3308618"/>
                  <a:gd name="connsiteY1" fmla="*/ 0 h 1916034"/>
                  <a:gd name="connsiteX2" fmla="*/ 1918885 w 3308618"/>
                  <a:gd name="connsiteY2" fmla="*/ 324829 h 1916034"/>
                  <a:gd name="connsiteX3" fmla="*/ 2267401 w 3308618"/>
                  <a:gd name="connsiteY3" fmla="*/ 324829 h 1916034"/>
                  <a:gd name="connsiteX4" fmla="*/ 2267401 w 3308618"/>
                  <a:gd name="connsiteY4" fmla="*/ 634830 h 1916034"/>
                  <a:gd name="connsiteX5" fmla="*/ 2603793 w 3308618"/>
                  <a:gd name="connsiteY5" fmla="*/ 634830 h 1916034"/>
                  <a:gd name="connsiteX6" fmla="*/ 2603793 w 3308618"/>
                  <a:gd name="connsiteY6" fmla="*/ 967867 h 1916034"/>
                  <a:gd name="connsiteX7" fmla="*/ 2948196 w 3308618"/>
                  <a:gd name="connsiteY7" fmla="*/ 967867 h 1916034"/>
                  <a:gd name="connsiteX8" fmla="*/ 2948196 w 3308618"/>
                  <a:gd name="connsiteY8" fmla="*/ 1288475 h 1916034"/>
                  <a:gd name="connsiteX9" fmla="*/ 3308619 w 3308618"/>
                  <a:gd name="connsiteY9" fmla="*/ 1288475 h 1916034"/>
                  <a:gd name="connsiteX0" fmla="*/ 0 w 2948196"/>
                  <a:gd name="connsiteY0" fmla="*/ 1916034 h 1916034"/>
                  <a:gd name="connsiteX1" fmla="*/ 1918885 w 2948196"/>
                  <a:gd name="connsiteY1" fmla="*/ 0 h 1916034"/>
                  <a:gd name="connsiteX2" fmla="*/ 1918885 w 2948196"/>
                  <a:gd name="connsiteY2" fmla="*/ 324829 h 1916034"/>
                  <a:gd name="connsiteX3" fmla="*/ 2267401 w 2948196"/>
                  <a:gd name="connsiteY3" fmla="*/ 324829 h 1916034"/>
                  <a:gd name="connsiteX4" fmla="*/ 2267401 w 2948196"/>
                  <a:gd name="connsiteY4" fmla="*/ 634830 h 1916034"/>
                  <a:gd name="connsiteX5" fmla="*/ 2603793 w 2948196"/>
                  <a:gd name="connsiteY5" fmla="*/ 634830 h 1916034"/>
                  <a:gd name="connsiteX6" fmla="*/ 2603793 w 2948196"/>
                  <a:gd name="connsiteY6" fmla="*/ 967867 h 1916034"/>
                  <a:gd name="connsiteX7" fmla="*/ 2948196 w 2948196"/>
                  <a:gd name="connsiteY7" fmla="*/ 967867 h 1916034"/>
                  <a:gd name="connsiteX8" fmla="*/ 2948196 w 2948196"/>
                  <a:gd name="connsiteY8" fmla="*/ 1288475 h 1916034"/>
                  <a:gd name="connsiteX0" fmla="*/ 0 w 2948196"/>
                  <a:gd name="connsiteY0" fmla="*/ 1916034 h 1916034"/>
                  <a:gd name="connsiteX1" fmla="*/ 1918885 w 2948196"/>
                  <a:gd name="connsiteY1" fmla="*/ 0 h 1916034"/>
                  <a:gd name="connsiteX2" fmla="*/ 1918885 w 2948196"/>
                  <a:gd name="connsiteY2" fmla="*/ 324829 h 1916034"/>
                  <a:gd name="connsiteX3" fmla="*/ 2267401 w 2948196"/>
                  <a:gd name="connsiteY3" fmla="*/ 324829 h 1916034"/>
                  <a:gd name="connsiteX4" fmla="*/ 2267401 w 2948196"/>
                  <a:gd name="connsiteY4" fmla="*/ 634830 h 1916034"/>
                  <a:gd name="connsiteX5" fmla="*/ 2603793 w 2948196"/>
                  <a:gd name="connsiteY5" fmla="*/ 634830 h 1916034"/>
                  <a:gd name="connsiteX6" fmla="*/ 2603793 w 2948196"/>
                  <a:gd name="connsiteY6" fmla="*/ 967867 h 1916034"/>
                  <a:gd name="connsiteX7" fmla="*/ 2948196 w 2948196"/>
                  <a:gd name="connsiteY7" fmla="*/ 967867 h 191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8196" h="1916034">
                    <a:moveTo>
                      <a:pt x="0" y="1916034"/>
                    </a:moveTo>
                    <a:lnTo>
                      <a:pt x="1918885" y="0"/>
                    </a:lnTo>
                    <a:lnTo>
                      <a:pt x="1918885" y="324829"/>
                    </a:lnTo>
                    <a:lnTo>
                      <a:pt x="2267401" y="324829"/>
                    </a:lnTo>
                    <a:lnTo>
                      <a:pt x="2267401" y="634830"/>
                    </a:lnTo>
                    <a:lnTo>
                      <a:pt x="2603793" y="634830"/>
                    </a:lnTo>
                    <a:lnTo>
                      <a:pt x="2603793" y="967867"/>
                    </a:lnTo>
                    <a:lnTo>
                      <a:pt x="2948196" y="967867"/>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9" name="Freeform: Shape 138">
                <a:extLst>
                  <a:ext uri="{FF2B5EF4-FFF2-40B4-BE49-F238E27FC236}">
                    <a16:creationId xmlns:a16="http://schemas.microsoft.com/office/drawing/2014/main" id="{6CEC3A36-87C2-618A-4AF9-1C8EB46F56F3}"/>
                  </a:ext>
                </a:extLst>
              </p:cNvPr>
              <p:cNvSpPr/>
              <p:nvPr/>
            </p:nvSpPr>
            <p:spPr>
              <a:xfrm>
                <a:off x="6192271" y="1648970"/>
                <a:ext cx="646862" cy="310000"/>
              </a:xfrm>
              <a:custGeom>
                <a:avLst/>
                <a:gdLst>
                  <a:gd name="connsiteX0" fmla="*/ 0 w 646862"/>
                  <a:gd name="connsiteY0" fmla="*/ 0 h 310000"/>
                  <a:gd name="connsiteX1" fmla="*/ 646862 w 646862"/>
                  <a:gd name="connsiteY1" fmla="*/ 0 h 310000"/>
                  <a:gd name="connsiteX2" fmla="*/ 646862 w 646862"/>
                  <a:gd name="connsiteY2" fmla="*/ 310000 h 310000"/>
                </a:gdLst>
                <a:ahLst/>
                <a:cxnLst>
                  <a:cxn ang="0">
                    <a:pos x="connsiteX0" y="connsiteY0"/>
                  </a:cxn>
                  <a:cxn ang="0">
                    <a:pos x="connsiteX1" y="connsiteY1"/>
                  </a:cxn>
                  <a:cxn ang="0">
                    <a:pos x="connsiteX2" y="connsiteY2"/>
                  </a:cxn>
                </a:cxnLst>
                <a:rect l="l" t="t" r="r" b="b"/>
                <a:pathLst>
                  <a:path w="646862" h="310000">
                    <a:moveTo>
                      <a:pt x="0" y="0"/>
                    </a:moveTo>
                    <a:lnTo>
                      <a:pt x="646862" y="0"/>
                    </a:lnTo>
                    <a:lnTo>
                      <a:pt x="646862" y="31000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40" name="Freeform: Shape 139">
                <a:extLst>
                  <a:ext uri="{FF2B5EF4-FFF2-40B4-BE49-F238E27FC236}">
                    <a16:creationId xmlns:a16="http://schemas.microsoft.com/office/drawing/2014/main" id="{D5E25F78-3603-5514-9F7A-E048D4076771}"/>
                  </a:ext>
                </a:extLst>
              </p:cNvPr>
              <p:cNvSpPr/>
              <p:nvPr/>
            </p:nvSpPr>
            <p:spPr>
              <a:xfrm>
                <a:off x="6528664" y="1958970"/>
                <a:ext cx="665335" cy="1804"/>
              </a:xfrm>
              <a:custGeom>
                <a:avLst/>
                <a:gdLst>
                  <a:gd name="connsiteX0" fmla="*/ 0 w 665335"/>
                  <a:gd name="connsiteY0" fmla="*/ 0 h 1804"/>
                  <a:gd name="connsiteX1" fmla="*/ 665335 w 665335"/>
                  <a:gd name="connsiteY1" fmla="*/ 0 h 1804"/>
                </a:gdLst>
                <a:ahLst/>
                <a:cxnLst>
                  <a:cxn ang="0">
                    <a:pos x="connsiteX0" y="connsiteY0"/>
                  </a:cxn>
                  <a:cxn ang="0">
                    <a:pos x="connsiteX1" y="connsiteY1"/>
                  </a:cxn>
                </a:cxnLst>
                <a:rect l="l" t="t" r="r" b="b"/>
                <a:pathLst>
                  <a:path w="665335" h="1804">
                    <a:moveTo>
                      <a:pt x="0" y="0"/>
                    </a:moveTo>
                    <a:lnTo>
                      <a:pt x="665335"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grpSp>
      </p:grpSp>
      <p:grpSp>
        <p:nvGrpSpPr>
          <p:cNvPr id="2002" name="Code" hidden="1">
            <a:extLst>
              <a:ext uri="{FF2B5EF4-FFF2-40B4-BE49-F238E27FC236}">
                <a16:creationId xmlns:a16="http://schemas.microsoft.com/office/drawing/2014/main" id="{69D85E21-1BA1-2AD3-07AF-7166CFC02D8D}"/>
              </a:ext>
            </a:extLst>
          </p:cNvPr>
          <p:cNvGrpSpPr/>
          <p:nvPr/>
        </p:nvGrpSpPr>
        <p:grpSpPr>
          <a:xfrm>
            <a:off x="1822" y="-915534"/>
            <a:ext cx="4462536" cy="682961"/>
            <a:chOff x="-4180434" y="3074042"/>
            <a:chExt cx="4463698" cy="683139"/>
          </a:xfrm>
        </p:grpSpPr>
        <p:sp>
          <p:nvSpPr>
            <p:cNvPr id="707" name="Freeform: Shape 706">
              <a:extLst>
                <a:ext uri="{FF2B5EF4-FFF2-40B4-BE49-F238E27FC236}">
                  <a16:creationId xmlns:a16="http://schemas.microsoft.com/office/drawing/2014/main" id="{18F81CD0-8A4F-7D37-B25B-D8FE1430A810}"/>
                </a:ext>
              </a:extLst>
            </p:cNvPr>
            <p:cNvSpPr/>
            <p:nvPr/>
          </p:nvSpPr>
          <p:spPr>
            <a:xfrm>
              <a:off x="-4180434" y="3075907"/>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09" name="Freeform: Shape 708">
              <a:extLst>
                <a:ext uri="{FF2B5EF4-FFF2-40B4-BE49-F238E27FC236}">
                  <a16:creationId xmlns:a16="http://schemas.microsoft.com/office/drawing/2014/main" id="{1509D4B3-14A1-E743-E58D-434FFAD08B28}"/>
                </a:ext>
              </a:extLst>
            </p:cNvPr>
            <p:cNvSpPr/>
            <p:nvPr/>
          </p:nvSpPr>
          <p:spPr>
            <a:xfrm>
              <a:off x="-4008460"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1" name="Freeform: Shape 710">
              <a:extLst>
                <a:ext uri="{FF2B5EF4-FFF2-40B4-BE49-F238E27FC236}">
                  <a16:creationId xmlns:a16="http://schemas.microsoft.com/office/drawing/2014/main" id="{8FFFAD41-2A79-1116-806C-C25F1A93281F}"/>
                </a:ext>
              </a:extLst>
            </p:cNvPr>
            <p:cNvSpPr/>
            <p:nvPr/>
          </p:nvSpPr>
          <p:spPr>
            <a:xfrm>
              <a:off x="-3824373"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3" name="Freeform: Shape 712">
              <a:extLst>
                <a:ext uri="{FF2B5EF4-FFF2-40B4-BE49-F238E27FC236}">
                  <a16:creationId xmlns:a16="http://schemas.microsoft.com/office/drawing/2014/main" id="{FC6E98C2-29CD-E267-8A0C-C05FA206C0F6}"/>
                </a:ext>
              </a:extLst>
            </p:cNvPr>
            <p:cNvSpPr/>
            <p:nvPr/>
          </p:nvSpPr>
          <p:spPr>
            <a:xfrm>
              <a:off x="-3640286"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5" name="Freeform: Shape 714">
              <a:extLst>
                <a:ext uri="{FF2B5EF4-FFF2-40B4-BE49-F238E27FC236}">
                  <a16:creationId xmlns:a16="http://schemas.microsoft.com/office/drawing/2014/main" id="{0156FABF-DF66-9FC4-1C94-972C0E723B52}"/>
                </a:ext>
              </a:extLst>
            </p:cNvPr>
            <p:cNvSpPr/>
            <p:nvPr/>
          </p:nvSpPr>
          <p:spPr>
            <a:xfrm>
              <a:off x="-3405953"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7" name="Freeform: Shape 716">
              <a:extLst>
                <a:ext uri="{FF2B5EF4-FFF2-40B4-BE49-F238E27FC236}">
                  <a16:creationId xmlns:a16="http://schemas.microsoft.com/office/drawing/2014/main" id="{39DC1EB1-07D5-8FF3-4D38-920AAC9EDE27}"/>
                </a:ext>
              </a:extLst>
            </p:cNvPr>
            <p:cNvSpPr/>
            <p:nvPr/>
          </p:nvSpPr>
          <p:spPr>
            <a:xfrm>
              <a:off x="-3233979"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9" name="Freeform: Shape 718">
              <a:extLst>
                <a:ext uri="{FF2B5EF4-FFF2-40B4-BE49-F238E27FC236}">
                  <a16:creationId xmlns:a16="http://schemas.microsoft.com/office/drawing/2014/main" id="{E7411E43-8387-5A87-18A1-B60403660630}"/>
                </a:ext>
              </a:extLst>
            </p:cNvPr>
            <p:cNvSpPr/>
            <p:nvPr/>
          </p:nvSpPr>
          <p:spPr>
            <a:xfrm>
              <a:off x="-3037629"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1" name="Freeform: Shape 720">
              <a:extLst>
                <a:ext uri="{FF2B5EF4-FFF2-40B4-BE49-F238E27FC236}">
                  <a16:creationId xmlns:a16="http://schemas.microsoft.com/office/drawing/2014/main" id="{A9CD45A3-9917-A0D6-479D-8FC88670FD95}"/>
                </a:ext>
              </a:extLst>
            </p:cNvPr>
            <p:cNvSpPr/>
            <p:nvPr/>
          </p:nvSpPr>
          <p:spPr>
            <a:xfrm>
              <a:off x="-2853542"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3" name="Freeform: Shape 722">
              <a:extLst>
                <a:ext uri="{FF2B5EF4-FFF2-40B4-BE49-F238E27FC236}">
                  <a16:creationId xmlns:a16="http://schemas.microsoft.com/office/drawing/2014/main" id="{F0402450-B87D-7B00-3E4A-A34C0252BAA3}"/>
                </a:ext>
              </a:extLst>
            </p:cNvPr>
            <p:cNvSpPr/>
            <p:nvPr/>
          </p:nvSpPr>
          <p:spPr>
            <a:xfrm>
              <a:off x="-2631322"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5" name="Freeform: Shape 724">
              <a:extLst>
                <a:ext uri="{FF2B5EF4-FFF2-40B4-BE49-F238E27FC236}">
                  <a16:creationId xmlns:a16="http://schemas.microsoft.com/office/drawing/2014/main" id="{30AB26B7-F011-B151-3120-CB85588F5E4B}"/>
                </a:ext>
              </a:extLst>
            </p:cNvPr>
            <p:cNvSpPr/>
            <p:nvPr/>
          </p:nvSpPr>
          <p:spPr>
            <a:xfrm>
              <a:off x="-2459498"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7" name="Freeform: Shape 726">
              <a:extLst>
                <a:ext uri="{FF2B5EF4-FFF2-40B4-BE49-F238E27FC236}">
                  <a16:creationId xmlns:a16="http://schemas.microsoft.com/office/drawing/2014/main" id="{31A14CB4-102A-8D5D-D539-884FB12FDD26}"/>
                </a:ext>
              </a:extLst>
            </p:cNvPr>
            <p:cNvSpPr/>
            <p:nvPr/>
          </p:nvSpPr>
          <p:spPr>
            <a:xfrm>
              <a:off x="-2263147"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9" name="Freeform: Shape 728">
              <a:extLst>
                <a:ext uri="{FF2B5EF4-FFF2-40B4-BE49-F238E27FC236}">
                  <a16:creationId xmlns:a16="http://schemas.microsoft.com/office/drawing/2014/main" id="{C11AAEE0-BCB7-01EE-271B-5BF98176284B}"/>
                </a:ext>
              </a:extLst>
            </p:cNvPr>
            <p:cNvSpPr/>
            <p:nvPr/>
          </p:nvSpPr>
          <p:spPr>
            <a:xfrm>
              <a:off x="-2091324" y="3074042"/>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1" name="Freeform: Shape 730">
              <a:extLst>
                <a:ext uri="{FF2B5EF4-FFF2-40B4-BE49-F238E27FC236}">
                  <a16:creationId xmlns:a16="http://schemas.microsoft.com/office/drawing/2014/main" id="{90655B8E-AAAA-03E7-6684-73D0EA9B1089}"/>
                </a:ext>
              </a:extLst>
            </p:cNvPr>
            <p:cNvSpPr/>
            <p:nvPr/>
          </p:nvSpPr>
          <p:spPr>
            <a:xfrm>
              <a:off x="-1856840" y="3075907"/>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3" name="Freeform: Shape 732">
              <a:extLst>
                <a:ext uri="{FF2B5EF4-FFF2-40B4-BE49-F238E27FC236}">
                  <a16:creationId xmlns:a16="http://schemas.microsoft.com/office/drawing/2014/main" id="{1B017806-5C95-481C-91F0-77AB46DACFA6}"/>
                </a:ext>
              </a:extLst>
            </p:cNvPr>
            <p:cNvSpPr/>
            <p:nvPr/>
          </p:nvSpPr>
          <p:spPr>
            <a:xfrm>
              <a:off x="-1685017" y="3074042"/>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5" name="Freeform: Shape 734">
              <a:extLst>
                <a:ext uri="{FF2B5EF4-FFF2-40B4-BE49-F238E27FC236}">
                  <a16:creationId xmlns:a16="http://schemas.microsoft.com/office/drawing/2014/main" id="{D4115622-1D89-6320-EAD6-10736724A9BB}"/>
                </a:ext>
              </a:extLst>
            </p:cNvPr>
            <p:cNvSpPr/>
            <p:nvPr/>
          </p:nvSpPr>
          <p:spPr>
            <a:xfrm>
              <a:off x="-1488666"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7" name="Freeform: Shape 736">
              <a:extLst>
                <a:ext uri="{FF2B5EF4-FFF2-40B4-BE49-F238E27FC236}">
                  <a16:creationId xmlns:a16="http://schemas.microsoft.com/office/drawing/2014/main" id="{8297EA0B-78BE-E63D-E0CF-AC915F66E181}"/>
                </a:ext>
              </a:extLst>
            </p:cNvPr>
            <p:cNvSpPr/>
            <p:nvPr/>
          </p:nvSpPr>
          <p:spPr>
            <a:xfrm>
              <a:off x="-1316842"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9" name="Freeform: Shape 738">
              <a:extLst>
                <a:ext uri="{FF2B5EF4-FFF2-40B4-BE49-F238E27FC236}">
                  <a16:creationId xmlns:a16="http://schemas.microsoft.com/office/drawing/2014/main" id="{604E48B4-D990-97B3-B834-C632ED35E5CB}"/>
                </a:ext>
              </a:extLst>
            </p:cNvPr>
            <p:cNvSpPr/>
            <p:nvPr/>
          </p:nvSpPr>
          <p:spPr>
            <a:xfrm>
              <a:off x="-1082359"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1" name="Freeform: Shape 740">
              <a:extLst>
                <a:ext uri="{FF2B5EF4-FFF2-40B4-BE49-F238E27FC236}">
                  <a16:creationId xmlns:a16="http://schemas.microsoft.com/office/drawing/2014/main" id="{1DE9D4B8-856E-08B1-A139-53522D055348}"/>
                </a:ext>
              </a:extLst>
            </p:cNvPr>
            <p:cNvSpPr/>
            <p:nvPr/>
          </p:nvSpPr>
          <p:spPr>
            <a:xfrm>
              <a:off x="-910535"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3" name="Freeform: Shape 742">
              <a:extLst>
                <a:ext uri="{FF2B5EF4-FFF2-40B4-BE49-F238E27FC236}">
                  <a16:creationId xmlns:a16="http://schemas.microsoft.com/office/drawing/2014/main" id="{4F45B913-ADE1-0E80-B22B-F285AADBC371}"/>
                </a:ext>
              </a:extLst>
            </p:cNvPr>
            <p:cNvSpPr/>
            <p:nvPr/>
          </p:nvSpPr>
          <p:spPr>
            <a:xfrm>
              <a:off x="-714186"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5" name="Freeform: Shape 744">
              <a:extLst>
                <a:ext uri="{FF2B5EF4-FFF2-40B4-BE49-F238E27FC236}">
                  <a16:creationId xmlns:a16="http://schemas.microsoft.com/office/drawing/2014/main" id="{D298DD93-C1EB-4C00-9433-53E226174343}"/>
                </a:ext>
              </a:extLst>
            </p:cNvPr>
            <p:cNvSpPr/>
            <p:nvPr/>
          </p:nvSpPr>
          <p:spPr>
            <a:xfrm>
              <a:off x="-530099" y="3075907"/>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7" name="Freeform: Shape 746">
              <a:extLst>
                <a:ext uri="{FF2B5EF4-FFF2-40B4-BE49-F238E27FC236}">
                  <a16:creationId xmlns:a16="http://schemas.microsoft.com/office/drawing/2014/main" id="{6D4CFF52-1E8A-25CD-93EF-CBBE8530A5F9}"/>
                </a:ext>
              </a:extLst>
            </p:cNvPr>
            <p:cNvSpPr/>
            <p:nvPr/>
          </p:nvSpPr>
          <p:spPr>
            <a:xfrm>
              <a:off x="-320141" y="3074042"/>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9" name="Freeform: Shape 748">
              <a:extLst>
                <a:ext uri="{FF2B5EF4-FFF2-40B4-BE49-F238E27FC236}">
                  <a16:creationId xmlns:a16="http://schemas.microsoft.com/office/drawing/2014/main" id="{B0D13083-4CD4-225D-C45F-CBF86285670F}"/>
                </a:ext>
              </a:extLst>
            </p:cNvPr>
            <p:cNvSpPr/>
            <p:nvPr/>
          </p:nvSpPr>
          <p:spPr>
            <a:xfrm>
              <a:off x="-136053" y="3074042"/>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1" name="Freeform: Shape 750">
              <a:extLst>
                <a:ext uri="{FF2B5EF4-FFF2-40B4-BE49-F238E27FC236}">
                  <a16:creationId xmlns:a16="http://schemas.microsoft.com/office/drawing/2014/main" id="{68C7AE7A-5940-D5AB-590A-66734EB1D2A4}"/>
                </a:ext>
              </a:extLst>
            </p:cNvPr>
            <p:cNvSpPr/>
            <p:nvPr/>
          </p:nvSpPr>
          <p:spPr>
            <a:xfrm>
              <a:off x="48034" y="3074042"/>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3" name="Freeform: Shape 752">
              <a:extLst>
                <a:ext uri="{FF2B5EF4-FFF2-40B4-BE49-F238E27FC236}">
                  <a16:creationId xmlns:a16="http://schemas.microsoft.com/office/drawing/2014/main" id="{391642E2-B4FE-D6CA-6EC1-D4A0F76CEDC1}"/>
                </a:ext>
              </a:extLst>
            </p:cNvPr>
            <p:cNvSpPr/>
            <p:nvPr/>
          </p:nvSpPr>
          <p:spPr>
            <a:xfrm>
              <a:off x="244383"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5" name="Freeform: Shape 754">
              <a:extLst>
                <a:ext uri="{FF2B5EF4-FFF2-40B4-BE49-F238E27FC236}">
                  <a16:creationId xmlns:a16="http://schemas.microsoft.com/office/drawing/2014/main" id="{981593FD-3692-052B-F227-7D8B83803FDA}"/>
                </a:ext>
              </a:extLst>
            </p:cNvPr>
            <p:cNvSpPr/>
            <p:nvPr/>
          </p:nvSpPr>
          <p:spPr>
            <a:xfrm>
              <a:off x="-4180434" y="3267816"/>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7" name="Freeform: Shape 756">
              <a:extLst>
                <a:ext uri="{FF2B5EF4-FFF2-40B4-BE49-F238E27FC236}">
                  <a16:creationId xmlns:a16="http://schemas.microsoft.com/office/drawing/2014/main" id="{42138078-2E97-7477-7543-631E8CE5D16B}"/>
                </a:ext>
              </a:extLst>
            </p:cNvPr>
            <p:cNvSpPr/>
            <p:nvPr/>
          </p:nvSpPr>
          <p:spPr>
            <a:xfrm>
              <a:off x="-4008460"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9" name="Freeform: Shape 758">
              <a:extLst>
                <a:ext uri="{FF2B5EF4-FFF2-40B4-BE49-F238E27FC236}">
                  <a16:creationId xmlns:a16="http://schemas.microsoft.com/office/drawing/2014/main" id="{6FDFA7AA-16EA-4BA0-5D80-54150D8C842E}"/>
                </a:ext>
              </a:extLst>
            </p:cNvPr>
            <p:cNvSpPr/>
            <p:nvPr/>
          </p:nvSpPr>
          <p:spPr>
            <a:xfrm>
              <a:off x="-3824373"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61" name="Freeform: Shape 760">
              <a:extLst>
                <a:ext uri="{FF2B5EF4-FFF2-40B4-BE49-F238E27FC236}">
                  <a16:creationId xmlns:a16="http://schemas.microsoft.com/office/drawing/2014/main" id="{B7AD5809-BE96-BE69-6B75-6097AAD934FB}"/>
                </a:ext>
              </a:extLst>
            </p:cNvPr>
            <p:cNvSpPr/>
            <p:nvPr/>
          </p:nvSpPr>
          <p:spPr>
            <a:xfrm>
              <a:off x="-3640286"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63" name="Freeform: Shape 762">
              <a:extLst>
                <a:ext uri="{FF2B5EF4-FFF2-40B4-BE49-F238E27FC236}">
                  <a16:creationId xmlns:a16="http://schemas.microsoft.com/office/drawing/2014/main" id="{717855BD-682D-06F2-1243-7CE5BDD8E775}"/>
                </a:ext>
              </a:extLst>
            </p:cNvPr>
            <p:cNvSpPr/>
            <p:nvPr/>
          </p:nvSpPr>
          <p:spPr>
            <a:xfrm>
              <a:off x="-3405953"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957" name="Freeform: Shape 956">
              <a:extLst>
                <a:ext uri="{FF2B5EF4-FFF2-40B4-BE49-F238E27FC236}">
                  <a16:creationId xmlns:a16="http://schemas.microsoft.com/office/drawing/2014/main" id="{55DD7066-33B5-26E9-871F-779B54E52F0D}"/>
                </a:ext>
              </a:extLst>
            </p:cNvPr>
            <p:cNvSpPr/>
            <p:nvPr/>
          </p:nvSpPr>
          <p:spPr>
            <a:xfrm>
              <a:off x="-3233979"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959" name="Freeform: Shape 958">
              <a:extLst>
                <a:ext uri="{FF2B5EF4-FFF2-40B4-BE49-F238E27FC236}">
                  <a16:creationId xmlns:a16="http://schemas.microsoft.com/office/drawing/2014/main" id="{1CCD7F4D-0A4F-3427-7B7F-DE9866736474}"/>
                </a:ext>
              </a:extLst>
            </p:cNvPr>
            <p:cNvSpPr/>
            <p:nvPr/>
          </p:nvSpPr>
          <p:spPr>
            <a:xfrm>
              <a:off x="-3037629"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5" name="Freeform: Shape 1344">
              <a:extLst>
                <a:ext uri="{FF2B5EF4-FFF2-40B4-BE49-F238E27FC236}">
                  <a16:creationId xmlns:a16="http://schemas.microsoft.com/office/drawing/2014/main" id="{604F354D-FDC0-0972-5939-A475421A2CBD}"/>
                </a:ext>
              </a:extLst>
            </p:cNvPr>
            <p:cNvSpPr/>
            <p:nvPr/>
          </p:nvSpPr>
          <p:spPr>
            <a:xfrm>
              <a:off x="-2853542"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7" name="Freeform: Shape 1346">
              <a:extLst>
                <a:ext uri="{FF2B5EF4-FFF2-40B4-BE49-F238E27FC236}">
                  <a16:creationId xmlns:a16="http://schemas.microsoft.com/office/drawing/2014/main" id="{1EDAA375-DB14-CF80-F437-B7B6D3FBAAF7}"/>
                </a:ext>
              </a:extLst>
            </p:cNvPr>
            <p:cNvSpPr/>
            <p:nvPr/>
          </p:nvSpPr>
          <p:spPr>
            <a:xfrm>
              <a:off x="-2631322"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9" name="Freeform: Shape 1348">
              <a:extLst>
                <a:ext uri="{FF2B5EF4-FFF2-40B4-BE49-F238E27FC236}">
                  <a16:creationId xmlns:a16="http://schemas.microsoft.com/office/drawing/2014/main" id="{BA351DA0-AE3C-F468-6631-B292CA285267}"/>
                </a:ext>
              </a:extLst>
            </p:cNvPr>
            <p:cNvSpPr/>
            <p:nvPr/>
          </p:nvSpPr>
          <p:spPr>
            <a:xfrm>
              <a:off x="-2459498"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1" name="Freeform: Shape 1350">
              <a:extLst>
                <a:ext uri="{FF2B5EF4-FFF2-40B4-BE49-F238E27FC236}">
                  <a16:creationId xmlns:a16="http://schemas.microsoft.com/office/drawing/2014/main" id="{71CA9213-7CD9-7259-489C-B49AB1B81B86}"/>
                </a:ext>
              </a:extLst>
            </p:cNvPr>
            <p:cNvSpPr/>
            <p:nvPr/>
          </p:nvSpPr>
          <p:spPr>
            <a:xfrm>
              <a:off x="-2263147"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3" name="Freeform: Shape 1352">
              <a:extLst>
                <a:ext uri="{FF2B5EF4-FFF2-40B4-BE49-F238E27FC236}">
                  <a16:creationId xmlns:a16="http://schemas.microsoft.com/office/drawing/2014/main" id="{2F310983-D2D9-01E8-06B2-E0B834A5FDC7}"/>
                </a:ext>
              </a:extLst>
            </p:cNvPr>
            <p:cNvSpPr/>
            <p:nvPr/>
          </p:nvSpPr>
          <p:spPr>
            <a:xfrm>
              <a:off x="-2091324" y="3265950"/>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5" name="Freeform: Shape 1354">
              <a:extLst>
                <a:ext uri="{FF2B5EF4-FFF2-40B4-BE49-F238E27FC236}">
                  <a16:creationId xmlns:a16="http://schemas.microsoft.com/office/drawing/2014/main" id="{194E23CD-5F61-3700-4742-3293E0A78F6A}"/>
                </a:ext>
              </a:extLst>
            </p:cNvPr>
            <p:cNvSpPr/>
            <p:nvPr/>
          </p:nvSpPr>
          <p:spPr>
            <a:xfrm>
              <a:off x="-1856840" y="3267816"/>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7" name="Freeform: Shape 1356">
              <a:extLst>
                <a:ext uri="{FF2B5EF4-FFF2-40B4-BE49-F238E27FC236}">
                  <a16:creationId xmlns:a16="http://schemas.microsoft.com/office/drawing/2014/main" id="{6EDA0D21-90F6-3719-5FD8-8CC60062BEFB}"/>
                </a:ext>
              </a:extLst>
            </p:cNvPr>
            <p:cNvSpPr/>
            <p:nvPr/>
          </p:nvSpPr>
          <p:spPr>
            <a:xfrm>
              <a:off x="-1685017" y="3265950"/>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9" name="Freeform: Shape 1358">
              <a:extLst>
                <a:ext uri="{FF2B5EF4-FFF2-40B4-BE49-F238E27FC236}">
                  <a16:creationId xmlns:a16="http://schemas.microsoft.com/office/drawing/2014/main" id="{D3D006A0-7EBA-1D5D-C067-819034B51641}"/>
                </a:ext>
              </a:extLst>
            </p:cNvPr>
            <p:cNvSpPr/>
            <p:nvPr/>
          </p:nvSpPr>
          <p:spPr>
            <a:xfrm>
              <a:off x="-1488666"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1" name="Freeform: Shape 1360">
              <a:extLst>
                <a:ext uri="{FF2B5EF4-FFF2-40B4-BE49-F238E27FC236}">
                  <a16:creationId xmlns:a16="http://schemas.microsoft.com/office/drawing/2014/main" id="{738FB4B1-7AEA-51DD-969E-DB29F0137948}"/>
                </a:ext>
              </a:extLst>
            </p:cNvPr>
            <p:cNvSpPr/>
            <p:nvPr/>
          </p:nvSpPr>
          <p:spPr>
            <a:xfrm>
              <a:off x="-1316842"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3" name="Freeform: Shape 1362">
              <a:extLst>
                <a:ext uri="{FF2B5EF4-FFF2-40B4-BE49-F238E27FC236}">
                  <a16:creationId xmlns:a16="http://schemas.microsoft.com/office/drawing/2014/main" id="{C4AB592D-CAE1-7370-AAA8-29A757E84572}"/>
                </a:ext>
              </a:extLst>
            </p:cNvPr>
            <p:cNvSpPr/>
            <p:nvPr/>
          </p:nvSpPr>
          <p:spPr>
            <a:xfrm>
              <a:off x="-1082359"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5" name="Freeform: Shape 1364">
              <a:extLst>
                <a:ext uri="{FF2B5EF4-FFF2-40B4-BE49-F238E27FC236}">
                  <a16:creationId xmlns:a16="http://schemas.microsoft.com/office/drawing/2014/main" id="{3B248018-2317-2E29-DF7A-B995451788A7}"/>
                </a:ext>
              </a:extLst>
            </p:cNvPr>
            <p:cNvSpPr/>
            <p:nvPr/>
          </p:nvSpPr>
          <p:spPr>
            <a:xfrm>
              <a:off x="-910535"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7" name="Freeform: Shape 1366">
              <a:extLst>
                <a:ext uri="{FF2B5EF4-FFF2-40B4-BE49-F238E27FC236}">
                  <a16:creationId xmlns:a16="http://schemas.microsoft.com/office/drawing/2014/main" id="{DF09E606-34CB-9AD5-5417-C2BA0965ECD8}"/>
                </a:ext>
              </a:extLst>
            </p:cNvPr>
            <p:cNvSpPr/>
            <p:nvPr/>
          </p:nvSpPr>
          <p:spPr>
            <a:xfrm>
              <a:off x="-714186"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9" name="Freeform: Shape 1368">
              <a:extLst>
                <a:ext uri="{FF2B5EF4-FFF2-40B4-BE49-F238E27FC236}">
                  <a16:creationId xmlns:a16="http://schemas.microsoft.com/office/drawing/2014/main" id="{70F1A8D4-31FB-2021-FAFC-1108FD32044D}"/>
                </a:ext>
              </a:extLst>
            </p:cNvPr>
            <p:cNvSpPr/>
            <p:nvPr/>
          </p:nvSpPr>
          <p:spPr>
            <a:xfrm>
              <a:off x="-530099" y="3267816"/>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1" name="Freeform: Shape 1370">
              <a:extLst>
                <a:ext uri="{FF2B5EF4-FFF2-40B4-BE49-F238E27FC236}">
                  <a16:creationId xmlns:a16="http://schemas.microsoft.com/office/drawing/2014/main" id="{6088B017-35B8-6BC8-D4B7-1C7307A45994}"/>
                </a:ext>
              </a:extLst>
            </p:cNvPr>
            <p:cNvSpPr/>
            <p:nvPr/>
          </p:nvSpPr>
          <p:spPr>
            <a:xfrm>
              <a:off x="-320141" y="3265950"/>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3" name="Freeform: Shape 1372">
              <a:extLst>
                <a:ext uri="{FF2B5EF4-FFF2-40B4-BE49-F238E27FC236}">
                  <a16:creationId xmlns:a16="http://schemas.microsoft.com/office/drawing/2014/main" id="{5BE64FD5-60C0-7FAC-E2DE-165655581712}"/>
                </a:ext>
              </a:extLst>
            </p:cNvPr>
            <p:cNvSpPr/>
            <p:nvPr/>
          </p:nvSpPr>
          <p:spPr>
            <a:xfrm>
              <a:off x="-136053" y="3265950"/>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5" name="Freeform: Shape 1374">
              <a:extLst>
                <a:ext uri="{FF2B5EF4-FFF2-40B4-BE49-F238E27FC236}">
                  <a16:creationId xmlns:a16="http://schemas.microsoft.com/office/drawing/2014/main" id="{D5F83169-6A0E-A678-39CA-76ED7C557EF7}"/>
                </a:ext>
              </a:extLst>
            </p:cNvPr>
            <p:cNvSpPr/>
            <p:nvPr/>
          </p:nvSpPr>
          <p:spPr>
            <a:xfrm>
              <a:off x="48034" y="3265950"/>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7" name="Freeform: Shape 1376">
              <a:extLst>
                <a:ext uri="{FF2B5EF4-FFF2-40B4-BE49-F238E27FC236}">
                  <a16:creationId xmlns:a16="http://schemas.microsoft.com/office/drawing/2014/main" id="{E174FDD4-936F-C125-FC72-B2A4A85EA160}"/>
                </a:ext>
              </a:extLst>
            </p:cNvPr>
            <p:cNvSpPr/>
            <p:nvPr/>
          </p:nvSpPr>
          <p:spPr>
            <a:xfrm>
              <a:off x="244383"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9" name="Freeform: Shape 1378">
              <a:extLst>
                <a:ext uri="{FF2B5EF4-FFF2-40B4-BE49-F238E27FC236}">
                  <a16:creationId xmlns:a16="http://schemas.microsoft.com/office/drawing/2014/main" id="{CB22D216-4D60-2D59-B0C3-AE3688FFBE7C}"/>
                </a:ext>
              </a:extLst>
            </p:cNvPr>
            <p:cNvSpPr/>
            <p:nvPr/>
          </p:nvSpPr>
          <p:spPr>
            <a:xfrm>
              <a:off x="-4180434" y="3459723"/>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1" name="Freeform: Shape 1380">
              <a:extLst>
                <a:ext uri="{FF2B5EF4-FFF2-40B4-BE49-F238E27FC236}">
                  <a16:creationId xmlns:a16="http://schemas.microsoft.com/office/drawing/2014/main" id="{EA1E0392-2C1D-82CE-AE17-CE7948913286}"/>
                </a:ext>
              </a:extLst>
            </p:cNvPr>
            <p:cNvSpPr/>
            <p:nvPr/>
          </p:nvSpPr>
          <p:spPr>
            <a:xfrm>
              <a:off x="-4008460"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3" name="Freeform: Shape 1382">
              <a:extLst>
                <a:ext uri="{FF2B5EF4-FFF2-40B4-BE49-F238E27FC236}">
                  <a16:creationId xmlns:a16="http://schemas.microsoft.com/office/drawing/2014/main" id="{429B543E-95BB-4E1D-7F08-BBDB7E58E382}"/>
                </a:ext>
              </a:extLst>
            </p:cNvPr>
            <p:cNvSpPr/>
            <p:nvPr/>
          </p:nvSpPr>
          <p:spPr>
            <a:xfrm>
              <a:off x="-3824373"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5" name="Freeform: Shape 1384">
              <a:extLst>
                <a:ext uri="{FF2B5EF4-FFF2-40B4-BE49-F238E27FC236}">
                  <a16:creationId xmlns:a16="http://schemas.microsoft.com/office/drawing/2014/main" id="{92481CDF-1051-F5C9-9DC2-FC6E08CD584D}"/>
                </a:ext>
              </a:extLst>
            </p:cNvPr>
            <p:cNvSpPr/>
            <p:nvPr/>
          </p:nvSpPr>
          <p:spPr>
            <a:xfrm>
              <a:off x="-3640286"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7" name="Freeform: Shape 1386">
              <a:extLst>
                <a:ext uri="{FF2B5EF4-FFF2-40B4-BE49-F238E27FC236}">
                  <a16:creationId xmlns:a16="http://schemas.microsoft.com/office/drawing/2014/main" id="{36D54E14-1F8F-FF89-FA26-188E1ECF30C2}"/>
                </a:ext>
              </a:extLst>
            </p:cNvPr>
            <p:cNvSpPr/>
            <p:nvPr/>
          </p:nvSpPr>
          <p:spPr>
            <a:xfrm>
              <a:off x="-3405953"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0" name="Freeform: Shape 1389">
              <a:extLst>
                <a:ext uri="{FF2B5EF4-FFF2-40B4-BE49-F238E27FC236}">
                  <a16:creationId xmlns:a16="http://schemas.microsoft.com/office/drawing/2014/main" id="{0ED48459-2291-D479-8217-8CB313720BE5}"/>
                </a:ext>
              </a:extLst>
            </p:cNvPr>
            <p:cNvSpPr/>
            <p:nvPr/>
          </p:nvSpPr>
          <p:spPr>
            <a:xfrm>
              <a:off x="-3233979"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2" name="Freeform: Shape 1391">
              <a:extLst>
                <a:ext uri="{FF2B5EF4-FFF2-40B4-BE49-F238E27FC236}">
                  <a16:creationId xmlns:a16="http://schemas.microsoft.com/office/drawing/2014/main" id="{3258D6F8-3DD3-4DFA-9851-B9FA20F032E9}"/>
                </a:ext>
              </a:extLst>
            </p:cNvPr>
            <p:cNvSpPr/>
            <p:nvPr/>
          </p:nvSpPr>
          <p:spPr>
            <a:xfrm>
              <a:off x="-3037629"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4" name="Freeform: Shape 1393">
              <a:extLst>
                <a:ext uri="{FF2B5EF4-FFF2-40B4-BE49-F238E27FC236}">
                  <a16:creationId xmlns:a16="http://schemas.microsoft.com/office/drawing/2014/main" id="{F23B3A5F-9EDE-A8A5-FE30-90BEEDE56517}"/>
                </a:ext>
              </a:extLst>
            </p:cNvPr>
            <p:cNvSpPr/>
            <p:nvPr/>
          </p:nvSpPr>
          <p:spPr>
            <a:xfrm>
              <a:off x="-2853542"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6" name="Freeform: Shape 1395">
              <a:extLst>
                <a:ext uri="{FF2B5EF4-FFF2-40B4-BE49-F238E27FC236}">
                  <a16:creationId xmlns:a16="http://schemas.microsoft.com/office/drawing/2014/main" id="{52AC105B-C433-CE07-87A0-0F8E5D81D772}"/>
                </a:ext>
              </a:extLst>
            </p:cNvPr>
            <p:cNvSpPr/>
            <p:nvPr/>
          </p:nvSpPr>
          <p:spPr>
            <a:xfrm>
              <a:off x="-2631322"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8" name="Freeform: Shape 1397">
              <a:extLst>
                <a:ext uri="{FF2B5EF4-FFF2-40B4-BE49-F238E27FC236}">
                  <a16:creationId xmlns:a16="http://schemas.microsoft.com/office/drawing/2014/main" id="{D7DFB416-3D14-FCB9-EC11-ECCCCD34B468}"/>
                </a:ext>
              </a:extLst>
            </p:cNvPr>
            <p:cNvSpPr/>
            <p:nvPr/>
          </p:nvSpPr>
          <p:spPr>
            <a:xfrm>
              <a:off x="-2459498"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0" name="Freeform: Shape 1399">
              <a:extLst>
                <a:ext uri="{FF2B5EF4-FFF2-40B4-BE49-F238E27FC236}">
                  <a16:creationId xmlns:a16="http://schemas.microsoft.com/office/drawing/2014/main" id="{A68159E5-5C3A-801A-51A0-6464578756EB}"/>
                </a:ext>
              </a:extLst>
            </p:cNvPr>
            <p:cNvSpPr/>
            <p:nvPr/>
          </p:nvSpPr>
          <p:spPr>
            <a:xfrm>
              <a:off x="-2263147"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2" name="Freeform: Shape 1401">
              <a:extLst>
                <a:ext uri="{FF2B5EF4-FFF2-40B4-BE49-F238E27FC236}">
                  <a16:creationId xmlns:a16="http://schemas.microsoft.com/office/drawing/2014/main" id="{F32C5DA4-A366-296B-B5A5-8646D63D5FB8}"/>
                </a:ext>
              </a:extLst>
            </p:cNvPr>
            <p:cNvSpPr/>
            <p:nvPr/>
          </p:nvSpPr>
          <p:spPr>
            <a:xfrm>
              <a:off x="-2091324" y="3457858"/>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4" name="Freeform: Shape 1403">
              <a:extLst>
                <a:ext uri="{FF2B5EF4-FFF2-40B4-BE49-F238E27FC236}">
                  <a16:creationId xmlns:a16="http://schemas.microsoft.com/office/drawing/2014/main" id="{A3D4E513-ED8A-8EC0-330D-904D4AE42A90}"/>
                </a:ext>
              </a:extLst>
            </p:cNvPr>
            <p:cNvSpPr/>
            <p:nvPr/>
          </p:nvSpPr>
          <p:spPr>
            <a:xfrm>
              <a:off x="-1856840" y="3459723"/>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6" name="Freeform: Shape 1405">
              <a:extLst>
                <a:ext uri="{FF2B5EF4-FFF2-40B4-BE49-F238E27FC236}">
                  <a16:creationId xmlns:a16="http://schemas.microsoft.com/office/drawing/2014/main" id="{1533FD55-3B3D-478D-AB09-E31814833115}"/>
                </a:ext>
              </a:extLst>
            </p:cNvPr>
            <p:cNvSpPr/>
            <p:nvPr/>
          </p:nvSpPr>
          <p:spPr>
            <a:xfrm>
              <a:off x="-1685017" y="3457858"/>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2" name="Freeform: Shape 1471">
              <a:extLst>
                <a:ext uri="{FF2B5EF4-FFF2-40B4-BE49-F238E27FC236}">
                  <a16:creationId xmlns:a16="http://schemas.microsoft.com/office/drawing/2014/main" id="{1DF92062-5DE1-3FA5-7F36-5E7C5D771FEC}"/>
                </a:ext>
              </a:extLst>
            </p:cNvPr>
            <p:cNvSpPr/>
            <p:nvPr/>
          </p:nvSpPr>
          <p:spPr>
            <a:xfrm>
              <a:off x="-1488666"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4" name="Freeform: Shape 1473">
              <a:extLst>
                <a:ext uri="{FF2B5EF4-FFF2-40B4-BE49-F238E27FC236}">
                  <a16:creationId xmlns:a16="http://schemas.microsoft.com/office/drawing/2014/main" id="{C09DFD35-9188-04AF-94CF-251D219A9815}"/>
                </a:ext>
              </a:extLst>
            </p:cNvPr>
            <p:cNvSpPr/>
            <p:nvPr/>
          </p:nvSpPr>
          <p:spPr>
            <a:xfrm>
              <a:off x="-1316842"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6" name="Freeform: Shape 1475">
              <a:extLst>
                <a:ext uri="{FF2B5EF4-FFF2-40B4-BE49-F238E27FC236}">
                  <a16:creationId xmlns:a16="http://schemas.microsoft.com/office/drawing/2014/main" id="{743FC8CB-7867-1148-9D31-4FE4736CEAC3}"/>
                </a:ext>
              </a:extLst>
            </p:cNvPr>
            <p:cNvSpPr/>
            <p:nvPr/>
          </p:nvSpPr>
          <p:spPr>
            <a:xfrm>
              <a:off x="-1082359"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8" name="Freeform: Shape 1477">
              <a:extLst>
                <a:ext uri="{FF2B5EF4-FFF2-40B4-BE49-F238E27FC236}">
                  <a16:creationId xmlns:a16="http://schemas.microsoft.com/office/drawing/2014/main" id="{141A776D-1CA9-3978-B184-356126D133CD}"/>
                </a:ext>
              </a:extLst>
            </p:cNvPr>
            <p:cNvSpPr/>
            <p:nvPr/>
          </p:nvSpPr>
          <p:spPr>
            <a:xfrm>
              <a:off x="-910535"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0" name="Freeform: Shape 1479">
              <a:extLst>
                <a:ext uri="{FF2B5EF4-FFF2-40B4-BE49-F238E27FC236}">
                  <a16:creationId xmlns:a16="http://schemas.microsoft.com/office/drawing/2014/main" id="{3F8E7EAF-2A89-DD7F-EE50-E23076D1C921}"/>
                </a:ext>
              </a:extLst>
            </p:cNvPr>
            <p:cNvSpPr/>
            <p:nvPr/>
          </p:nvSpPr>
          <p:spPr>
            <a:xfrm>
              <a:off x="-714186"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2" name="Freeform: Shape 1481">
              <a:extLst>
                <a:ext uri="{FF2B5EF4-FFF2-40B4-BE49-F238E27FC236}">
                  <a16:creationId xmlns:a16="http://schemas.microsoft.com/office/drawing/2014/main" id="{BC59EF91-F8FF-5D3D-07DD-716C4F16FEF9}"/>
                </a:ext>
              </a:extLst>
            </p:cNvPr>
            <p:cNvSpPr/>
            <p:nvPr/>
          </p:nvSpPr>
          <p:spPr>
            <a:xfrm>
              <a:off x="-530099" y="3459723"/>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4" name="Freeform: Shape 1483">
              <a:extLst>
                <a:ext uri="{FF2B5EF4-FFF2-40B4-BE49-F238E27FC236}">
                  <a16:creationId xmlns:a16="http://schemas.microsoft.com/office/drawing/2014/main" id="{A1AD2121-EB24-52F9-FE88-AEF25F30DE61}"/>
                </a:ext>
              </a:extLst>
            </p:cNvPr>
            <p:cNvSpPr/>
            <p:nvPr/>
          </p:nvSpPr>
          <p:spPr>
            <a:xfrm>
              <a:off x="-320141" y="3457858"/>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6" name="Freeform: Shape 1485">
              <a:extLst>
                <a:ext uri="{FF2B5EF4-FFF2-40B4-BE49-F238E27FC236}">
                  <a16:creationId xmlns:a16="http://schemas.microsoft.com/office/drawing/2014/main" id="{5F44ADC5-DC6E-6F15-793D-47C82A20927F}"/>
                </a:ext>
              </a:extLst>
            </p:cNvPr>
            <p:cNvSpPr/>
            <p:nvPr/>
          </p:nvSpPr>
          <p:spPr>
            <a:xfrm>
              <a:off x="-136053" y="3457858"/>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8" name="Freeform: Shape 1487">
              <a:extLst>
                <a:ext uri="{FF2B5EF4-FFF2-40B4-BE49-F238E27FC236}">
                  <a16:creationId xmlns:a16="http://schemas.microsoft.com/office/drawing/2014/main" id="{9E724B81-9E53-7606-74DE-F4E1451E1C36}"/>
                </a:ext>
              </a:extLst>
            </p:cNvPr>
            <p:cNvSpPr/>
            <p:nvPr/>
          </p:nvSpPr>
          <p:spPr>
            <a:xfrm>
              <a:off x="48034" y="3457858"/>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0" name="Freeform: Shape 1489">
              <a:extLst>
                <a:ext uri="{FF2B5EF4-FFF2-40B4-BE49-F238E27FC236}">
                  <a16:creationId xmlns:a16="http://schemas.microsoft.com/office/drawing/2014/main" id="{7D7118A6-2B31-0E83-A521-F1D56A2A7D80}"/>
                </a:ext>
              </a:extLst>
            </p:cNvPr>
            <p:cNvSpPr/>
            <p:nvPr/>
          </p:nvSpPr>
          <p:spPr>
            <a:xfrm>
              <a:off x="244383"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2" name="Freeform: Shape 1491">
              <a:extLst>
                <a:ext uri="{FF2B5EF4-FFF2-40B4-BE49-F238E27FC236}">
                  <a16:creationId xmlns:a16="http://schemas.microsoft.com/office/drawing/2014/main" id="{291FC68A-81BA-3B10-89EB-BEEF2F14D56A}"/>
                </a:ext>
              </a:extLst>
            </p:cNvPr>
            <p:cNvSpPr/>
            <p:nvPr/>
          </p:nvSpPr>
          <p:spPr>
            <a:xfrm>
              <a:off x="-4180434" y="3651632"/>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4" name="Freeform: Shape 1493">
              <a:extLst>
                <a:ext uri="{FF2B5EF4-FFF2-40B4-BE49-F238E27FC236}">
                  <a16:creationId xmlns:a16="http://schemas.microsoft.com/office/drawing/2014/main" id="{07EA0AE8-5D11-EE54-BDA6-BADAD3BEB673}"/>
                </a:ext>
              </a:extLst>
            </p:cNvPr>
            <p:cNvSpPr/>
            <p:nvPr/>
          </p:nvSpPr>
          <p:spPr>
            <a:xfrm>
              <a:off x="-4008460"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6" name="Freeform: Shape 1495">
              <a:extLst>
                <a:ext uri="{FF2B5EF4-FFF2-40B4-BE49-F238E27FC236}">
                  <a16:creationId xmlns:a16="http://schemas.microsoft.com/office/drawing/2014/main" id="{BB49E004-9381-AF41-78E1-3660C5A68D3B}"/>
                </a:ext>
              </a:extLst>
            </p:cNvPr>
            <p:cNvSpPr/>
            <p:nvPr/>
          </p:nvSpPr>
          <p:spPr>
            <a:xfrm>
              <a:off x="-3824373"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8" name="Freeform: Shape 1497">
              <a:extLst>
                <a:ext uri="{FF2B5EF4-FFF2-40B4-BE49-F238E27FC236}">
                  <a16:creationId xmlns:a16="http://schemas.microsoft.com/office/drawing/2014/main" id="{5DC3A8EF-3741-E8F3-79C0-91A6DF7D574D}"/>
                </a:ext>
              </a:extLst>
            </p:cNvPr>
            <p:cNvSpPr/>
            <p:nvPr/>
          </p:nvSpPr>
          <p:spPr>
            <a:xfrm>
              <a:off x="-3640286"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8"/>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0" name="Freeform: Shape 1499">
              <a:extLst>
                <a:ext uri="{FF2B5EF4-FFF2-40B4-BE49-F238E27FC236}">
                  <a16:creationId xmlns:a16="http://schemas.microsoft.com/office/drawing/2014/main" id="{1730694A-F7E1-26EC-24E5-BF7709C9662E}"/>
                </a:ext>
              </a:extLst>
            </p:cNvPr>
            <p:cNvSpPr/>
            <p:nvPr/>
          </p:nvSpPr>
          <p:spPr>
            <a:xfrm>
              <a:off x="-3405953"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2" name="Freeform: Shape 1501">
              <a:extLst>
                <a:ext uri="{FF2B5EF4-FFF2-40B4-BE49-F238E27FC236}">
                  <a16:creationId xmlns:a16="http://schemas.microsoft.com/office/drawing/2014/main" id="{146D4210-15A1-A168-C21B-7696C2386A82}"/>
                </a:ext>
              </a:extLst>
            </p:cNvPr>
            <p:cNvSpPr/>
            <p:nvPr/>
          </p:nvSpPr>
          <p:spPr>
            <a:xfrm>
              <a:off x="-3233979"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4" name="Freeform: Shape 1503">
              <a:extLst>
                <a:ext uri="{FF2B5EF4-FFF2-40B4-BE49-F238E27FC236}">
                  <a16:creationId xmlns:a16="http://schemas.microsoft.com/office/drawing/2014/main" id="{6C4514AC-E1D4-A81C-4523-2D179A03CB5D}"/>
                </a:ext>
              </a:extLst>
            </p:cNvPr>
            <p:cNvSpPr/>
            <p:nvPr/>
          </p:nvSpPr>
          <p:spPr>
            <a:xfrm>
              <a:off x="-3037629"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6" name="Freeform: Shape 1505">
              <a:extLst>
                <a:ext uri="{FF2B5EF4-FFF2-40B4-BE49-F238E27FC236}">
                  <a16:creationId xmlns:a16="http://schemas.microsoft.com/office/drawing/2014/main" id="{6C5ACEC8-7A9C-B885-67E8-547CEF63ECF6}"/>
                </a:ext>
              </a:extLst>
            </p:cNvPr>
            <p:cNvSpPr/>
            <p:nvPr/>
          </p:nvSpPr>
          <p:spPr>
            <a:xfrm>
              <a:off x="-2853542"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8" name="Freeform: Shape 1507">
              <a:extLst>
                <a:ext uri="{FF2B5EF4-FFF2-40B4-BE49-F238E27FC236}">
                  <a16:creationId xmlns:a16="http://schemas.microsoft.com/office/drawing/2014/main" id="{78DE49A3-65B7-FD23-D980-559154E7D15E}"/>
                </a:ext>
              </a:extLst>
            </p:cNvPr>
            <p:cNvSpPr/>
            <p:nvPr/>
          </p:nvSpPr>
          <p:spPr>
            <a:xfrm>
              <a:off x="-2631322"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0" name="Freeform: Shape 1509">
              <a:extLst>
                <a:ext uri="{FF2B5EF4-FFF2-40B4-BE49-F238E27FC236}">
                  <a16:creationId xmlns:a16="http://schemas.microsoft.com/office/drawing/2014/main" id="{F616A319-4670-A8B3-0051-46736CF62566}"/>
                </a:ext>
              </a:extLst>
            </p:cNvPr>
            <p:cNvSpPr/>
            <p:nvPr/>
          </p:nvSpPr>
          <p:spPr>
            <a:xfrm>
              <a:off x="-2459498"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2" name="Freeform: Shape 1511">
              <a:extLst>
                <a:ext uri="{FF2B5EF4-FFF2-40B4-BE49-F238E27FC236}">
                  <a16:creationId xmlns:a16="http://schemas.microsoft.com/office/drawing/2014/main" id="{E08B81FC-9854-4AB6-4184-330702278D89}"/>
                </a:ext>
              </a:extLst>
            </p:cNvPr>
            <p:cNvSpPr/>
            <p:nvPr/>
          </p:nvSpPr>
          <p:spPr>
            <a:xfrm>
              <a:off x="-2263147"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4" name="Freeform: Shape 1513">
              <a:extLst>
                <a:ext uri="{FF2B5EF4-FFF2-40B4-BE49-F238E27FC236}">
                  <a16:creationId xmlns:a16="http://schemas.microsoft.com/office/drawing/2014/main" id="{1018DBA1-401D-7B4A-ED74-B262E5F8ACFD}"/>
                </a:ext>
              </a:extLst>
            </p:cNvPr>
            <p:cNvSpPr/>
            <p:nvPr/>
          </p:nvSpPr>
          <p:spPr>
            <a:xfrm>
              <a:off x="-2091324" y="3649766"/>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8"/>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6" name="Freeform: Shape 1515">
              <a:extLst>
                <a:ext uri="{FF2B5EF4-FFF2-40B4-BE49-F238E27FC236}">
                  <a16:creationId xmlns:a16="http://schemas.microsoft.com/office/drawing/2014/main" id="{C6059D0B-2FA3-1178-0252-903DF0651C88}"/>
                </a:ext>
              </a:extLst>
            </p:cNvPr>
            <p:cNvSpPr/>
            <p:nvPr/>
          </p:nvSpPr>
          <p:spPr>
            <a:xfrm>
              <a:off x="-1856840" y="3651632"/>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8" name="Freeform: Shape 1517">
              <a:extLst>
                <a:ext uri="{FF2B5EF4-FFF2-40B4-BE49-F238E27FC236}">
                  <a16:creationId xmlns:a16="http://schemas.microsoft.com/office/drawing/2014/main" id="{78459E82-383F-0A3A-78C9-E731EFA83EE7}"/>
                </a:ext>
              </a:extLst>
            </p:cNvPr>
            <p:cNvSpPr/>
            <p:nvPr/>
          </p:nvSpPr>
          <p:spPr>
            <a:xfrm>
              <a:off x="-1685017" y="3649766"/>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0" name="Freeform: Shape 1519">
              <a:extLst>
                <a:ext uri="{FF2B5EF4-FFF2-40B4-BE49-F238E27FC236}">
                  <a16:creationId xmlns:a16="http://schemas.microsoft.com/office/drawing/2014/main" id="{0900E4F3-F539-C02E-795D-0BA8BA442AC1}"/>
                </a:ext>
              </a:extLst>
            </p:cNvPr>
            <p:cNvSpPr/>
            <p:nvPr/>
          </p:nvSpPr>
          <p:spPr>
            <a:xfrm>
              <a:off x="-1488666"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2" name="Freeform: Shape 1521">
              <a:extLst>
                <a:ext uri="{FF2B5EF4-FFF2-40B4-BE49-F238E27FC236}">
                  <a16:creationId xmlns:a16="http://schemas.microsoft.com/office/drawing/2014/main" id="{D2EE7C2C-E7CF-086A-624C-9E574BB41D95}"/>
                </a:ext>
              </a:extLst>
            </p:cNvPr>
            <p:cNvSpPr/>
            <p:nvPr/>
          </p:nvSpPr>
          <p:spPr>
            <a:xfrm>
              <a:off x="-1316842"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8"/>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4" name="Freeform: Shape 1523">
              <a:extLst>
                <a:ext uri="{FF2B5EF4-FFF2-40B4-BE49-F238E27FC236}">
                  <a16:creationId xmlns:a16="http://schemas.microsoft.com/office/drawing/2014/main" id="{946C2862-7E5E-B6AA-8FD5-F57A3AA291FA}"/>
                </a:ext>
              </a:extLst>
            </p:cNvPr>
            <p:cNvSpPr/>
            <p:nvPr/>
          </p:nvSpPr>
          <p:spPr>
            <a:xfrm>
              <a:off x="-1082359"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6" name="Freeform: Shape 1525">
              <a:extLst>
                <a:ext uri="{FF2B5EF4-FFF2-40B4-BE49-F238E27FC236}">
                  <a16:creationId xmlns:a16="http://schemas.microsoft.com/office/drawing/2014/main" id="{C81E3474-A2D6-9DF8-2D7F-7EB4C1DCAD52}"/>
                </a:ext>
              </a:extLst>
            </p:cNvPr>
            <p:cNvSpPr/>
            <p:nvPr/>
          </p:nvSpPr>
          <p:spPr>
            <a:xfrm>
              <a:off x="-910535"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8" name="Freeform: Shape 1527">
              <a:extLst>
                <a:ext uri="{FF2B5EF4-FFF2-40B4-BE49-F238E27FC236}">
                  <a16:creationId xmlns:a16="http://schemas.microsoft.com/office/drawing/2014/main" id="{23018B77-0C3D-D03B-2A01-C6FFF48324F5}"/>
                </a:ext>
              </a:extLst>
            </p:cNvPr>
            <p:cNvSpPr/>
            <p:nvPr/>
          </p:nvSpPr>
          <p:spPr>
            <a:xfrm>
              <a:off x="-714186"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0" name="Freeform: Shape 1529">
              <a:extLst>
                <a:ext uri="{FF2B5EF4-FFF2-40B4-BE49-F238E27FC236}">
                  <a16:creationId xmlns:a16="http://schemas.microsoft.com/office/drawing/2014/main" id="{410BD1EE-A6E6-74B4-A641-981B4BA7EB60}"/>
                </a:ext>
              </a:extLst>
            </p:cNvPr>
            <p:cNvSpPr/>
            <p:nvPr/>
          </p:nvSpPr>
          <p:spPr>
            <a:xfrm>
              <a:off x="-530099" y="3651632"/>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5" name="Freeform: Shape 1534">
              <a:extLst>
                <a:ext uri="{FF2B5EF4-FFF2-40B4-BE49-F238E27FC236}">
                  <a16:creationId xmlns:a16="http://schemas.microsoft.com/office/drawing/2014/main" id="{DA5FBD50-EEA8-B138-C597-10AF3828F48A}"/>
                </a:ext>
              </a:extLst>
            </p:cNvPr>
            <p:cNvSpPr/>
            <p:nvPr/>
          </p:nvSpPr>
          <p:spPr>
            <a:xfrm>
              <a:off x="-320141" y="3649766"/>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8"/>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7" name="Freeform: Shape 1536">
              <a:extLst>
                <a:ext uri="{FF2B5EF4-FFF2-40B4-BE49-F238E27FC236}">
                  <a16:creationId xmlns:a16="http://schemas.microsoft.com/office/drawing/2014/main" id="{C405E65F-BE40-8745-9F70-E1B08B9FD172}"/>
                </a:ext>
              </a:extLst>
            </p:cNvPr>
            <p:cNvSpPr/>
            <p:nvPr/>
          </p:nvSpPr>
          <p:spPr>
            <a:xfrm>
              <a:off x="-136053" y="3649766"/>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8"/>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53" name="Freeform: Shape 1552">
              <a:extLst>
                <a:ext uri="{FF2B5EF4-FFF2-40B4-BE49-F238E27FC236}">
                  <a16:creationId xmlns:a16="http://schemas.microsoft.com/office/drawing/2014/main" id="{982B25DE-A839-66BA-7D97-FCCD4901FE1C}"/>
                </a:ext>
              </a:extLst>
            </p:cNvPr>
            <p:cNvSpPr/>
            <p:nvPr/>
          </p:nvSpPr>
          <p:spPr>
            <a:xfrm>
              <a:off x="48034" y="3649766"/>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8"/>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55" name="Freeform: Shape 1554">
              <a:extLst>
                <a:ext uri="{FF2B5EF4-FFF2-40B4-BE49-F238E27FC236}">
                  <a16:creationId xmlns:a16="http://schemas.microsoft.com/office/drawing/2014/main" id="{CCD963C1-9E99-D50D-C386-95887716E680}"/>
                </a:ext>
              </a:extLst>
            </p:cNvPr>
            <p:cNvSpPr/>
            <p:nvPr/>
          </p:nvSpPr>
          <p:spPr>
            <a:xfrm>
              <a:off x="244383"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grpSp>
      <p:sp>
        <p:nvSpPr>
          <p:cNvPr id="58" name="Freeform 57">
            <a:extLst>
              <a:ext uri="{FF2B5EF4-FFF2-40B4-BE49-F238E27FC236}">
                <a16:creationId xmlns:a16="http://schemas.microsoft.com/office/drawing/2014/main" id="{AB12BBD6-257A-C1DA-993F-8BFBA581D509}"/>
              </a:ext>
            </a:extLst>
          </p:cNvPr>
          <p:cNvSpPr/>
          <p:nvPr/>
        </p:nvSpPr>
        <p:spPr>
          <a:xfrm>
            <a:off x="11200699" y="6244255"/>
            <a:ext cx="940501" cy="550193"/>
          </a:xfrm>
          <a:custGeom>
            <a:avLst/>
            <a:gdLst/>
            <a:ahLst/>
            <a:cxnLst/>
            <a:rect l="l" t="t" r="r" b="b"/>
            <a:pathLst>
              <a:path w="1410752" h="825290">
                <a:moveTo>
                  <a:pt x="0" y="0"/>
                </a:moveTo>
                <a:lnTo>
                  <a:pt x="1410752" y="0"/>
                </a:lnTo>
                <a:lnTo>
                  <a:pt x="1410752" y="825290"/>
                </a:lnTo>
                <a:lnTo>
                  <a:pt x="0" y="825290"/>
                </a:lnTo>
                <a:lnTo>
                  <a:pt x="0" y="0"/>
                </a:lnTo>
                <a:close/>
              </a:path>
            </a:pathLst>
          </a:custGeom>
          <a:blipFill>
            <a:blip r:embed="rId6"/>
            <a:stretch>
              <a:fillRect/>
            </a:stretch>
          </a:blipFill>
        </p:spPr>
        <p:txBody>
          <a:bodyPr/>
          <a:lstStyle/>
          <a:p>
            <a:endParaRPr lang="en-IN" sz="1200"/>
          </a:p>
        </p:txBody>
      </p:sp>
      <p:sp>
        <p:nvSpPr>
          <p:cNvPr id="59" name="Freeform 58">
            <a:extLst>
              <a:ext uri="{FF2B5EF4-FFF2-40B4-BE49-F238E27FC236}">
                <a16:creationId xmlns:a16="http://schemas.microsoft.com/office/drawing/2014/main" id="{5474629D-B2DB-AF2D-1CD1-FEC839603DB8}"/>
              </a:ext>
            </a:extLst>
          </p:cNvPr>
          <p:cNvSpPr/>
          <p:nvPr/>
        </p:nvSpPr>
        <p:spPr>
          <a:xfrm>
            <a:off x="10379075" y="63553"/>
            <a:ext cx="1762125" cy="633231"/>
          </a:xfrm>
          <a:custGeom>
            <a:avLst/>
            <a:gdLst/>
            <a:ahLst/>
            <a:cxnLst/>
            <a:rect l="l" t="t" r="r" b="b"/>
            <a:pathLst>
              <a:path w="2753181" h="949847">
                <a:moveTo>
                  <a:pt x="0" y="0"/>
                </a:moveTo>
                <a:lnTo>
                  <a:pt x="2753181" y="0"/>
                </a:lnTo>
                <a:lnTo>
                  <a:pt x="2753181" y="949847"/>
                </a:lnTo>
                <a:lnTo>
                  <a:pt x="0" y="949847"/>
                </a:lnTo>
                <a:lnTo>
                  <a:pt x="0" y="0"/>
                </a:lnTo>
                <a:close/>
              </a:path>
            </a:pathLst>
          </a:custGeom>
          <a:blipFill>
            <a:blip r:embed="rId7"/>
            <a:stretch>
              <a:fillRect/>
            </a:stretch>
          </a:blipFill>
        </p:spPr>
        <p:txBody>
          <a:bodyPr/>
          <a:lstStyle/>
          <a:p>
            <a:endParaRPr lang="en-IN" sz="1200"/>
          </a:p>
        </p:txBody>
      </p:sp>
      <p:pic>
        <p:nvPicPr>
          <p:cNvPr id="3" name="Picture 2">
            <a:extLst>
              <a:ext uri="{FF2B5EF4-FFF2-40B4-BE49-F238E27FC236}">
                <a16:creationId xmlns:a16="http://schemas.microsoft.com/office/drawing/2014/main" id="{52CDC520-6F9A-DEAD-EA9D-271FF5DCCD65}"/>
              </a:ext>
            </a:extLst>
          </p:cNvPr>
          <p:cNvPicPr>
            <a:picLocks noChangeAspect="1"/>
          </p:cNvPicPr>
          <p:nvPr/>
        </p:nvPicPr>
        <p:blipFill>
          <a:blip r:embed="rId8"/>
          <a:stretch>
            <a:fillRect/>
          </a:stretch>
        </p:blipFill>
        <p:spPr>
          <a:xfrm>
            <a:off x="858631" y="968542"/>
            <a:ext cx="4824612" cy="2199531"/>
          </a:xfrm>
          <a:prstGeom prst="rect">
            <a:avLst/>
          </a:prstGeom>
        </p:spPr>
      </p:pic>
      <p:pic>
        <p:nvPicPr>
          <p:cNvPr id="5" name="Picture 4">
            <a:extLst>
              <a:ext uri="{FF2B5EF4-FFF2-40B4-BE49-F238E27FC236}">
                <a16:creationId xmlns:a16="http://schemas.microsoft.com/office/drawing/2014/main" id="{263AE814-0ECB-B097-2312-F4683ED2E0D1}"/>
              </a:ext>
            </a:extLst>
          </p:cNvPr>
          <p:cNvPicPr>
            <a:picLocks noChangeAspect="1"/>
          </p:cNvPicPr>
          <p:nvPr/>
        </p:nvPicPr>
        <p:blipFill>
          <a:blip r:embed="rId9"/>
          <a:stretch>
            <a:fillRect/>
          </a:stretch>
        </p:blipFill>
        <p:spPr>
          <a:xfrm>
            <a:off x="6245464" y="968541"/>
            <a:ext cx="4797121" cy="2199531"/>
          </a:xfrm>
          <a:prstGeom prst="rect">
            <a:avLst/>
          </a:prstGeom>
        </p:spPr>
      </p:pic>
      <p:pic>
        <p:nvPicPr>
          <p:cNvPr id="7" name="Picture 6">
            <a:extLst>
              <a:ext uri="{FF2B5EF4-FFF2-40B4-BE49-F238E27FC236}">
                <a16:creationId xmlns:a16="http://schemas.microsoft.com/office/drawing/2014/main" id="{D40632A4-A096-9C7B-8AA5-50485C07FFA1}"/>
              </a:ext>
            </a:extLst>
          </p:cNvPr>
          <p:cNvPicPr>
            <a:picLocks noChangeAspect="1"/>
          </p:cNvPicPr>
          <p:nvPr/>
        </p:nvPicPr>
        <p:blipFill>
          <a:blip r:embed="rId9"/>
          <a:stretch>
            <a:fillRect/>
          </a:stretch>
        </p:blipFill>
        <p:spPr>
          <a:xfrm>
            <a:off x="858631" y="3772332"/>
            <a:ext cx="4824612" cy="2212136"/>
          </a:xfrm>
          <a:prstGeom prst="rect">
            <a:avLst/>
          </a:prstGeom>
        </p:spPr>
      </p:pic>
      <p:pic>
        <p:nvPicPr>
          <p:cNvPr id="9" name="Picture 8">
            <a:extLst>
              <a:ext uri="{FF2B5EF4-FFF2-40B4-BE49-F238E27FC236}">
                <a16:creationId xmlns:a16="http://schemas.microsoft.com/office/drawing/2014/main" id="{7474584E-8BB8-39FF-D341-D6895AA28200}"/>
              </a:ext>
            </a:extLst>
          </p:cNvPr>
          <p:cNvPicPr>
            <a:picLocks noChangeAspect="1"/>
          </p:cNvPicPr>
          <p:nvPr/>
        </p:nvPicPr>
        <p:blipFill>
          <a:blip r:embed="rId10"/>
          <a:stretch>
            <a:fillRect/>
          </a:stretch>
        </p:blipFill>
        <p:spPr>
          <a:xfrm>
            <a:off x="6347063" y="3772332"/>
            <a:ext cx="4824611" cy="2212135"/>
          </a:xfrm>
          <a:prstGeom prst="rect">
            <a:avLst/>
          </a:prstGeom>
        </p:spPr>
      </p:pic>
    </p:spTree>
    <p:extLst>
      <p:ext uri="{BB962C8B-B14F-4D97-AF65-F5344CB8AC3E}">
        <p14:creationId xmlns:p14="http://schemas.microsoft.com/office/powerpoint/2010/main" val="2417744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D48AB-828C-056F-C19F-266BB39C2154}"/>
            </a:ext>
          </a:extLst>
        </p:cNvPr>
        <p:cNvGrpSpPr/>
        <p:nvPr/>
      </p:nvGrpSpPr>
      <p:grpSpPr>
        <a:xfrm>
          <a:off x="0" y="0"/>
          <a:ext cx="0" cy="0"/>
          <a:chOff x="0" y="0"/>
          <a:chExt cx="0" cy="0"/>
        </a:xfrm>
      </p:grpSpPr>
      <p:graphicFrame>
        <p:nvGraphicFramePr>
          <p:cNvPr id="96" name="think-cell data - do not delete" hidden="1">
            <a:extLst>
              <a:ext uri="{FF2B5EF4-FFF2-40B4-BE49-F238E27FC236}">
                <a16:creationId xmlns:a16="http://schemas.microsoft.com/office/drawing/2014/main" id="{D275F097-24C1-7CC0-0472-6EE8871CFE89}"/>
              </a:ext>
            </a:extLst>
          </p:cNvPr>
          <p:cNvGraphicFramePr>
            <a:graphicFrameLocks noChangeAspect="1"/>
          </p:cNvGraphicFramePr>
          <p:nvPr>
            <p:custDataLst>
              <p:tags r:id="rId1"/>
            </p:custDataLst>
          </p:nvPr>
        </p:nvGraphicFramePr>
        <p:xfrm>
          <a:off x="7934" y="4264"/>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96" name="think-cell data - do not delete" hidden="1">
                        <a:extLst>
                          <a:ext uri="{FF2B5EF4-FFF2-40B4-BE49-F238E27FC236}">
                            <a16:creationId xmlns:a16="http://schemas.microsoft.com/office/drawing/2014/main" id="{D275F097-24C1-7CC0-0472-6EE8871CFE89}"/>
                          </a:ext>
                        </a:extLst>
                      </p:cNvPr>
                      <p:cNvPicPr/>
                      <p:nvPr/>
                    </p:nvPicPr>
                    <p:blipFill>
                      <a:blip r:embed="rId5"/>
                      <a:stretch>
                        <a:fillRect/>
                      </a:stretch>
                    </p:blipFill>
                    <p:spPr>
                      <a:xfrm>
                        <a:off x="7934" y="4264"/>
                        <a:ext cx="1588" cy="1588"/>
                      </a:xfrm>
                      <a:prstGeom prst="rect">
                        <a:avLst/>
                      </a:prstGeom>
                    </p:spPr>
                  </p:pic>
                </p:oleObj>
              </mc:Fallback>
            </mc:AlternateContent>
          </a:graphicData>
        </a:graphic>
      </p:graphicFrame>
      <p:sp>
        <p:nvSpPr>
          <p:cNvPr id="172" name="Rectangle 171" hidden="1">
            <a:extLst>
              <a:ext uri="{FF2B5EF4-FFF2-40B4-BE49-F238E27FC236}">
                <a16:creationId xmlns:a16="http://schemas.microsoft.com/office/drawing/2014/main" id="{4AD61547-E306-4F8D-5FCC-81466421666E}"/>
              </a:ext>
            </a:extLst>
          </p:cNvPr>
          <p:cNvSpPr/>
          <p:nvPr/>
        </p:nvSpPr>
        <p:spPr bwMode="gray">
          <a:xfrm>
            <a:off x="1445560" y="2954166"/>
            <a:ext cx="4469812" cy="2142220"/>
          </a:xfrm>
          <a:prstGeom prst="rect">
            <a:avLst/>
          </a:prstGeom>
          <a:noFill/>
          <a:ln w="25400" algn="ctr">
            <a:noFill/>
            <a:miter lim="800000"/>
            <a:headEnd/>
            <a:tailEnd/>
          </a:ln>
        </p:spPr>
        <p:txBody>
          <a:bodyPr lIns="182736" tIns="146190" rIns="182736" bIns="146190" rtlCol="0" anchor="ctr"/>
          <a:lstStyle/>
          <a:p>
            <a:pPr algn="ctr" defTabSz="1088176" fontAlgn="base">
              <a:spcAft>
                <a:spcPct val="0"/>
              </a:spcAft>
              <a:buClr>
                <a:srgbClr val="F0AB00"/>
              </a:buClr>
              <a:buSzPct val="80000"/>
              <a:defRPr/>
            </a:pPr>
            <a:r>
              <a:rPr lang="en-US" sz="1400" spc="50">
                <a:gradFill flip="none" rotWithShape="1">
                  <a:gsLst>
                    <a:gs pos="0">
                      <a:srgbClr val="89D1FF"/>
                    </a:gs>
                    <a:gs pos="100000">
                      <a:srgbClr val="1B90FF"/>
                    </a:gs>
                  </a:gsLst>
                  <a:lin ang="10800000" scaled="1"/>
                  <a:tileRect/>
                </a:gradFill>
                <a:latin typeface="72 Brand Medium"/>
              </a:rPr>
              <a:t>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 01001000 01100101 01101100 01101100</a:t>
            </a:r>
            <a:endParaRPr lang="en-US" sz="1400" kern="0">
              <a:gradFill flip="none" rotWithShape="1">
                <a:gsLst>
                  <a:gs pos="0">
                    <a:srgbClr val="89D1FF"/>
                  </a:gs>
                  <a:gs pos="100000">
                    <a:srgbClr val="1B90FF"/>
                  </a:gs>
                </a:gsLst>
                <a:lin ang="10800000" scaled="1"/>
                <a:tileRect/>
              </a:gradFill>
              <a:latin typeface="72 Brand"/>
              <a:ea typeface="72 Brand" pitchFamily="34" charset="-128"/>
              <a:cs typeface="72 Brand" pitchFamily="34" charset="-128"/>
            </a:endParaRPr>
          </a:p>
        </p:txBody>
      </p:sp>
      <p:grpSp>
        <p:nvGrpSpPr>
          <p:cNvPr id="142" name="Group 141" hidden="1">
            <a:extLst>
              <a:ext uri="{FF2B5EF4-FFF2-40B4-BE49-F238E27FC236}">
                <a16:creationId xmlns:a16="http://schemas.microsoft.com/office/drawing/2014/main" id="{AC16055B-1C34-B865-558E-8239C4230800}"/>
              </a:ext>
            </a:extLst>
          </p:cNvPr>
          <p:cNvGrpSpPr/>
          <p:nvPr/>
        </p:nvGrpSpPr>
        <p:grpSpPr>
          <a:xfrm>
            <a:off x="2545528" y="1260063"/>
            <a:ext cx="4649202" cy="1958791"/>
            <a:chOff x="2541163" y="1319324"/>
            <a:chExt cx="4652836" cy="1960322"/>
          </a:xfrm>
        </p:grpSpPr>
        <p:sp>
          <p:nvSpPr>
            <p:cNvPr id="88" name="Freeform: Shape 87">
              <a:extLst>
                <a:ext uri="{FF2B5EF4-FFF2-40B4-BE49-F238E27FC236}">
                  <a16:creationId xmlns:a16="http://schemas.microsoft.com/office/drawing/2014/main" id="{3989E247-4450-0F17-9D15-63302AD30E80}"/>
                </a:ext>
              </a:extLst>
            </p:cNvPr>
            <p:cNvSpPr/>
            <p:nvPr/>
          </p:nvSpPr>
          <p:spPr>
            <a:xfrm>
              <a:off x="2592613" y="1648970"/>
              <a:ext cx="283571" cy="329519"/>
            </a:xfrm>
            <a:custGeom>
              <a:avLst/>
              <a:gdLst>
                <a:gd name="connsiteX0" fmla="*/ 283572 w 283571"/>
                <a:gd name="connsiteY0" fmla="*/ 329520 h 329519"/>
                <a:gd name="connsiteX1" fmla="*/ 283572 w 283571"/>
                <a:gd name="connsiteY1" fmla="*/ 0 h 329519"/>
                <a:gd name="connsiteX2" fmla="*/ 0 w 283571"/>
                <a:gd name="connsiteY2" fmla="*/ 0 h 329519"/>
              </a:gdLst>
              <a:ahLst/>
              <a:cxnLst>
                <a:cxn ang="0">
                  <a:pos x="connsiteX0" y="connsiteY0"/>
                </a:cxn>
                <a:cxn ang="0">
                  <a:pos x="connsiteX1" y="connsiteY1"/>
                </a:cxn>
                <a:cxn ang="0">
                  <a:pos x="connsiteX2" y="connsiteY2"/>
                </a:cxn>
              </a:cxnLst>
              <a:rect l="l" t="t" r="r" b="b"/>
              <a:pathLst>
                <a:path w="283571" h="329519">
                  <a:moveTo>
                    <a:pt x="283572" y="329520"/>
                  </a:moveTo>
                  <a:lnTo>
                    <a:pt x="283572" y="0"/>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8" name="Freeform: Shape 127">
              <a:extLst>
                <a:ext uri="{FF2B5EF4-FFF2-40B4-BE49-F238E27FC236}">
                  <a16:creationId xmlns:a16="http://schemas.microsoft.com/office/drawing/2014/main" id="{31C7AECC-CAA5-6717-DB8F-D04933D9CD6F}"/>
                </a:ext>
              </a:extLst>
            </p:cNvPr>
            <p:cNvSpPr/>
            <p:nvPr/>
          </p:nvSpPr>
          <p:spPr>
            <a:xfrm>
              <a:off x="2592613" y="2299224"/>
              <a:ext cx="295027" cy="1804"/>
            </a:xfrm>
            <a:custGeom>
              <a:avLst/>
              <a:gdLst>
                <a:gd name="connsiteX0" fmla="*/ 295027 w 295027"/>
                <a:gd name="connsiteY0" fmla="*/ 0 h 1804"/>
                <a:gd name="connsiteX1" fmla="*/ 0 w 295027"/>
                <a:gd name="connsiteY1" fmla="*/ 0 h 1804"/>
              </a:gdLst>
              <a:ahLst/>
              <a:cxnLst>
                <a:cxn ang="0">
                  <a:pos x="connsiteX0" y="connsiteY0"/>
                </a:cxn>
                <a:cxn ang="0">
                  <a:pos x="connsiteX1" y="connsiteY1"/>
                </a:cxn>
              </a:cxnLst>
              <a:rect l="l" t="t" r="r" b="b"/>
              <a:pathLst>
                <a:path w="295027" h="1804">
                  <a:moveTo>
                    <a:pt x="295027"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grpSp>
          <p:nvGrpSpPr>
            <p:cNvPr id="141" name="Group 140">
              <a:extLst>
                <a:ext uri="{FF2B5EF4-FFF2-40B4-BE49-F238E27FC236}">
                  <a16:creationId xmlns:a16="http://schemas.microsoft.com/office/drawing/2014/main" id="{988356EB-1FFB-2BB7-F9E4-0CB16B9FF1B3}"/>
                </a:ext>
              </a:extLst>
            </p:cNvPr>
            <p:cNvGrpSpPr/>
            <p:nvPr/>
          </p:nvGrpSpPr>
          <p:grpSpPr>
            <a:xfrm>
              <a:off x="2541163" y="1319324"/>
              <a:ext cx="4652836" cy="1960322"/>
              <a:chOff x="2541163" y="1319324"/>
              <a:chExt cx="4652836" cy="1960322"/>
            </a:xfrm>
          </p:grpSpPr>
          <p:sp>
            <p:nvSpPr>
              <p:cNvPr id="72" name="Freeform: Shape 71">
                <a:extLst>
                  <a:ext uri="{FF2B5EF4-FFF2-40B4-BE49-F238E27FC236}">
                    <a16:creationId xmlns:a16="http://schemas.microsoft.com/office/drawing/2014/main" id="{64D92C4D-1D3F-9125-5CE3-82FF1DDD5546}"/>
                  </a:ext>
                </a:extLst>
              </p:cNvPr>
              <p:cNvSpPr/>
              <p:nvPr/>
            </p:nvSpPr>
            <p:spPr>
              <a:xfrm>
                <a:off x="2592613" y="1324141"/>
                <a:ext cx="1271553" cy="1269677"/>
              </a:xfrm>
              <a:custGeom>
                <a:avLst/>
                <a:gdLst>
                  <a:gd name="connsiteX0" fmla="*/ 1271553 w 1271553"/>
                  <a:gd name="connsiteY0" fmla="*/ 0 h 1269677"/>
                  <a:gd name="connsiteX1" fmla="*/ 0 w 1271553"/>
                  <a:gd name="connsiteY1" fmla="*/ 1269677 h 1269677"/>
                </a:gdLst>
                <a:ahLst/>
                <a:cxnLst>
                  <a:cxn ang="0">
                    <a:pos x="connsiteX0" y="connsiteY0"/>
                  </a:cxn>
                  <a:cxn ang="0">
                    <a:pos x="connsiteX1" y="connsiteY1"/>
                  </a:cxn>
                </a:cxnLst>
                <a:rect l="l" t="t" r="r" b="b"/>
                <a:pathLst>
                  <a:path w="1271553" h="1269677">
                    <a:moveTo>
                      <a:pt x="1271553" y="0"/>
                    </a:moveTo>
                    <a:lnTo>
                      <a:pt x="0" y="1269677"/>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73" name="Freeform: Shape 72">
                <a:extLst>
                  <a:ext uri="{FF2B5EF4-FFF2-40B4-BE49-F238E27FC236}">
                    <a16:creationId xmlns:a16="http://schemas.microsoft.com/office/drawing/2014/main" id="{F40CD84B-393E-7B9C-F120-237875BE9D47}"/>
                  </a:ext>
                </a:extLst>
              </p:cNvPr>
              <p:cNvSpPr/>
              <p:nvPr/>
            </p:nvSpPr>
            <p:spPr>
              <a:xfrm>
                <a:off x="3879645" y="1971274"/>
                <a:ext cx="660139" cy="1804"/>
              </a:xfrm>
              <a:custGeom>
                <a:avLst/>
                <a:gdLst>
                  <a:gd name="connsiteX0" fmla="*/ 660140 w 660139"/>
                  <a:gd name="connsiteY0" fmla="*/ 0 h 1804"/>
                  <a:gd name="connsiteX1" fmla="*/ 0 w 660139"/>
                  <a:gd name="connsiteY1" fmla="*/ 0 h 1804"/>
                </a:gdLst>
                <a:ahLst/>
                <a:cxnLst>
                  <a:cxn ang="0">
                    <a:pos x="connsiteX0" y="connsiteY0"/>
                  </a:cxn>
                  <a:cxn ang="0">
                    <a:pos x="connsiteX1" y="connsiteY1"/>
                  </a:cxn>
                </a:cxnLst>
                <a:rect l="l" t="t" r="r" b="b"/>
                <a:pathLst>
                  <a:path w="660139" h="1804">
                    <a:moveTo>
                      <a:pt x="660140"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77" name="Freeform: Shape 76">
                <a:extLst>
                  <a:ext uri="{FF2B5EF4-FFF2-40B4-BE49-F238E27FC236}">
                    <a16:creationId xmlns:a16="http://schemas.microsoft.com/office/drawing/2014/main" id="{F6D37E8C-131A-47E5-0C3C-FDB2501F2C92}"/>
                  </a:ext>
                </a:extLst>
              </p:cNvPr>
              <p:cNvSpPr/>
              <p:nvPr/>
            </p:nvSpPr>
            <p:spPr>
              <a:xfrm>
                <a:off x="2621892" y="1324141"/>
                <a:ext cx="1905841" cy="1903027"/>
              </a:xfrm>
              <a:custGeom>
                <a:avLst/>
                <a:gdLst>
                  <a:gd name="connsiteX0" fmla="*/ 0 w 1905841"/>
                  <a:gd name="connsiteY0" fmla="*/ 1903027 h 1903027"/>
                  <a:gd name="connsiteX1" fmla="*/ 1905842 w 1905841"/>
                  <a:gd name="connsiteY1" fmla="*/ 0 h 1903027"/>
                  <a:gd name="connsiteX2" fmla="*/ 1905842 w 1905841"/>
                  <a:gd name="connsiteY2" fmla="*/ 325461 h 1903027"/>
                </a:gdLst>
                <a:ahLst/>
                <a:cxnLst>
                  <a:cxn ang="0">
                    <a:pos x="connsiteX0" y="connsiteY0"/>
                  </a:cxn>
                  <a:cxn ang="0">
                    <a:pos x="connsiteX1" y="connsiteY1"/>
                  </a:cxn>
                  <a:cxn ang="0">
                    <a:pos x="connsiteX2" y="connsiteY2"/>
                  </a:cxn>
                </a:cxnLst>
                <a:rect l="l" t="t" r="r" b="b"/>
                <a:pathLst>
                  <a:path w="1905841" h="1903027">
                    <a:moveTo>
                      <a:pt x="0" y="1903027"/>
                    </a:moveTo>
                    <a:lnTo>
                      <a:pt x="1905842" y="0"/>
                    </a:lnTo>
                    <a:lnTo>
                      <a:pt x="1905842" y="32546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0" name="Freeform: Shape 79">
                <a:extLst>
                  <a:ext uri="{FF2B5EF4-FFF2-40B4-BE49-F238E27FC236}">
                    <a16:creationId xmlns:a16="http://schemas.microsoft.com/office/drawing/2014/main" id="{2E2E1181-340F-716C-0A96-0CBAC53B2AC3}"/>
                  </a:ext>
                </a:extLst>
              </p:cNvPr>
              <p:cNvSpPr/>
              <p:nvPr/>
            </p:nvSpPr>
            <p:spPr>
              <a:xfrm>
                <a:off x="3243588" y="1319324"/>
                <a:ext cx="1950364" cy="1947478"/>
              </a:xfrm>
              <a:custGeom>
                <a:avLst/>
                <a:gdLst>
                  <a:gd name="connsiteX0" fmla="*/ 0 w 1950364"/>
                  <a:gd name="connsiteY0" fmla="*/ 1947478 h 1947478"/>
                  <a:gd name="connsiteX1" fmla="*/ 1950365 w 1950364"/>
                  <a:gd name="connsiteY1" fmla="*/ 0 h 1947478"/>
                  <a:gd name="connsiteX2" fmla="*/ 1950365 w 1950364"/>
                  <a:gd name="connsiteY2" fmla="*/ 329646 h 1947478"/>
                </a:gdLst>
                <a:ahLst/>
                <a:cxnLst>
                  <a:cxn ang="0">
                    <a:pos x="connsiteX0" y="connsiteY0"/>
                  </a:cxn>
                  <a:cxn ang="0">
                    <a:pos x="connsiteX1" y="connsiteY1"/>
                  </a:cxn>
                  <a:cxn ang="0">
                    <a:pos x="connsiteX2" y="connsiteY2"/>
                  </a:cxn>
                </a:cxnLst>
                <a:rect l="l" t="t" r="r" b="b"/>
                <a:pathLst>
                  <a:path w="1950364" h="1947478">
                    <a:moveTo>
                      <a:pt x="0" y="1947478"/>
                    </a:moveTo>
                    <a:lnTo>
                      <a:pt x="1950365" y="0"/>
                    </a:lnTo>
                    <a:lnTo>
                      <a:pt x="1950365" y="329646"/>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5" name="Freeform: Shape 84">
                <a:extLst>
                  <a:ext uri="{FF2B5EF4-FFF2-40B4-BE49-F238E27FC236}">
                    <a16:creationId xmlns:a16="http://schemas.microsoft.com/office/drawing/2014/main" id="{7A9C7EF2-B4C6-7AD1-3FF1-426907038595}"/>
                  </a:ext>
                </a:extLst>
              </p:cNvPr>
              <p:cNvSpPr/>
              <p:nvPr/>
            </p:nvSpPr>
            <p:spPr>
              <a:xfrm>
                <a:off x="4587862" y="1707645"/>
                <a:ext cx="1534810" cy="1532529"/>
              </a:xfrm>
              <a:custGeom>
                <a:avLst/>
                <a:gdLst>
                  <a:gd name="connsiteX0" fmla="*/ 0 w 1918884"/>
                  <a:gd name="connsiteY0" fmla="*/ 1916034 h 1916034"/>
                  <a:gd name="connsiteX1" fmla="*/ 1918885 w 1918884"/>
                  <a:gd name="connsiteY1" fmla="*/ 0 h 1916034"/>
                  <a:gd name="connsiteX2" fmla="*/ 1918885 w 1918884"/>
                  <a:gd name="connsiteY2" fmla="*/ 324829 h 1916034"/>
                  <a:gd name="connsiteX0" fmla="*/ 0 w 1918885"/>
                  <a:gd name="connsiteY0" fmla="*/ 1916034 h 1916034"/>
                  <a:gd name="connsiteX1" fmla="*/ 1918885 w 1918885"/>
                  <a:gd name="connsiteY1" fmla="*/ 0 h 1916034"/>
                </a:gdLst>
                <a:ahLst/>
                <a:cxnLst>
                  <a:cxn ang="0">
                    <a:pos x="connsiteX0" y="connsiteY0"/>
                  </a:cxn>
                  <a:cxn ang="0">
                    <a:pos x="connsiteX1" y="connsiteY1"/>
                  </a:cxn>
                </a:cxnLst>
                <a:rect l="l" t="t" r="r" b="b"/>
                <a:pathLst>
                  <a:path w="1918885" h="1916034">
                    <a:moveTo>
                      <a:pt x="0" y="1916034"/>
                    </a:moveTo>
                    <a:lnTo>
                      <a:pt x="1918885"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6" name="Freeform: Shape 85">
                <a:extLst>
                  <a:ext uri="{FF2B5EF4-FFF2-40B4-BE49-F238E27FC236}">
                    <a16:creationId xmlns:a16="http://schemas.microsoft.com/office/drawing/2014/main" id="{D92D310E-535E-5239-DC65-9BAA0A295538}"/>
                  </a:ext>
                </a:extLst>
              </p:cNvPr>
              <p:cNvSpPr/>
              <p:nvPr/>
            </p:nvSpPr>
            <p:spPr>
              <a:xfrm>
                <a:off x="5245565" y="1782295"/>
                <a:ext cx="1460035" cy="1457880"/>
              </a:xfrm>
              <a:custGeom>
                <a:avLst/>
                <a:gdLst>
                  <a:gd name="connsiteX0" fmla="*/ 0 w 1918866"/>
                  <a:gd name="connsiteY0" fmla="*/ 1916034 h 1916034"/>
                  <a:gd name="connsiteX1" fmla="*/ 1918867 w 1918866"/>
                  <a:gd name="connsiteY1" fmla="*/ 0 h 1916034"/>
                </a:gdLst>
                <a:ahLst/>
                <a:cxnLst>
                  <a:cxn ang="0">
                    <a:pos x="connsiteX0" y="connsiteY0"/>
                  </a:cxn>
                  <a:cxn ang="0">
                    <a:pos x="connsiteX1" y="connsiteY1"/>
                  </a:cxn>
                </a:cxnLst>
                <a:rect l="l" t="t" r="r" b="b"/>
                <a:pathLst>
                  <a:path w="1918866" h="1916034">
                    <a:moveTo>
                      <a:pt x="0" y="1916034"/>
                    </a:moveTo>
                    <a:lnTo>
                      <a:pt x="1918867"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7" name="Freeform: Shape 86">
                <a:extLst>
                  <a:ext uri="{FF2B5EF4-FFF2-40B4-BE49-F238E27FC236}">
                    <a16:creationId xmlns:a16="http://schemas.microsoft.com/office/drawing/2014/main" id="{B008C4A9-466E-32D8-05F3-9D0B8548C6DB}"/>
                  </a:ext>
                </a:extLst>
              </p:cNvPr>
              <p:cNvSpPr/>
              <p:nvPr/>
            </p:nvSpPr>
            <p:spPr>
              <a:xfrm>
                <a:off x="5894971" y="2491222"/>
                <a:ext cx="768719" cy="767570"/>
              </a:xfrm>
              <a:custGeom>
                <a:avLst/>
                <a:gdLst>
                  <a:gd name="connsiteX0" fmla="*/ 0 w 1918884"/>
                  <a:gd name="connsiteY0" fmla="*/ 1916016 h 1916016"/>
                  <a:gd name="connsiteX1" fmla="*/ 1918885 w 1918884"/>
                  <a:gd name="connsiteY1" fmla="*/ 0 h 1916016"/>
                </a:gdLst>
                <a:ahLst/>
                <a:cxnLst>
                  <a:cxn ang="0">
                    <a:pos x="connsiteX0" y="connsiteY0"/>
                  </a:cxn>
                  <a:cxn ang="0">
                    <a:pos x="connsiteX1" y="connsiteY1"/>
                  </a:cxn>
                </a:cxnLst>
                <a:rect l="l" t="t" r="r" b="b"/>
                <a:pathLst>
                  <a:path w="1918884" h="1916016">
                    <a:moveTo>
                      <a:pt x="0" y="1916016"/>
                    </a:moveTo>
                    <a:lnTo>
                      <a:pt x="1918885"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89" name="Freeform: Shape 88">
                <a:extLst>
                  <a:ext uri="{FF2B5EF4-FFF2-40B4-BE49-F238E27FC236}">
                    <a16:creationId xmlns:a16="http://schemas.microsoft.com/office/drawing/2014/main" id="{5737C945-B02A-7E46-1F71-4A9EE7547779}"/>
                  </a:ext>
                </a:extLst>
              </p:cNvPr>
              <p:cNvSpPr/>
              <p:nvPr/>
            </p:nvSpPr>
            <p:spPr>
              <a:xfrm>
                <a:off x="2541163" y="1328687"/>
                <a:ext cx="667283" cy="972106"/>
              </a:xfrm>
              <a:custGeom>
                <a:avLst/>
                <a:gdLst>
                  <a:gd name="connsiteX0" fmla="*/ 667284 w 667283"/>
                  <a:gd name="connsiteY0" fmla="*/ 972106 h 972106"/>
                  <a:gd name="connsiteX1" fmla="*/ 667284 w 667283"/>
                  <a:gd name="connsiteY1" fmla="*/ 649803 h 972106"/>
                  <a:gd name="connsiteX2" fmla="*/ 51450 w 667283"/>
                  <a:gd name="connsiteY2" fmla="*/ 649803 h 972106"/>
                  <a:gd name="connsiteX3" fmla="*/ 0 w 667283"/>
                  <a:gd name="connsiteY3" fmla="*/ 649803 h 972106"/>
                  <a:gd name="connsiteX4" fmla="*/ 51450 w 667283"/>
                  <a:gd name="connsiteY4" fmla="*/ 602989 h 972106"/>
                  <a:gd name="connsiteX5" fmla="*/ 656279 w 667283"/>
                  <a:gd name="connsiteY5" fmla="*/ 0 h 972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7283" h="972106">
                    <a:moveTo>
                      <a:pt x="667284" y="972106"/>
                    </a:moveTo>
                    <a:lnTo>
                      <a:pt x="667284" y="649803"/>
                    </a:lnTo>
                    <a:lnTo>
                      <a:pt x="51450" y="649803"/>
                    </a:lnTo>
                    <a:lnTo>
                      <a:pt x="0" y="649803"/>
                    </a:lnTo>
                    <a:lnTo>
                      <a:pt x="51450" y="602989"/>
                    </a:lnTo>
                    <a:lnTo>
                      <a:pt x="656279"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90" name="Freeform: Shape 89">
                <a:extLst>
                  <a:ext uri="{FF2B5EF4-FFF2-40B4-BE49-F238E27FC236}">
                    <a16:creationId xmlns:a16="http://schemas.microsoft.com/office/drawing/2014/main" id="{E9FB235B-A3E9-C534-2ED1-58EAEC456302}"/>
                  </a:ext>
                </a:extLst>
              </p:cNvPr>
              <p:cNvSpPr/>
              <p:nvPr/>
            </p:nvSpPr>
            <p:spPr>
              <a:xfrm>
                <a:off x="3208446" y="1324141"/>
                <a:ext cx="1668091" cy="1625986"/>
              </a:xfrm>
              <a:custGeom>
                <a:avLst/>
                <a:gdLst>
                  <a:gd name="connsiteX0" fmla="*/ 0 w 1668091"/>
                  <a:gd name="connsiteY0" fmla="*/ 0 h 1625986"/>
                  <a:gd name="connsiteX1" fmla="*/ 0 w 1668091"/>
                  <a:gd name="connsiteY1" fmla="*/ 324829 h 1625986"/>
                  <a:gd name="connsiteX2" fmla="*/ 332298 w 1668091"/>
                  <a:gd name="connsiteY2" fmla="*/ 324829 h 1625986"/>
                  <a:gd name="connsiteX3" fmla="*/ 332298 w 1668091"/>
                  <a:gd name="connsiteY3" fmla="*/ 647133 h 1625986"/>
                  <a:gd name="connsiteX4" fmla="*/ 671198 w 1668091"/>
                  <a:gd name="connsiteY4" fmla="*/ 647133 h 1625986"/>
                  <a:gd name="connsiteX5" fmla="*/ 671198 w 1668091"/>
                  <a:gd name="connsiteY5" fmla="*/ 975083 h 1625986"/>
                  <a:gd name="connsiteX6" fmla="*/ 1004146 w 1668091"/>
                  <a:gd name="connsiteY6" fmla="*/ 975083 h 1625986"/>
                  <a:gd name="connsiteX7" fmla="*/ 1004146 w 1668091"/>
                  <a:gd name="connsiteY7" fmla="*/ 1301049 h 1625986"/>
                  <a:gd name="connsiteX8" fmla="*/ 1332330 w 1668091"/>
                  <a:gd name="connsiteY8" fmla="*/ 1301049 h 1625986"/>
                  <a:gd name="connsiteX9" fmla="*/ 1332330 w 1668091"/>
                  <a:gd name="connsiteY9" fmla="*/ 1625986 h 1625986"/>
                  <a:gd name="connsiteX10" fmla="*/ 1668092 w 1668091"/>
                  <a:gd name="connsiteY10" fmla="*/ 1625986 h 1625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091" h="1625986">
                    <a:moveTo>
                      <a:pt x="0" y="0"/>
                    </a:moveTo>
                    <a:lnTo>
                      <a:pt x="0" y="324829"/>
                    </a:lnTo>
                    <a:lnTo>
                      <a:pt x="332298" y="324829"/>
                    </a:lnTo>
                    <a:lnTo>
                      <a:pt x="332298" y="647133"/>
                    </a:lnTo>
                    <a:lnTo>
                      <a:pt x="671198" y="647133"/>
                    </a:lnTo>
                    <a:lnTo>
                      <a:pt x="671198" y="975083"/>
                    </a:lnTo>
                    <a:lnTo>
                      <a:pt x="1004146" y="975083"/>
                    </a:lnTo>
                    <a:lnTo>
                      <a:pt x="1004146" y="1301049"/>
                    </a:lnTo>
                    <a:lnTo>
                      <a:pt x="1332330" y="1301049"/>
                    </a:lnTo>
                    <a:lnTo>
                      <a:pt x="1332330" y="1625986"/>
                    </a:lnTo>
                    <a:lnTo>
                      <a:pt x="1668092" y="1625986"/>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91" name="Freeform: Shape 90">
                <a:extLst>
                  <a:ext uri="{FF2B5EF4-FFF2-40B4-BE49-F238E27FC236}">
                    <a16:creationId xmlns:a16="http://schemas.microsoft.com/office/drawing/2014/main" id="{05EDE296-8D90-24EF-D11C-40FD3FC67434}"/>
                  </a:ext>
                </a:extLst>
              </p:cNvPr>
              <p:cNvSpPr/>
              <p:nvPr/>
            </p:nvSpPr>
            <p:spPr>
              <a:xfrm>
                <a:off x="2887640" y="2299224"/>
                <a:ext cx="992744" cy="651931"/>
              </a:xfrm>
              <a:custGeom>
                <a:avLst/>
                <a:gdLst>
                  <a:gd name="connsiteX0" fmla="*/ 659526 w 992744"/>
                  <a:gd name="connsiteY0" fmla="*/ 329628 h 651931"/>
                  <a:gd name="connsiteX1" fmla="*/ 659526 w 992744"/>
                  <a:gd name="connsiteY1" fmla="*/ 3482 h 651931"/>
                  <a:gd name="connsiteX2" fmla="*/ 0 w 992744"/>
                  <a:gd name="connsiteY2" fmla="*/ 0 h 651931"/>
                  <a:gd name="connsiteX3" fmla="*/ 0 w 992744"/>
                  <a:gd name="connsiteY3" fmla="*/ 329628 h 651931"/>
                  <a:gd name="connsiteX4" fmla="*/ 333452 w 992744"/>
                  <a:gd name="connsiteY4" fmla="*/ 329628 h 651931"/>
                  <a:gd name="connsiteX5" fmla="*/ 992744 w 992744"/>
                  <a:gd name="connsiteY5" fmla="*/ 329628 h 651931"/>
                  <a:gd name="connsiteX6" fmla="*/ 992744 w 992744"/>
                  <a:gd name="connsiteY6" fmla="*/ 651932 h 651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2744" h="651931">
                    <a:moveTo>
                      <a:pt x="659526" y="329628"/>
                    </a:moveTo>
                    <a:lnTo>
                      <a:pt x="659526" y="3482"/>
                    </a:lnTo>
                    <a:lnTo>
                      <a:pt x="0" y="0"/>
                    </a:lnTo>
                    <a:lnTo>
                      <a:pt x="0" y="329628"/>
                    </a:lnTo>
                    <a:lnTo>
                      <a:pt x="333452" y="329628"/>
                    </a:lnTo>
                    <a:lnTo>
                      <a:pt x="992744" y="329628"/>
                    </a:lnTo>
                    <a:lnTo>
                      <a:pt x="992744" y="651932"/>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0" name="Freeform: Shape 109">
                <a:extLst>
                  <a:ext uri="{FF2B5EF4-FFF2-40B4-BE49-F238E27FC236}">
                    <a16:creationId xmlns:a16="http://schemas.microsoft.com/office/drawing/2014/main" id="{1F202295-CE95-B3DF-812F-B4779240F347}"/>
                  </a:ext>
                </a:extLst>
              </p:cNvPr>
              <p:cNvSpPr/>
              <p:nvPr/>
            </p:nvSpPr>
            <p:spPr>
              <a:xfrm>
                <a:off x="3559704" y="2950127"/>
                <a:ext cx="655268" cy="329519"/>
              </a:xfrm>
              <a:custGeom>
                <a:avLst/>
                <a:gdLst>
                  <a:gd name="connsiteX0" fmla="*/ 0 w 655268"/>
                  <a:gd name="connsiteY0" fmla="*/ 277041 h 329519"/>
                  <a:gd name="connsiteX1" fmla="*/ 0 w 655268"/>
                  <a:gd name="connsiteY1" fmla="*/ 0 h 329519"/>
                  <a:gd name="connsiteX2" fmla="*/ 320680 w 655268"/>
                  <a:gd name="connsiteY2" fmla="*/ 0 h 329519"/>
                  <a:gd name="connsiteX3" fmla="*/ 655269 w 655268"/>
                  <a:gd name="connsiteY3" fmla="*/ 0 h 329519"/>
                  <a:gd name="connsiteX4" fmla="*/ 655269 w 655268"/>
                  <a:gd name="connsiteY4" fmla="*/ 329520 h 329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268" h="329519">
                    <a:moveTo>
                      <a:pt x="0" y="277041"/>
                    </a:moveTo>
                    <a:lnTo>
                      <a:pt x="0" y="0"/>
                    </a:lnTo>
                    <a:lnTo>
                      <a:pt x="320680" y="0"/>
                    </a:lnTo>
                    <a:lnTo>
                      <a:pt x="655269" y="0"/>
                    </a:lnTo>
                    <a:lnTo>
                      <a:pt x="655269" y="32952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3" name="Freeform: Shape 112">
                <a:extLst>
                  <a:ext uri="{FF2B5EF4-FFF2-40B4-BE49-F238E27FC236}">
                    <a16:creationId xmlns:a16="http://schemas.microsoft.com/office/drawing/2014/main" id="{56FE3898-75AE-F7F7-A023-939F611E2C02}"/>
                  </a:ext>
                </a:extLst>
              </p:cNvPr>
              <p:cNvSpPr/>
              <p:nvPr/>
            </p:nvSpPr>
            <p:spPr>
              <a:xfrm>
                <a:off x="3540744" y="1648970"/>
                <a:ext cx="661691" cy="323548"/>
              </a:xfrm>
              <a:custGeom>
                <a:avLst/>
                <a:gdLst>
                  <a:gd name="connsiteX0" fmla="*/ 0 w 661691"/>
                  <a:gd name="connsiteY0" fmla="*/ 0 h 323548"/>
                  <a:gd name="connsiteX1" fmla="*/ 661691 w 661691"/>
                  <a:gd name="connsiteY1" fmla="*/ 0 h 323548"/>
                  <a:gd name="connsiteX2" fmla="*/ 661691 w 661691"/>
                  <a:gd name="connsiteY2" fmla="*/ 323548 h 323548"/>
                </a:gdLst>
                <a:ahLst/>
                <a:cxnLst>
                  <a:cxn ang="0">
                    <a:pos x="connsiteX0" y="connsiteY0"/>
                  </a:cxn>
                  <a:cxn ang="0">
                    <a:pos x="connsiteX1" y="connsiteY1"/>
                  </a:cxn>
                  <a:cxn ang="0">
                    <a:pos x="connsiteX2" y="connsiteY2"/>
                  </a:cxn>
                </a:cxnLst>
                <a:rect l="l" t="t" r="r" b="b"/>
                <a:pathLst>
                  <a:path w="661691" h="323548">
                    <a:moveTo>
                      <a:pt x="0" y="0"/>
                    </a:moveTo>
                    <a:lnTo>
                      <a:pt x="661691" y="0"/>
                    </a:lnTo>
                    <a:lnTo>
                      <a:pt x="661691" y="323548"/>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16" name="Freeform: Shape 115">
                <a:extLst>
                  <a:ext uri="{FF2B5EF4-FFF2-40B4-BE49-F238E27FC236}">
                    <a16:creationId xmlns:a16="http://schemas.microsoft.com/office/drawing/2014/main" id="{CCB95CC5-158D-E440-2BA7-36887A932ECA}"/>
                  </a:ext>
                </a:extLst>
              </p:cNvPr>
              <p:cNvSpPr/>
              <p:nvPr/>
            </p:nvSpPr>
            <p:spPr>
              <a:xfrm>
                <a:off x="3223600" y="2628852"/>
                <a:ext cx="336104" cy="321275"/>
              </a:xfrm>
              <a:custGeom>
                <a:avLst/>
                <a:gdLst>
                  <a:gd name="connsiteX0" fmla="*/ 336104 w 336104"/>
                  <a:gd name="connsiteY0" fmla="*/ 321275 h 321275"/>
                  <a:gd name="connsiteX1" fmla="*/ 0 w 336104"/>
                  <a:gd name="connsiteY1" fmla="*/ 321275 h 321275"/>
                  <a:gd name="connsiteX2" fmla="*/ 0 w 336104"/>
                  <a:gd name="connsiteY2" fmla="*/ 0 h 321275"/>
                </a:gdLst>
                <a:ahLst/>
                <a:cxnLst>
                  <a:cxn ang="0">
                    <a:pos x="connsiteX0" y="connsiteY0"/>
                  </a:cxn>
                  <a:cxn ang="0">
                    <a:pos x="connsiteX1" y="connsiteY1"/>
                  </a:cxn>
                  <a:cxn ang="0">
                    <a:pos x="connsiteX2" y="connsiteY2"/>
                  </a:cxn>
                </a:cxnLst>
                <a:rect l="l" t="t" r="r" b="b"/>
                <a:pathLst>
                  <a:path w="336104" h="321275">
                    <a:moveTo>
                      <a:pt x="336104" y="321275"/>
                    </a:moveTo>
                    <a:lnTo>
                      <a:pt x="0" y="321275"/>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7" name="Freeform: Shape 126">
                <a:extLst>
                  <a:ext uri="{FF2B5EF4-FFF2-40B4-BE49-F238E27FC236}">
                    <a16:creationId xmlns:a16="http://schemas.microsoft.com/office/drawing/2014/main" id="{A6F17C89-1C96-8F6A-F64A-507E256BC82B}"/>
                  </a:ext>
                </a:extLst>
              </p:cNvPr>
              <p:cNvSpPr/>
              <p:nvPr/>
            </p:nvSpPr>
            <p:spPr>
              <a:xfrm>
                <a:off x="2586551" y="2956441"/>
                <a:ext cx="306464" cy="314961"/>
              </a:xfrm>
              <a:custGeom>
                <a:avLst/>
                <a:gdLst>
                  <a:gd name="connsiteX0" fmla="*/ 306464 w 306464"/>
                  <a:gd name="connsiteY0" fmla="*/ 314961 h 314961"/>
                  <a:gd name="connsiteX1" fmla="*/ 306464 w 306464"/>
                  <a:gd name="connsiteY1" fmla="*/ 0 h 314961"/>
                  <a:gd name="connsiteX2" fmla="*/ 0 w 306464"/>
                  <a:gd name="connsiteY2" fmla="*/ 0 h 314961"/>
                </a:gdLst>
                <a:ahLst/>
                <a:cxnLst>
                  <a:cxn ang="0">
                    <a:pos x="connsiteX0" y="connsiteY0"/>
                  </a:cxn>
                  <a:cxn ang="0">
                    <a:pos x="connsiteX1" y="connsiteY1"/>
                  </a:cxn>
                  <a:cxn ang="0">
                    <a:pos x="connsiteX2" y="connsiteY2"/>
                  </a:cxn>
                </a:cxnLst>
                <a:rect l="l" t="t" r="r" b="b"/>
                <a:pathLst>
                  <a:path w="306464" h="314961">
                    <a:moveTo>
                      <a:pt x="306464" y="314961"/>
                    </a:moveTo>
                    <a:lnTo>
                      <a:pt x="306464" y="0"/>
                    </a:lnTo>
                    <a:lnTo>
                      <a:pt x="0" y="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29" name="Freeform: Shape 128">
                <a:extLst>
                  <a:ext uri="{FF2B5EF4-FFF2-40B4-BE49-F238E27FC236}">
                    <a16:creationId xmlns:a16="http://schemas.microsoft.com/office/drawing/2014/main" id="{6DFE013A-70E5-C3E8-3159-89C58DB9C489}"/>
                  </a:ext>
                </a:extLst>
              </p:cNvPr>
              <p:cNvSpPr/>
              <p:nvPr/>
            </p:nvSpPr>
            <p:spPr>
              <a:xfrm>
                <a:off x="4526344" y="1648970"/>
                <a:ext cx="2039446" cy="1617832"/>
              </a:xfrm>
              <a:custGeom>
                <a:avLst/>
                <a:gdLst>
                  <a:gd name="connsiteX0" fmla="*/ 0 w 2039446"/>
                  <a:gd name="connsiteY0" fmla="*/ 0 h 1617832"/>
                  <a:gd name="connsiteX1" fmla="*/ 337475 w 2039446"/>
                  <a:gd name="connsiteY1" fmla="*/ 0 h 1617832"/>
                  <a:gd name="connsiteX2" fmla="*/ 337475 w 2039446"/>
                  <a:gd name="connsiteY2" fmla="*/ 322304 h 1617832"/>
                  <a:gd name="connsiteX3" fmla="*/ 667608 w 2039446"/>
                  <a:gd name="connsiteY3" fmla="*/ 322304 h 1617832"/>
                  <a:gd name="connsiteX4" fmla="*/ 667608 w 2039446"/>
                  <a:gd name="connsiteY4" fmla="*/ 644102 h 1617832"/>
                  <a:gd name="connsiteX5" fmla="*/ 1010045 w 2039446"/>
                  <a:gd name="connsiteY5" fmla="*/ 644102 h 1617832"/>
                  <a:gd name="connsiteX6" fmla="*/ 1010045 w 2039446"/>
                  <a:gd name="connsiteY6" fmla="*/ 963646 h 1617832"/>
                  <a:gd name="connsiteX7" fmla="*/ 1347719 w 2039446"/>
                  <a:gd name="connsiteY7" fmla="*/ 963646 h 1617832"/>
                  <a:gd name="connsiteX8" fmla="*/ 1347719 w 2039446"/>
                  <a:gd name="connsiteY8" fmla="*/ 1302185 h 1617832"/>
                  <a:gd name="connsiteX9" fmla="*/ 1676751 w 2039446"/>
                  <a:gd name="connsiteY9" fmla="*/ 1302185 h 1617832"/>
                  <a:gd name="connsiteX10" fmla="*/ 1676751 w 2039446"/>
                  <a:gd name="connsiteY10" fmla="*/ 1617832 h 1617832"/>
                  <a:gd name="connsiteX11" fmla="*/ 2039446 w 2039446"/>
                  <a:gd name="connsiteY11" fmla="*/ 1617832 h 161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39446" h="1617832">
                    <a:moveTo>
                      <a:pt x="0" y="0"/>
                    </a:moveTo>
                    <a:lnTo>
                      <a:pt x="337475" y="0"/>
                    </a:lnTo>
                    <a:lnTo>
                      <a:pt x="337475" y="322304"/>
                    </a:lnTo>
                    <a:lnTo>
                      <a:pt x="667608" y="322304"/>
                    </a:lnTo>
                    <a:lnTo>
                      <a:pt x="667608" y="644102"/>
                    </a:lnTo>
                    <a:lnTo>
                      <a:pt x="1010045" y="644102"/>
                    </a:lnTo>
                    <a:lnTo>
                      <a:pt x="1010045" y="963646"/>
                    </a:lnTo>
                    <a:lnTo>
                      <a:pt x="1347719" y="963646"/>
                    </a:lnTo>
                    <a:lnTo>
                      <a:pt x="1347719" y="1302185"/>
                    </a:lnTo>
                    <a:lnTo>
                      <a:pt x="1676751" y="1302185"/>
                    </a:lnTo>
                    <a:lnTo>
                      <a:pt x="1676751" y="1617832"/>
                    </a:lnTo>
                    <a:lnTo>
                      <a:pt x="2039446" y="1617832"/>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1" name="Freeform: Shape 130">
                <a:extLst>
                  <a:ext uri="{FF2B5EF4-FFF2-40B4-BE49-F238E27FC236}">
                    <a16:creationId xmlns:a16="http://schemas.microsoft.com/office/drawing/2014/main" id="{8E61849D-519B-80B7-B538-FAC371B31CC9}"/>
                  </a:ext>
                </a:extLst>
              </p:cNvPr>
              <p:cNvSpPr/>
              <p:nvPr/>
            </p:nvSpPr>
            <p:spPr>
              <a:xfrm>
                <a:off x="4539784" y="1971274"/>
                <a:ext cx="1373858" cy="1268901"/>
              </a:xfrm>
              <a:custGeom>
                <a:avLst/>
                <a:gdLst>
                  <a:gd name="connsiteX0" fmla="*/ 0 w 1373858"/>
                  <a:gd name="connsiteY0" fmla="*/ 0 h 1268901"/>
                  <a:gd name="connsiteX1" fmla="*/ 0 w 1373858"/>
                  <a:gd name="connsiteY1" fmla="*/ 321798 h 1268901"/>
                  <a:gd name="connsiteX2" fmla="*/ 333705 w 1373858"/>
                  <a:gd name="connsiteY2" fmla="*/ 321798 h 1268901"/>
                  <a:gd name="connsiteX3" fmla="*/ 333705 w 1373858"/>
                  <a:gd name="connsiteY3" fmla="*/ 653916 h 1268901"/>
                  <a:gd name="connsiteX4" fmla="*/ 662178 w 1373858"/>
                  <a:gd name="connsiteY4" fmla="*/ 653916 h 1268901"/>
                  <a:gd name="connsiteX5" fmla="*/ 662178 w 1373858"/>
                  <a:gd name="connsiteY5" fmla="*/ 979882 h 1268901"/>
                  <a:gd name="connsiteX6" fmla="*/ 994675 w 1373858"/>
                  <a:gd name="connsiteY6" fmla="*/ 979882 h 1268901"/>
                  <a:gd name="connsiteX7" fmla="*/ 994675 w 1373858"/>
                  <a:gd name="connsiteY7" fmla="*/ 1268901 h 1268901"/>
                  <a:gd name="connsiteX8" fmla="*/ 1373858 w 1373858"/>
                  <a:gd name="connsiteY8" fmla="*/ 1268901 h 1268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3858" h="1268901">
                    <a:moveTo>
                      <a:pt x="0" y="0"/>
                    </a:moveTo>
                    <a:lnTo>
                      <a:pt x="0" y="321798"/>
                    </a:lnTo>
                    <a:lnTo>
                      <a:pt x="333705" y="321798"/>
                    </a:lnTo>
                    <a:lnTo>
                      <a:pt x="333705" y="653916"/>
                    </a:lnTo>
                    <a:lnTo>
                      <a:pt x="662178" y="653916"/>
                    </a:lnTo>
                    <a:lnTo>
                      <a:pt x="662178" y="979882"/>
                    </a:lnTo>
                    <a:lnTo>
                      <a:pt x="994675" y="979882"/>
                    </a:lnTo>
                    <a:lnTo>
                      <a:pt x="994675" y="1268901"/>
                    </a:lnTo>
                    <a:lnTo>
                      <a:pt x="1373858" y="126890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2" name="Freeform: Shape 131">
                <a:extLst>
                  <a:ext uri="{FF2B5EF4-FFF2-40B4-BE49-F238E27FC236}">
                    <a16:creationId xmlns:a16="http://schemas.microsoft.com/office/drawing/2014/main" id="{3E903C5D-6725-9926-B50E-FAFE5CCB3602}"/>
                  </a:ext>
                </a:extLst>
              </p:cNvPr>
              <p:cNvSpPr/>
              <p:nvPr/>
            </p:nvSpPr>
            <p:spPr>
              <a:xfrm>
                <a:off x="4863820" y="1648970"/>
                <a:ext cx="654637" cy="323548"/>
              </a:xfrm>
              <a:custGeom>
                <a:avLst/>
                <a:gdLst>
                  <a:gd name="connsiteX0" fmla="*/ 0 w 654637"/>
                  <a:gd name="connsiteY0" fmla="*/ 0 h 323548"/>
                  <a:gd name="connsiteX1" fmla="*/ 654638 w 654637"/>
                  <a:gd name="connsiteY1" fmla="*/ 0 h 323548"/>
                  <a:gd name="connsiteX2" fmla="*/ 654638 w 654637"/>
                  <a:gd name="connsiteY2" fmla="*/ 323548 h 323548"/>
                </a:gdLst>
                <a:ahLst/>
                <a:cxnLst>
                  <a:cxn ang="0">
                    <a:pos x="connsiteX0" y="connsiteY0"/>
                  </a:cxn>
                  <a:cxn ang="0">
                    <a:pos x="connsiteX1" y="connsiteY1"/>
                  </a:cxn>
                  <a:cxn ang="0">
                    <a:pos x="connsiteX2" y="connsiteY2"/>
                  </a:cxn>
                </a:cxnLst>
                <a:rect l="l" t="t" r="r" b="b"/>
                <a:pathLst>
                  <a:path w="654637" h="323548">
                    <a:moveTo>
                      <a:pt x="0" y="0"/>
                    </a:moveTo>
                    <a:lnTo>
                      <a:pt x="654638" y="0"/>
                    </a:lnTo>
                    <a:lnTo>
                      <a:pt x="654638" y="323548"/>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3" name="Freeform: Shape 132">
                <a:extLst>
                  <a:ext uri="{FF2B5EF4-FFF2-40B4-BE49-F238E27FC236}">
                    <a16:creationId xmlns:a16="http://schemas.microsoft.com/office/drawing/2014/main" id="{5D15EC78-AD6B-D478-868E-3EF2E6593E29}"/>
                  </a:ext>
                </a:extLst>
              </p:cNvPr>
              <p:cNvSpPr/>
              <p:nvPr/>
            </p:nvSpPr>
            <p:spPr>
              <a:xfrm>
                <a:off x="5193953" y="1971274"/>
                <a:ext cx="662899" cy="320734"/>
              </a:xfrm>
              <a:custGeom>
                <a:avLst/>
                <a:gdLst>
                  <a:gd name="connsiteX0" fmla="*/ 0 w 662899"/>
                  <a:gd name="connsiteY0" fmla="*/ 0 h 320734"/>
                  <a:gd name="connsiteX1" fmla="*/ 662900 w 662899"/>
                  <a:gd name="connsiteY1" fmla="*/ 0 h 320734"/>
                  <a:gd name="connsiteX2" fmla="*/ 662900 w 662899"/>
                  <a:gd name="connsiteY2" fmla="*/ 320734 h 320734"/>
                </a:gdLst>
                <a:ahLst/>
                <a:cxnLst>
                  <a:cxn ang="0">
                    <a:pos x="connsiteX0" y="connsiteY0"/>
                  </a:cxn>
                  <a:cxn ang="0">
                    <a:pos x="connsiteX1" y="connsiteY1"/>
                  </a:cxn>
                  <a:cxn ang="0">
                    <a:pos x="connsiteX2" y="connsiteY2"/>
                  </a:cxn>
                </a:cxnLst>
                <a:rect l="l" t="t" r="r" b="b"/>
                <a:pathLst>
                  <a:path w="662899" h="320734">
                    <a:moveTo>
                      <a:pt x="0" y="0"/>
                    </a:moveTo>
                    <a:lnTo>
                      <a:pt x="662900" y="0"/>
                    </a:lnTo>
                    <a:lnTo>
                      <a:pt x="662900" y="320734"/>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4" name="Freeform: Shape 133">
                <a:extLst>
                  <a:ext uri="{FF2B5EF4-FFF2-40B4-BE49-F238E27FC236}">
                    <a16:creationId xmlns:a16="http://schemas.microsoft.com/office/drawing/2014/main" id="{04E25254-A93B-E934-F8A7-36C971532A96}"/>
                  </a:ext>
                </a:extLst>
              </p:cNvPr>
              <p:cNvSpPr/>
              <p:nvPr/>
            </p:nvSpPr>
            <p:spPr>
              <a:xfrm>
                <a:off x="4212592" y="2293072"/>
                <a:ext cx="327192" cy="1804"/>
              </a:xfrm>
              <a:custGeom>
                <a:avLst/>
                <a:gdLst>
                  <a:gd name="connsiteX0" fmla="*/ 327193 w 327192"/>
                  <a:gd name="connsiteY0" fmla="*/ 0 h 1804"/>
                  <a:gd name="connsiteX1" fmla="*/ 0 w 327192"/>
                  <a:gd name="connsiteY1" fmla="*/ 0 h 1804"/>
                </a:gdLst>
                <a:ahLst/>
                <a:cxnLst>
                  <a:cxn ang="0">
                    <a:pos x="connsiteX0" y="connsiteY0"/>
                  </a:cxn>
                  <a:cxn ang="0">
                    <a:pos x="connsiteX1" y="connsiteY1"/>
                  </a:cxn>
                </a:cxnLst>
                <a:rect l="l" t="t" r="r" b="b"/>
                <a:pathLst>
                  <a:path w="327192" h="1804">
                    <a:moveTo>
                      <a:pt x="327193"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5" name="Freeform: Shape 134">
                <a:extLst>
                  <a:ext uri="{FF2B5EF4-FFF2-40B4-BE49-F238E27FC236}">
                    <a16:creationId xmlns:a16="http://schemas.microsoft.com/office/drawing/2014/main" id="{99D8C75A-FD93-E146-3976-B2DD91C497E2}"/>
                  </a:ext>
                </a:extLst>
              </p:cNvPr>
              <p:cNvSpPr/>
              <p:nvPr/>
            </p:nvSpPr>
            <p:spPr>
              <a:xfrm>
                <a:off x="4540776" y="2625190"/>
                <a:ext cx="332712" cy="1804"/>
              </a:xfrm>
              <a:custGeom>
                <a:avLst/>
                <a:gdLst>
                  <a:gd name="connsiteX0" fmla="*/ 332713 w 332712"/>
                  <a:gd name="connsiteY0" fmla="*/ 0 h 1804"/>
                  <a:gd name="connsiteX1" fmla="*/ 0 w 332712"/>
                  <a:gd name="connsiteY1" fmla="*/ 0 h 1804"/>
                </a:gdLst>
                <a:ahLst/>
                <a:cxnLst>
                  <a:cxn ang="0">
                    <a:pos x="connsiteX0" y="connsiteY0"/>
                  </a:cxn>
                  <a:cxn ang="0">
                    <a:pos x="connsiteX1" y="connsiteY1"/>
                  </a:cxn>
                </a:cxnLst>
                <a:rect l="l" t="t" r="r" b="b"/>
                <a:pathLst>
                  <a:path w="332712" h="1804">
                    <a:moveTo>
                      <a:pt x="332713" y="0"/>
                    </a:moveTo>
                    <a:lnTo>
                      <a:pt x="0"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6" name="Freeform: Shape 135">
                <a:extLst>
                  <a:ext uri="{FF2B5EF4-FFF2-40B4-BE49-F238E27FC236}">
                    <a16:creationId xmlns:a16="http://schemas.microsoft.com/office/drawing/2014/main" id="{844379B1-7AD2-630D-A58A-77066A30BA63}"/>
                  </a:ext>
                </a:extLst>
              </p:cNvPr>
              <p:cNvSpPr/>
              <p:nvPr/>
            </p:nvSpPr>
            <p:spPr>
              <a:xfrm>
                <a:off x="5534585" y="2293072"/>
                <a:ext cx="657686" cy="319543"/>
              </a:xfrm>
              <a:custGeom>
                <a:avLst/>
                <a:gdLst>
                  <a:gd name="connsiteX0" fmla="*/ 0 w 657686"/>
                  <a:gd name="connsiteY0" fmla="*/ 0 h 319543"/>
                  <a:gd name="connsiteX1" fmla="*/ 657686 w 657686"/>
                  <a:gd name="connsiteY1" fmla="*/ 0 h 319543"/>
                  <a:gd name="connsiteX2" fmla="*/ 657686 w 657686"/>
                  <a:gd name="connsiteY2" fmla="*/ 319544 h 319543"/>
                </a:gdLst>
                <a:ahLst/>
                <a:cxnLst>
                  <a:cxn ang="0">
                    <a:pos x="connsiteX0" y="connsiteY0"/>
                  </a:cxn>
                  <a:cxn ang="0">
                    <a:pos x="connsiteX1" y="connsiteY1"/>
                  </a:cxn>
                  <a:cxn ang="0">
                    <a:pos x="connsiteX2" y="connsiteY2"/>
                  </a:cxn>
                </a:cxnLst>
                <a:rect l="l" t="t" r="r" b="b"/>
                <a:pathLst>
                  <a:path w="657686" h="319543">
                    <a:moveTo>
                      <a:pt x="0" y="0"/>
                    </a:moveTo>
                    <a:lnTo>
                      <a:pt x="657686" y="0"/>
                    </a:lnTo>
                    <a:lnTo>
                      <a:pt x="657686" y="319544"/>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7" name="Freeform: Shape 136">
                <a:extLst>
                  <a:ext uri="{FF2B5EF4-FFF2-40B4-BE49-F238E27FC236}">
                    <a16:creationId xmlns:a16="http://schemas.microsoft.com/office/drawing/2014/main" id="{6704F66F-E7F8-4DD8-2F4D-D0C332E3350B}"/>
                  </a:ext>
                </a:extLst>
              </p:cNvPr>
              <p:cNvSpPr/>
              <p:nvPr/>
            </p:nvSpPr>
            <p:spPr>
              <a:xfrm>
                <a:off x="5874063" y="2612616"/>
                <a:ext cx="1015582" cy="337511"/>
              </a:xfrm>
              <a:custGeom>
                <a:avLst/>
                <a:gdLst>
                  <a:gd name="connsiteX0" fmla="*/ 0 w 1015582"/>
                  <a:gd name="connsiteY0" fmla="*/ 0 h 337511"/>
                  <a:gd name="connsiteX1" fmla="*/ 668059 w 1015582"/>
                  <a:gd name="connsiteY1" fmla="*/ 0 h 337511"/>
                  <a:gd name="connsiteX2" fmla="*/ 668059 w 1015582"/>
                  <a:gd name="connsiteY2" fmla="*/ 337511 h 337511"/>
                  <a:gd name="connsiteX3" fmla="*/ 1015583 w 1015582"/>
                  <a:gd name="connsiteY3" fmla="*/ 337511 h 337511"/>
                </a:gdLst>
                <a:ahLst/>
                <a:cxnLst>
                  <a:cxn ang="0">
                    <a:pos x="connsiteX0" y="connsiteY0"/>
                  </a:cxn>
                  <a:cxn ang="0">
                    <a:pos x="connsiteX1" y="connsiteY1"/>
                  </a:cxn>
                  <a:cxn ang="0">
                    <a:pos x="connsiteX2" y="connsiteY2"/>
                  </a:cxn>
                  <a:cxn ang="0">
                    <a:pos x="connsiteX3" y="connsiteY3"/>
                  </a:cxn>
                </a:cxnLst>
                <a:rect l="l" t="t" r="r" b="b"/>
                <a:pathLst>
                  <a:path w="1015582" h="337511">
                    <a:moveTo>
                      <a:pt x="0" y="0"/>
                    </a:moveTo>
                    <a:lnTo>
                      <a:pt x="668059" y="0"/>
                    </a:lnTo>
                    <a:lnTo>
                      <a:pt x="668059" y="337511"/>
                    </a:lnTo>
                    <a:lnTo>
                      <a:pt x="1015583" y="337511"/>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8" name="Freeform: Shape 137">
                <a:extLst>
                  <a:ext uri="{FF2B5EF4-FFF2-40B4-BE49-F238E27FC236}">
                    <a16:creationId xmlns:a16="http://schemas.microsoft.com/office/drawing/2014/main" id="{CAAB58E3-B8CF-05CD-0CF4-70A437278565}"/>
                  </a:ext>
                </a:extLst>
              </p:cNvPr>
              <p:cNvSpPr/>
              <p:nvPr/>
            </p:nvSpPr>
            <p:spPr>
              <a:xfrm>
                <a:off x="3924871" y="1324141"/>
                <a:ext cx="2948196" cy="1916034"/>
              </a:xfrm>
              <a:custGeom>
                <a:avLst/>
                <a:gdLst>
                  <a:gd name="connsiteX0" fmla="*/ 0 w 3308618"/>
                  <a:gd name="connsiteY0" fmla="*/ 1916034 h 1916034"/>
                  <a:gd name="connsiteX1" fmla="*/ 1918885 w 3308618"/>
                  <a:gd name="connsiteY1" fmla="*/ 0 h 1916034"/>
                  <a:gd name="connsiteX2" fmla="*/ 1918885 w 3308618"/>
                  <a:gd name="connsiteY2" fmla="*/ 324829 h 1916034"/>
                  <a:gd name="connsiteX3" fmla="*/ 2267401 w 3308618"/>
                  <a:gd name="connsiteY3" fmla="*/ 324829 h 1916034"/>
                  <a:gd name="connsiteX4" fmla="*/ 2267401 w 3308618"/>
                  <a:gd name="connsiteY4" fmla="*/ 634830 h 1916034"/>
                  <a:gd name="connsiteX5" fmla="*/ 2603793 w 3308618"/>
                  <a:gd name="connsiteY5" fmla="*/ 634830 h 1916034"/>
                  <a:gd name="connsiteX6" fmla="*/ 2603793 w 3308618"/>
                  <a:gd name="connsiteY6" fmla="*/ 967867 h 1916034"/>
                  <a:gd name="connsiteX7" fmla="*/ 2948196 w 3308618"/>
                  <a:gd name="connsiteY7" fmla="*/ 967867 h 1916034"/>
                  <a:gd name="connsiteX8" fmla="*/ 2948196 w 3308618"/>
                  <a:gd name="connsiteY8" fmla="*/ 1288475 h 1916034"/>
                  <a:gd name="connsiteX9" fmla="*/ 3308619 w 3308618"/>
                  <a:gd name="connsiteY9" fmla="*/ 1288475 h 1916034"/>
                  <a:gd name="connsiteX0" fmla="*/ 0 w 2948196"/>
                  <a:gd name="connsiteY0" fmla="*/ 1916034 h 1916034"/>
                  <a:gd name="connsiteX1" fmla="*/ 1918885 w 2948196"/>
                  <a:gd name="connsiteY1" fmla="*/ 0 h 1916034"/>
                  <a:gd name="connsiteX2" fmla="*/ 1918885 w 2948196"/>
                  <a:gd name="connsiteY2" fmla="*/ 324829 h 1916034"/>
                  <a:gd name="connsiteX3" fmla="*/ 2267401 w 2948196"/>
                  <a:gd name="connsiteY3" fmla="*/ 324829 h 1916034"/>
                  <a:gd name="connsiteX4" fmla="*/ 2267401 w 2948196"/>
                  <a:gd name="connsiteY4" fmla="*/ 634830 h 1916034"/>
                  <a:gd name="connsiteX5" fmla="*/ 2603793 w 2948196"/>
                  <a:gd name="connsiteY5" fmla="*/ 634830 h 1916034"/>
                  <a:gd name="connsiteX6" fmla="*/ 2603793 w 2948196"/>
                  <a:gd name="connsiteY6" fmla="*/ 967867 h 1916034"/>
                  <a:gd name="connsiteX7" fmla="*/ 2948196 w 2948196"/>
                  <a:gd name="connsiteY7" fmla="*/ 967867 h 1916034"/>
                  <a:gd name="connsiteX8" fmla="*/ 2948196 w 2948196"/>
                  <a:gd name="connsiteY8" fmla="*/ 1288475 h 1916034"/>
                  <a:gd name="connsiteX0" fmla="*/ 0 w 2948196"/>
                  <a:gd name="connsiteY0" fmla="*/ 1916034 h 1916034"/>
                  <a:gd name="connsiteX1" fmla="*/ 1918885 w 2948196"/>
                  <a:gd name="connsiteY1" fmla="*/ 0 h 1916034"/>
                  <a:gd name="connsiteX2" fmla="*/ 1918885 w 2948196"/>
                  <a:gd name="connsiteY2" fmla="*/ 324829 h 1916034"/>
                  <a:gd name="connsiteX3" fmla="*/ 2267401 w 2948196"/>
                  <a:gd name="connsiteY3" fmla="*/ 324829 h 1916034"/>
                  <a:gd name="connsiteX4" fmla="*/ 2267401 w 2948196"/>
                  <a:gd name="connsiteY4" fmla="*/ 634830 h 1916034"/>
                  <a:gd name="connsiteX5" fmla="*/ 2603793 w 2948196"/>
                  <a:gd name="connsiteY5" fmla="*/ 634830 h 1916034"/>
                  <a:gd name="connsiteX6" fmla="*/ 2603793 w 2948196"/>
                  <a:gd name="connsiteY6" fmla="*/ 967867 h 1916034"/>
                  <a:gd name="connsiteX7" fmla="*/ 2948196 w 2948196"/>
                  <a:gd name="connsiteY7" fmla="*/ 967867 h 1916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8196" h="1916034">
                    <a:moveTo>
                      <a:pt x="0" y="1916034"/>
                    </a:moveTo>
                    <a:lnTo>
                      <a:pt x="1918885" y="0"/>
                    </a:lnTo>
                    <a:lnTo>
                      <a:pt x="1918885" y="324829"/>
                    </a:lnTo>
                    <a:lnTo>
                      <a:pt x="2267401" y="324829"/>
                    </a:lnTo>
                    <a:lnTo>
                      <a:pt x="2267401" y="634830"/>
                    </a:lnTo>
                    <a:lnTo>
                      <a:pt x="2603793" y="634830"/>
                    </a:lnTo>
                    <a:lnTo>
                      <a:pt x="2603793" y="967867"/>
                    </a:lnTo>
                    <a:lnTo>
                      <a:pt x="2948196" y="967867"/>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39" name="Freeform: Shape 138">
                <a:extLst>
                  <a:ext uri="{FF2B5EF4-FFF2-40B4-BE49-F238E27FC236}">
                    <a16:creationId xmlns:a16="http://schemas.microsoft.com/office/drawing/2014/main" id="{7193B1D3-E471-2605-D080-EA7887E2DD67}"/>
                  </a:ext>
                </a:extLst>
              </p:cNvPr>
              <p:cNvSpPr/>
              <p:nvPr/>
            </p:nvSpPr>
            <p:spPr>
              <a:xfrm>
                <a:off x="6192271" y="1648970"/>
                <a:ext cx="646862" cy="310000"/>
              </a:xfrm>
              <a:custGeom>
                <a:avLst/>
                <a:gdLst>
                  <a:gd name="connsiteX0" fmla="*/ 0 w 646862"/>
                  <a:gd name="connsiteY0" fmla="*/ 0 h 310000"/>
                  <a:gd name="connsiteX1" fmla="*/ 646862 w 646862"/>
                  <a:gd name="connsiteY1" fmla="*/ 0 h 310000"/>
                  <a:gd name="connsiteX2" fmla="*/ 646862 w 646862"/>
                  <a:gd name="connsiteY2" fmla="*/ 310000 h 310000"/>
                </a:gdLst>
                <a:ahLst/>
                <a:cxnLst>
                  <a:cxn ang="0">
                    <a:pos x="connsiteX0" y="connsiteY0"/>
                  </a:cxn>
                  <a:cxn ang="0">
                    <a:pos x="connsiteX1" y="connsiteY1"/>
                  </a:cxn>
                  <a:cxn ang="0">
                    <a:pos x="connsiteX2" y="connsiteY2"/>
                  </a:cxn>
                </a:cxnLst>
                <a:rect l="l" t="t" r="r" b="b"/>
                <a:pathLst>
                  <a:path w="646862" h="310000">
                    <a:moveTo>
                      <a:pt x="0" y="0"/>
                    </a:moveTo>
                    <a:lnTo>
                      <a:pt x="646862" y="0"/>
                    </a:lnTo>
                    <a:lnTo>
                      <a:pt x="646862" y="310000"/>
                    </a:lnTo>
                  </a:path>
                </a:pathLst>
              </a:custGeom>
              <a:noFill/>
              <a:ln w="6350" cap="flat">
                <a:solidFill>
                  <a:srgbClr val="E2D8FF"/>
                </a:solidFill>
                <a:prstDash val="solid"/>
                <a:miter/>
              </a:ln>
            </p:spPr>
            <p:txBody>
              <a:bodyPr rtlCol="0" anchor="ctr"/>
              <a:lstStyle/>
              <a:p>
                <a:pPr defTabSz="1087850">
                  <a:defRPr/>
                </a:pPr>
                <a:endParaRPr lang="en-US" sz="2097">
                  <a:solidFill>
                    <a:srgbClr val="000000"/>
                  </a:solidFill>
                </a:endParaRPr>
              </a:p>
            </p:txBody>
          </p:sp>
          <p:sp>
            <p:nvSpPr>
              <p:cNvPr id="140" name="Freeform: Shape 139">
                <a:extLst>
                  <a:ext uri="{FF2B5EF4-FFF2-40B4-BE49-F238E27FC236}">
                    <a16:creationId xmlns:a16="http://schemas.microsoft.com/office/drawing/2014/main" id="{4CB09325-6E19-8F3C-7E10-7D7C70D2560E}"/>
                  </a:ext>
                </a:extLst>
              </p:cNvPr>
              <p:cNvSpPr/>
              <p:nvPr/>
            </p:nvSpPr>
            <p:spPr>
              <a:xfrm>
                <a:off x="6528664" y="1958970"/>
                <a:ext cx="665335" cy="1804"/>
              </a:xfrm>
              <a:custGeom>
                <a:avLst/>
                <a:gdLst>
                  <a:gd name="connsiteX0" fmla="*/ 0 w 665335"/>
                  <a:gd name="connsiteY0" fmla="*/ 0 h 1804"/>
                  <a:gd name="connsiteX1" fmla="*/ 665335 w 665335"/>
                  <a:gd name="connsiteY1" fmla="*/ 0 h 1804"/>
                </a:gdLst>
                <a:ahLst/>
                <a:cxnLst>
                  <a:cxn ang="0">
                    <a:pos x="connsiteX0" y="connsiteY0"/>
                  </a:cxn>
                  <a:cxn ang="0">
                    <a:pos x="connsiteX1" y="connsiteY1"/>
                  </a:cxn>
                </a:cxnLst>
                <a:rect l="l" t="t" r="r" b="b"/>
                <a:pathLst>
                  <a:path w="665335" h="1804">
                    <a:moveTo>
                      <a:pt x="0" y="0"/>
                    </a:moveTo>
                    <a:lnTo>
                      <a:pt x="665335" y="0"/>
                    </a:lnTo>
                  </a:path>
                </a:pathLst>
              </a:custGeom>
              <a:ln w="6350" cap="flat">
                <a:solidFill>
                  <a:srgbClr val="E2D8FF"/>
                </a:solidFill>
                <a:prstDash val="solid"/>
                <a:miter/>
              </a:ln>
            </p:spPr>
            <p:txBody>
              <a:bodyPr rtlCol="0" anchor="ctr"/>
              <a:lstStyle/>
              <a:p>
                <a:pPr defTabSz="1087850">
                  <a:defRPr/>
                </a:pPr>
                <a:endParaRPr lang="en-US" sz="2097">
                  <a:solidFill>
                    <a:srgbClr val="000000"/>
                  </a:solidFill>
                </a:endParaRPr>
              </a:p>
            </p:txBody>
          </p:sp>
        </p:grpSp>
      </p:grpSp>
      <p:grpSp>
        <p:nvGrpSpPr>
          <p:cNvPr id="2002" name="Code" hidden="1">
            <a:extLst>
              <a:ext uri="{FF2B5EF4-FFF2-40B4-BE49-F238E27FC236}">
                <a16:creationId xmlns:a16="http://schemas.microsoft.com/office/drawing/2014/main" id="{5A47EC9A-A3ED-F94E-2E50-3FE80D95011D}"/>
              </a:ext>
            </a:extLst>
          </p:cNvPr>
          <p:cNvGrpSpPr/>
          <p:nvPr/>
        </p:nvGrpSpPr>
        <p:grpSpPr>
          <a:xfrm>
            <a:off x="1822" y="-915534"/>
            <a:ext cx="4462536" cy="682961"/>
            <a:chOff x="-4180434" y="3074042"/>
            <a:chExt cx="4463698" cy="683139"/>
          </a:xfrm>
        </p:grpSpPr>
        <p:sp>
          <p:nvSpPr>
            <p:cNvPr id="707" name="Freeform: Shape 706">
              <a:extLst>
                <a:ext uri="{FF2B5EF4-FFF2-40B4-BE49-F238E27FC236}">
                  <a16:creationId xmlns:a16="http://schemas.microsoft.com/office/drawing/2014/main" id="{5E392915-7A3B-C3A2-806D-03053CF9593D}"/>
                </a:ext>
              </a:extLst>
            </p:cNvPr>
            <p:cNvSpPr/>
            <p:nvPr/>
          </p:nvSpPr>
          <p:spPr>
            <a:xfrm>
              <a:off x="-4180434" y="3075907"/>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09" name="Freeform: Shape 708">
              <a:extLst>
                <a:ext uri="{FF2B5EF4-FFF2-40B4-BE49-F238E27FC236}">
                  <a16:creationId xmlns:a16="http://schemas.microsoft.com/office/drawing/2014/main" id="{E1DF9E64-4599-950D-E136-EB2B774C5E2A}"/>
                </a:ext>
              </a:extLst>
            </p:cNvPr>
            <p:cNvSpPr/>
            <p:nvPr/>
          </p:nvSpPr>
          <p:spPr>
            <a:xfrm>
              <a:off x="-4008460"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1" name="Freeform: Shape 710">
              <a:extLst>
                <a:ext uri="{FF2B5EF4-FFF2-40B4-BE49-F238E27FC236}">
                  <a16:creationId xmlns:a16="http://schemas.microsoft.com/office/drawing/2014/main" id="{3A76B355-22CA-311B-5931-C2FD972E70A7}"/>
                </a:ext>
              </a:extLst>
            </p:cNvPr>
            <p:cNvSpPr/>
            <p:nvPr/>
          </p:nvSpPr>
          <p:spPr>
            <a:xfrm>
              <a:off x="-3824373"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3" name="Freeform: Shape 712">
              <a:extLst>
                <a:ext uri="{FF2B5EF4-FFF2-40B4-BE49-F238E27FC236}">
                  <a16:creationId xmlns:a16="http://schemas.microsoft.com/office/drawing/2014/main" id="{0535BA37-8484-0E56-6299-8028235FCE31}"/>
                </a:ext>
              </a:extLst>
            </p:cNvPr>
            <p:cNvSpPr/>
            <p:nvPr/>
          </p:nvSpPr>
          <p:spPr>
            <a:xfrm>
              <a:off x="-3640286"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5" name="Freeform: Shape 714">
              <a:extLst>
                <a:ext uri="{FF2B5EF4-FFF2-40B4-BE49-F238E27FC236}">
                  <a16:creationId xmlns:a16="http://schemas.microsoft.com/office/drawing/2014/main" id="{BE45D505-6772-8BF2-25F9-84143FD59AF1}"/>
                </a:ext>
              </a:extLst>
            </p:cNvPr>
            <p:cNvSpPr/>
            <p:nvPr/>
          </p:nvSpPr>
          <p:spPr>
            <a:xfrm>
              <a:off x="-3405953"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7" name="Freeform: Shape 716">
              <a:extLst>
                <a:ext uri="{FF2B5EF4-FFF2-40B4-BE49-F238E27FC236}">
                  <a16:creationId xmlns:a16="http://schemas.microsoft.com/office/drawing/2014/main" id="{F71BC73E-135F-A244-09B3-905F8AF570EB}"/>
                </a:ext>
              </a:extLst>
            </p:cNvPr>
            <p:cNvSpPr/>
            <p:nvPr/>
          </p:nvSpPr>
          <p:spPr>
            <a:xfrm>
              <a:off x="-3233979"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19" name="Freeform: Shape 718">
              <a:extLst>
                <a:ext uri="{FF2B5EF4-FFF2-40B4-BE49-F238E27FC236}">
                  <a16:creationId xmlns:a16="http://schemas.microsoft.com/office/drawing/2014/main" id="{601B96EE-B1FD-A226-B2B6-FA69763E83F3}"/>
                </a:ext>
              </a:extLst>
            </p:cNvPr>
            <p:cNvSpPr/>
            <p:nvPr/>
          </p:nvSpPr>
          <p:spPr>
            <a:xfrm>
              <a:off x="-3037629"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1" name="Freeform: Shape 720">
              <a:extLst>
                <a:ext uri="{FF2B5EF4-FFF2-40B4-BE49-F238E27FC236}">
                  <a16:creationId xmlns:a16="http://schemas.microsoft.com/office/drawing/2014/main" id="{04CE180B-B7DC-9DF2-B6F9-C5364EFE17AC}"/>
                </a:ext>
              </a:extLst>
            </p:cNvPr>
            <p:cNvSpPr/>
            <p:nvPr/>
          </p:nvSpPr>
          <p:spPr>
            <a:xfrm>
              <a:off x="-2853542"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3" name="Freeform: Shape 722">
              <a:extLst>
                <a:ext uri="{FF2B5EF4-FFF2-40B4-BE49-F238E27FC236}">
                  <a16:creationId xmlns:a16="http://schemas.microsoft.com/office/drawing/2014/main" id="{581497D1-F724-17A7-3FB7-9B749ADD194F}"/>
                </a:ext>
              </a:extLst>
            </p:cNvPr>
            <p:cNvSpPr/>
            <p:nvPr/>
          </p:nvSpPr>
          <p:spPr>
            <a:xfrm>
              <a:off x="-2631322"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5" name="Freeform: Shape 724">
              <a:extLst>
                <a:ext uri="{FF2B5EF4-FFF2-40B4-BE49-F238E27FC236}">
                  <a16:creationId xmlns:a16="http://schemas.microsoft.com/office/drawing/2014/main" id="{7FEB32F6-037C-0D1A-5E4D-381B865856AC}"/>
                </a:ext>
              </a:extLst>
            </p:cNvPr>
            <p:cNvSpPr/>
            <p:nvPr/>
          </p:nvSpPr>
          <p:spPr>
            <a:xfrm>
              <a:off x="-2459498"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7" name="Freeform: Shape 726">
              <a:extLst>
                <a:ext uri="{FF2B5EF4-FFF2-40B4-BE49-F238E27FC236}">
                  <a16:creationId xmlns:a16="http://schemas.microsoft.com/office/drawing/2014/main" id="{AA881A6E-2D78-F6A8-DE27-B2B905214EEE}"/>
                </a:ext>
              </a:extLst>
            </p:cNvPr>
            <p:cNvSpPr/>
            <p:nvPr/>
          </p:nvSpPr>
          <p:spPr>
            <a:xfrm>
              <a:off x="-2263147"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29" name="Freeform: Shape 728">
              <a:extLst>
                <a:ext uri="{FF2B5EF4-FFF2-40B4-BE49-F238E27FC236}">
                  <a16:creationId xmlns:a16="http://schemas.microsoft.com/office/drawing/2014/main" id="{1D95BD16-A035-9BAC-3642-9953CB539907}"/>
                </a:ext>
              </a:extLst>
            </p:cNvPr>
            <p:cNvSpPr/>
            <p:nvPr/>
          </p:nvSpPr>
          <p:spPr>
            <a:xfrm>
              <a:off x="-2091324" y="3074042"/>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1" name="Freeform: Shape 730">
              <a:extLst>
                <a:ext uri="{FF2B5EF4-FFF2-40B4-BE49-F238E27FC236}">
                  <a16:creationId xmlns:a16="http://schemas.microsoft.com/office/drawing/2014/main" id="{492F6CB4-E1EC-05E7-71BB-E517174C1780}"/>
                </a:ext>
              </a:extLst>
            </p:cNvPr>
            <p:cNvSpPr/>
            <p:nvPr/>
          </p:nvSpPr>
          <p:spPr>
            <a:xfrm>
              <a:off x="-1856840" y="3075907"/>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3" name="Freeform: Shape 732">
              <a:extLst>
                <a:ext uri="{FF2B5EF4-FFF2-40B4-BE49-F238E27FC236}">
                  <a16:creationId xmlns:a16="http://schemas.microsoft.com/office/drawing/2014/main" id="{17CEEB91-E251-479E-20DC-BFC4ED2E2543}"/>
                </a:ext>
              </a:extLst>
            </p:cNvPr>
            <p:cNvSpPr/>
            <p:nvPr/>
          </p:nvSpPr>
          <p:spPr>
            <a:xfrm>
              <a:off x="-1685017" y="3074042"/>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5" name="Freeform: Shape 734">
              <a:extLst>
                <a:ext uri="{FF2B5EF4-FFF2-40B4-BE49-F238E27FC236}">
                  <a16:creationId xmlns:a16="http://schemas.microsoft.com/office/drawing/2014/main" id="{98A7F475-B0E1-E44D-8BB0-FAB30BD09D01}"/>
                </a:ext>
              </a:extLst>
            </p:cNvPr>
            <p:cNvSpPr/>
            <p:nvPr/>
          </p:nvSpPr>
          <p:spPr>
            <a:xfrm>
              <a:off x="-1488666"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7" name="Freeform: Shape 736">
              <a:extLst>
                <a:ext uri="{FF2B5EF4-FFF2-40B4-BE49-F238E27FC236}">
                  <a16:creationId xmlns:a16="http://schemas.microsoft.com/office/drawing/2014/main" id="{71B3C699-2D98-545A-480E-E2FE6EF62929}"/>
                </a:ext>
              </a:extLst>
            </p:cNvPr>
            <p:cNvSpPr/>
            <p:nvPr/>
          </p:nvSpPr>
          <p:spPr>
            <a:xfrm>
              <a:off x="-1316842"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39" name="Freeform: Shape 738">
              <a:extLst>
                <a:ext uri="{FF2B5EF4-FFF2-40B4-BE49-F238E27FC236}">
                  <a16:creationId xmlns:a16="http://schemas.microsoft.com/office/drawing/2014/main" id="{B8DCC477-BC6E-81AF-865B-5296931FFED6}"/>
                </a:ext>
              </a:extLst>
            </p:cNvPr>
            <p:cNvSpPr/>
            <p:nvPr/>
          </p:nvSpPr>
          <p:spPr>
            <a:xfrm>
              <a:off x="-1082359"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1" name="Freeform: Shape 740">
              <a:extLst>
                <a:ext uri="{FF2B5EF4-FFF2-40B4-BE49-F238E27FC236}">
                  <a16:creationId xmlns:a16="http://schemas.microsoft.com/office/drawing/2014/main" id="{7A069A41-0648-804A-542A-84D14B4E3E4B}"/>
                </a:ext>
              </a:extLst>
            </p:cNvPr>
            <p:cNvSpPr/>
            <p:nvPr/>
          </p:nvSpPr>
          <p:spPr>
            <a:xfrm>
              <a:off x="-910535" y="3074042"/>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3" name="Freeform: Shape 742">
              <a:extLst>
                <a:ext uri="{FF2B5EF4-FFF2-40B4-BE49-F238E27FC236}">
                  <a16:creationId xmlns:a16="http://schemas.microsoft.com/office/drawing/2014/main" id="{CAB76A49-FE86-4F7D-A3E8-A68E3089F5C1}"/>
                </a:ext>
              </a:extLst>
            </p:cNvPr>
            <p:cNvSpPr/>
            <p:nvPr/>
          </p:nvSpPr>
          <p:spPr>
            <a:xfrm>
              <a:off x="-714186"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5" name="Freeform: Shape 744">
              <a:extLst>
                <a:ext uri="{FF2B5EF4-FFF2-40B4-BE49-F238E27FC236}">
                  <a16:creationId xmlns:a16="http://schemas.microsoft.com/office/drawing/2014/main" id="{CE3D9054-DB9E-12F7-3540-4B6C6C782C99}"/>
                </a:ext>
              </a:extLst>
            </p:cNvPr>
            <p:cNvSpPr/>
            <p:nvPr/>
          </p:nvSpPr>
          <p:spPr>
            <a:xfrm>
              <a:off x="-530099" y="3075907"/>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7" name="Freeform: Shape 746">
              <a:extLst>
                <a:ext uri="{FF2B5EF4-FFF2-40B4-BE49-F238E27FC236}">
                  <a16:creationId xmlns:a16="http://schemas.microsoft.com/office/drawing/2014/main" id="{C363131C-2E38-D057-02E6-17DF183B3C17}"/>
                </a:ext>
              </a:extLst>
            </p:cNvPr>
            <p:cNvSpPr/>
            <p:nvPr/>
          </p:nvSpPr>
          <p:spPr>
            <a:xfrm>
              <a:off x="-320141" y="3074042"/>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49" name="Freeform: Shape 748">
              <a:extLst>
                <a:ext uri="{FF2B5EF4-FFF2-40B4-BE49-F238E27FC236}">
                  <a16:creationId xmlns:a16="http://schemas.microsoft.com/office/drawing/2014/main" id="{CDF69DFF-A827-01B6-47B2-C9FA80482165}"/>
                </a:ext>
              </a:extLst>
            </p:cNvPr>
            <p:cNvSpPr/>
            <p:nvPr/>
          </p:nvSpPr>
          <p:spPr>
            <a:xfrm>
              <a:off x="-136053" y="3074042"/>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1" name="Freeform: Shape 750">
              <a:extLst>
                <a:ext uri="{FF2B5EF4-FFF2-40B4-BE49-F238E27FC236}">
                  <a16:creationId xmlns:a16="http://schemas.microsoft.com/office/drawing/2014/main" id="{C038CA96-D3FE-C815-B9B0-A694D886AB9F}"/>
                </a:ext>
              </a:extLst>
            </p:cNvPr>
            <p:cNvSpPr/>
            <p:nvPr/>
          </p:nvSpPr>
          <p:spPr>
            <a:xfrm>
              <a:off x="48034" y="3074042"/>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3" name="Freeform: Shape 752">
              <a:extLst>
                <a:ext uri="{FF2B5EF4-FFF2-40B4-BE49-F238E27FC236}">
                  <a16:creationId xmlns:a16="http://schemas.microsoft.com/office/drawing/2014/main" id="{3DA6FAD3-C20B-B0A6-24B8-635C18A79C17}"/>
                </a:ext>
              </a:extLst>
            </p:cNvPr>
            <p:cNvSpPr/>
            <p:nvPr/>
          </p:nvSpPr>
          <p:spPr>
            <a:xfrm>
              <a:off x="244383" y="3075907"/>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357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357"/>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5" name="Freeform: Shape 754">
              <a:extLst>
                <a:ext uri="{FF2B5EF4-FFF2-40B4-BE49-F238E27FC236}">
                  <a16:creationId xmlns:a16="http://schemas.microsoft.com/office/drawing/2014/main" id="{50CA2865-AF0E-8117-7EB8-B1E5EFCFF4EE}"/>
                </a:ext>
              </a:extLst>
            </p:cNvPr>
            <p:cNvSpPr/>
            <p:nvPr/>
          </p:nvSpPr>
          <p:spPr>
            <a:xfrm>
              <a:off x="-4180434" y="3267816"/>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7" name="Freeform: Shape 756">
              <a:extLst>
                <a:ext uri="{FF2B5EF4-FFF2-40B4-BE49-F238E27FC236}">
                  <a16:creationId xmlns:a16="http://schemas.microsoft.com/office/drawing/2014/main" id="{01543502-5B7B-272E-7A37-2523DE1F75B9}"/>
                </a:ext>
              </a:extLst>
            </p:cNvPr>
            <p:cNvSpPr/>
            <p:nvPr/>
          </p:nvSpPr>
          <p:spPr>
            <a:xfrm>
              <a:off x="-4008460"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59" name="Freeform: Shape 758">
              <a:extLst>
                <a:ext uri="{FF2B5EF4-FFF2-40B4-BE49-F238E27FC236}">
                  <a16:creationId xmlns:a16="http://schemas.microsoft.com/office/drawing/2014/main" id="{9DFD84ED-C962-D08E-0DA9-0AB952569819}"/>
                </a:ext>
              </a:extLst>
            </p:cNvPr>
            <p:cNvSpPr/>
            <p:nvPr/>
          </p:nvSpPr>
          <p:spPr>
            <a:xfrm>
              <a:off x="-3824373"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61" name="Freeform: Shape 760">
              <a:extLst>
                <a:ext uri="{FF2B5EF4-FFF2-40B4-BE49-F238E27FC236}">
                  <a16:creationId xmlns:a16="http://schemas.microsoft.com/office/drawing/2014/main" id="{D8A46E81-8F95-0CA7-776E-D35093EE291D}"/>
                </a:ext>
              </a:extLst>
            </p:cNvPr>
            <p:cNvSpPr/>
            <p:nvPr/>
          </p:nvSpPr>
          <p:spPr>
            <a:xfrm>
              <a:off x="-3640286"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763" name="Freeform: Shape 762">
              <a:extLst>
                <a:ext uri="{FF2B5EF4-FFF2-40B4-BE49-F238E27FC236}">
                  <a16:creationId xmlns:a16="http://schemas.microsoft.com/office/drawing/2014/main" id="{6580880A-3B7C-7703-2AB0-A71EA38E9915}"/>
                </a:ext>
              </a:extLst>
            </p:cNvPr>
            <p:cNvSpPr/>
            <p:nvPr/>
          </p:nvSpPr>
          <p:spPr>
            <a:xfrm>
              <a:off x="-3405953"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957" name="Freeform: Shape 956">
              <a:extLst>
                <a:ext uri="{FF2B5EF4-FFF2-40B4-BE49-F238E27FC236}">
                  <a16:creationId xmlns:a16="http://schemas.microsoft.com/office/drawing/2014/main" id="{BB44E267-BDAB-D5BC-DDFB-7DBA47D35AB6}"/>
                </a:ext>
              </a:extLst>
            </p:cNvPr>
            <p:cNvSpPr/>
            <p:nvPr/>
          </p:nvSpPr>
          <p:spPr>
            <a:xfrm>
              <a:off x="-3233979"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959" name="Freeform: Shape 958">
              <a:extLst>
                <a:ext uri="{FF2B5EF4-FFF2-40B4-BE49-F238E27FC236}">
                  <a16:creationId xmlns:a16="http://schemas.microsoft.com/office/drawing/2014/main" id="{DF972FB5-0EF8-A8F2-EA49-E7347C50140F}"/>
                </a:ext>
              </a:extLst>
            </p:cNvPr>
            <p:cNvSpPr/>
            <p:nvPr/>
          </p:nvSpPr>
          <p:spPr>
            <a:xfrm>
              <a:off x="-3037629"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5" name="Freeform: Shape 1344">
              <a:extLst>
                <a:ext uri="{FF2B5EF4-FFF2-40B4-BE49-F238E27FC236}">
                  <a16:creationId xmlns:a16="http://schemas.microsoft.com/office/drawing/2014/main" id="{CFAAFD5F-B94A-E21B-9B6A-694F610083D3}"/>
                </a:ext>
              </a:extLst>
            </p:cNvPr>
            <p:cNvSpPr/>
            <p:nvPr/>
          </p:nvSpPr>
          <p:spPr>
            <a:xfrm>
              <a:off x="-2853542"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7" name="Freeform: Shape 1346">
              <a:extLst>
                <a:ext uri="{FF2B5EF4-FFF2-40B4-BE49-F238E27FC236}">
                  <a16:creationId xmlns:a16="http://schemas.microsoft.com/office/drawing/2014/main" id="{F7ECD86B-3AC4-5483-9735-EE3EEFA17B6F}"/>
                </a:ext>
              </a:extLst>
            </p:cNvPr>
            <p:cNvSpPr/>
            <p:nvPr/>
          </p:nvSpPr>
          <p:spPr>
            <a:xfrm>
              <a:off x="-2631322"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49" name="Freeform: Shape 1348">
              <a:extLst>
                <a:ext uri="{FF2B5EF4-FFF2-40B4-BE49-F238E27FC236}">
                  <a16:creationId xmlns:a16="http://schemas.microsoft.com/office/drawing/2014/main" id="{25E9CD45-E9FF-B409-A229-45F6C54F7BED}"/>
                </a:ext>
              </a:extLst>
            </p:cNvPr>
            <p:cNvSpPr/>
            <p:nvPr/>
          </p:nvSpPr>
          <p:spPr>
            <a:xfrm>
              <a:off x="-2459498"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1" name="Freeform: Shape 1350">
              <a:extLst>
                <a:ext uri="{FF2B5EF4-FFF2-40B4-BE49-F238E27FC236}">
                  <a16:creationId xmlns:a16="http://schemas.microsoft.com/office/drawing/2014/main" id="{A4C9CA7E-1DA1-6097-F37A-E51A227EA75F}"/>
                </a:ext>
              </a:extLst>
            </p:cNvPr>
            <p:cNvSpPr/>
            <p:nvPr/>
          </p:nvSpPr>
          <p:spPr>
            <a:xfrm>
              <a:off x="-2263147"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3" name="Freeform: Shape 1352">
              <a:extLst>
                <a:ext uri="{FF2B5EF4-FFF2-40B4-BE49-F238E27FC236}">
                  <a16:creationId xmlns:a16="http://schemas.microsoft.com/office/drawing/2014/main" id="{5A2DAFFB-F57E-B197-5D08-52991F0CA3C9}"/>
                </a:ext>
              </a:extLst>
            </p:cNvPr>
            <p:cNvSpPr/>
            <p:nvPr/>
          </p:nvSpPr>
          <p:spPr>
            <a:xfrm>
              <a:off x="-2091324" y="3265950"/>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5" name="Freeform: Shape 1354">
              <a:extLst>
                <a:ext uri="{FF2B5EF4-FFF2-40B4-BE49-F238E27FC236}">
                  <a16:creationId xmlns:a16="http://schemas.microsoft.com/office/drawing/2014/main" id="{84289009-6F4B-BD43-4199-B1E29DC3E837}"/>
                </a:ext>
              </a:extLst>
            </p:cNvPr>
            <p:cNvSpPr/>
            <p:nvPr/>
          </p:nvSpPr>
          <p:spPr>
            <a:xfrm>
              <a:off x="-1856840" y="3267816"/>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7" name="Freeform: Shape 1356">
              <a:extLst>
                <a:ext uri="{FF2B5EF4-FFF2-40B4-BE49-F238E27FC236}">
                  <a16:creationId xmlns:a16="http://schemas.microsoft.com/office/drawing/2014/main" id="{A7A39663-B4C7-E306-E7A3-75779CF664AA}"/>
                </a:ext>
              </a:extLst>
            </p:cNvPr>
            <p:cNvSpPr/>
            <p:nvPr/>
          </p:nvSpPr>
          <p:spPr>
            <a:xfrm>
              <a:off x="-1685017" y="3265950"/>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59" name="Freeform: Shape 1358">
              <a:extLst>
                <a:ext uri="{FF2B5EF4-FFF2-40B4-BE49-F238E27FC236}">
                  <a16:creationId xmlns:a16="http://schemas.microsoft.com/office/drawing/2014/main" id="{B1792B8D-94C4-87B4-B18C-5AA6E4B6C2E1}"/>
                </a:ext>
              </a:extLst>
            </p:cNvPr>
            <p:cNvSpPr/>
            <p:nvPr/>
          </p:nvSpPr>
          <p:spPr>
            <a:xfrm>
              <a:off x="-1488666"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1" name="Freeform: Shape 1360">
              <a:extLst>
                <a:ext uri="{FF2B5EF4-FFF2-40B4-BE49-F238E27FC236}">
                  <a16:creationId xmlns:a16="http://schemas.microsoft.com/office/drawing/2014/main" id="{84C9EC5B-9C94-84AE-95D4-173242D61739}"/>
                </a:ext>
              </a:extLst>
            </p:cNvPr>
            <p:cNvSpPr/>
            <p:nvPr/>
          </p:nvSpPr>
          <p:spPr>
            <a:xfrm>
              <a:off x="-1316842"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3" name="Freeform: Shape 1362">
              <a:extLst>
                <a:ext uri="{FF2B5EF4-FFF2-40B4-BE49-F238E27FC236}">
                  <a16:creationId xmlns:a16="http://schemas.microsoft.com/office/drawing/2014/main" id="{ADAD0C0D-351D-799D-BDF7-927D374890F6}"/>
                </a:ext>
              </a:extLst>
            </p:cNvPr>
            <p:cNvSpPr/>
            <p:nvPr/>
          </p:nvSpPr>
          <p:spPr>
            <a:xfrm>
              <a:off x="-1082359"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5" name="Freeform: Shape 1364">
              <a:extLst>
                <a:ext uri="{FF2B5EF4-FFF2-40B4-BE49-F238E27FC236}">
                  <a16:creationId xmlns:a16="http://schemas.microsoft.com/office/drawing/2014/main" id="{1300F872-523A-C744-1C3A-392EB9D8994F}"/>
                </a:ext>
              </a:extLst>
            </p:cNvPr>
            <p:cNvSpPr/>
            <p:nvPr/>
          </p:nvSpPr>
          <p:spPr>
            <a:xfrm>
              <a:off x="-910535" y="3265950"/>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7" name="Freeform: Shape 1366">
              <a:extLst>
                <a:ext uri="{FF2B5EF4-FFF2-40B4-BE49-F238E27FC236}">
                  <a16:creationId xmlns:a16="http://schemas.microsoft.com/office/drawing/2014/main" id="{37D850FC-7CBA-F0CA-AD89-3F9B909AA164}"/>
                </a:ext>
              </a:extLst>
            </p:cNvPr>
            <p:cNvSpPr/>
            <p:nvPr/>
          </p:nvSpPr>
          <p:spPr>
            <a:xfrm>
              <a:off x="-714186"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69" name="Freeform: Shape 1368">
              <a:extLst>
                <a:ext uri="{FF2B5EF4-FFF2-40B4-BE49-F238E27FC236}">
                  <a16:creationId xmlns:a16="http://schemas.microsoft.com/office/drawing/2014/main" id="{3FB40E89-FBFD-187D-5236-E71F29E4A7A1}"/>
                </a:ext>
              </a:extLst>
            </p:cNvPr>
            <p:cNvSpPr/>
            <p:nvPr/>
          </p:nvSpPr>
          <p:spPr>
            <a:xfrm>
              <a:off x="-530099" y="3267816"/>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1" name="Freeform: Shape 1370">
              <a:extLst>
                <a:ext uri="{FF2B5EF4-FFF2-40B4-BE49-F238E27FC236}">
                  <a16:creationId xmlns:a16="http://schemas.microsoft.com/office/drawing/2014/main" id="{CD53851A-CAD1-034B-CE8A-63484E9E8643}"/>
                </a:ext>
              </a:extLst>
            </p:cNvPr>
            <p:cNvSpPr/>
            <p:nvPr/>
          </p:nvSpPr>
          <p:spPr>
            <a:xfrm>
              <a:off x="-320141" y="3265950"/>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3" name="Freeform: Shape 1372">
              <a:extLst>
                <a:ext uri="{FF2B5EF4-FFF2-40B4-BE49-F238E27FC236}">
                  <a16:creationId xmlns:a16="http://schemas.microsoft.com/office/drawing/2014/main" id="{9DBB437D-F2BB-3CC0-87E9-8803B6305622}"/>
                </a:ext>
              </a:extLst>
            </p:cNvPr>
            <p:cNvSpPr/>
            <p:nvPr/>
          </p:nvSpPr>
          <p:spPr>
            <a:xfrm>
              <a:off x="-136053" y="3265950"/>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5" name="Freeform: Shape 1374">
              <a:extLst>
                <a:ext uri="{FF2B5EF4-FFF2-40B4-BE49-F238E27FC236}">
                  <a16:creationId xmlns:a16="http://schemas.microsoft.com/office/drawing/2014/main" id="{BDE291AD-C408-B805-71CA-D78B9BD8909B}"/>
                </a:ext>
              </a:extLst>
            </p:cNvPr>
            <p:cNvSpPr/>
            <p:nvPr/>
          </p:nvSpPr>
          <p:spPr>
            <a:xfrm>
              <a:off x="48034" y="3265950"/>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7" name="Freeform: Shape 1376">
              <a:extLst>
                <a:ext uri="{FF2B5EF4-FFF2-40B4-BE49-F238E27FC236}">
                  <a16:creationId xmlns:a16="http://schemas.microsoft.com/office/drawing/2014/main" id="{73139AC7-4E8F-4703-592F-4A2C8E193639}"/>
                </a:ext>
              </a:extLst>
            </p:cNvPr>
            <p:cNvSpPr/>
            <p:nvPr/>
          </p:nvSpPr>
          <p:spPr>
            <a:xfrm>
              <a:off x="244383" y="3267816"/>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79" name="Freeform: Shape 1378">
              <a:extLst>
                <a:ext uri="{FF2B5EF4-FFF2-40B4-BE49-F238E27FC236}">
                  <a16:creationId xmlns:a16="http://schemas.microsoft.com/office/drawing/2014/main" id="{AC7C9454-18B3-A8F3-2DF8-9D4E38C88B3D}"/>
                </a:ext>
              </a:extLst>
            </p:cNvPr>
            <p:cNvSpPr/>
            <p:nvPr/>
          </p:nvSpPr>
          <p:spPr>
            <a:xfrm>
              <a:off x="-4180434" y="3459723"/>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1" name="Freeform: Shape 1380">
              <a:extLst>
                <a:ext uri="{FF2B5EF4-FFF2-40B4-BE49-F238E27FC236}">
                  <a16:creationId xmlns:a16="http://schemas.microsoft.com/office/drawing/2014/main" id="{FD5EAE51-147B-C6D2-1D91-64A280D3494B}"/>
                </a:ext>
              </a:extLst>
            </p:cNvPr>
            <p:cNvSpPr/>
            <p:nvPr/>
          </p:nvSpPr>
          <p:spPr>
            <a:xfrm>
              <a:off x="-4008460"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3" name="Freeform: Shape 1382">
              <a:extLst>
                <a:ext uri="{FF2B5EF4-FFF2-40B4-BE49-F238E27FC236}">
                  <a16:creationId xmlns:a16="http://schemas.microsoft.com/office/drawing/2014/main" id="{1510B1F0-3C87-1292-FE7D-A08B5235F31A}"/>
                </a:ext>
              </a:extLst>
            </p:cNvPr>
            <p:cNvSpPr/>
            <p:nvPr/>
          </p:nvSpPr>
          <p:spPr>
            <a:xfrm>
              <a:off x="-3824373"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5" name="Freeform: Shape 1384">
              <a:extLst>
                <a:ext uri="{FF2B5EF4-FFF2-40B4-BE49-F238E27FC236}">
                  <a16:creationId xmlns:a16="http://schemas.microsoft.com/office/drawing/2014/main" id="{320E0687-0BA9-7104-1D1A-BBB0693E42F8}"/>
                </a:ext>
              </a:extLst>
            </p:cNvPr>
            <p:cNvSpPr/>
            <p:nvPr/>
          </p:nvSpPr>
          <p:spPr>
            <a:xfrm>
              <a:off x="-3640286"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87" name="Freeform: Shape 1386">
              <a:extLst>
                <a:ext uri="{FF2B5EF4-FFF2-40B4-BE49-F238E27FC236}">
                  <a16:creationId xmlns:a16="http://schemas.microsoft.com/office/drawing/2014/main" id="{25F211F6-596F-7616-AA35-D87A742430AB}"/>
                </a:ext>
              </a:extLst>
            </p:cNvPr>
            <p:cNvSpPr/>
            <p:nvPr/>
          </p:nvSpPr>
          <p:spPr>
            <a:xfrm>
              <a:off x="-3405953"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0" name="Freeform: Shape 1389">
              <a:extLst>
                <a:ext uri="{FF2B5EF4-FFF2-40B4-BE49-F238E27FC236}">
                  <a16:creationId xmlns:a16="http://schemas.microsoft.com/office/drawing/2014/main" id="{03C7497B-4D8C-0D09-5EA8-2B48F990929D}"/>
                </a:ext>
              </a:extLst>
            </p:cNvPr>
            <p:cNvSpPr/>
            <p:nvPr/>
          </p:nvSpPr>
          <p:spPr>
            <a:xfrm>
              <a:off x="-3233979"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2" name="Freeform: Shape 1391">
              <a:extLst>
                <a:ext uri="{FF2B5EF4-FFF2-40B4-BE49-F238E27FC236}">
                  <a16:creationId xmlns:a16="http://schemas.microsoft.com/office/drawing/2014/main" id="{60E1F0CA-71AB-9B9C-FAA6-E158225D8604}"/>
                </a:ext>
              </a:extLst>
            </p:cNvPr>
            <p:cNvSpPr/>
            <p:nvPr/>
          </p:nvSpPr>
          <p:spPr>
            <a:xfrm>
              <a:off x="-3037629"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4" name="Freeform: Shape 1393">
              <a:extLst>
                <a:ext uri="{FF2B5EF4-FFF2-40B4-BE49-F238E27FC236}">
                  <a16:creationId xmlns:a16="http://schemas.microsoft.com/office/drawing/2014/main" id="{0494DD85-047C-7EDC-3DB9-A2B7022D0BBB}"/>
                </a:ext>
              </a:extLst>
            </p:cNvPr>
            <p:cNvSpPr/>
            <p:nvPr/>
          </p:nvSpPr>
          <p:spPr>
            <a:xfrm>
              <a:off x="-2853542"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6" name="Freeform: Shape 1395">
              <a:extLst>
                <a:ext uri="{FF2B5EF4-FFF2-40B4-BE49-F238E27FC236}">
                  <a16:creationId xmlns:a16="http://schemas.microsoft.com/office/drawing/2014/main" id="{DB347D6F-8C3B-ACDB-5014-4AE015FFB9B1}"/>
                </a:ext>
              </a:extLst>
            </p:cNvPr>
            <p:cNvSpPr/>
            <p:nvPr/>
          </p:nvSpPr>
          <p:spPr>
            <a:xfrm>
              <a:off x="-2631322"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398" name="Freeform: Shape 1397">
              <a:extLst>
                <a:ext uri="{FF2B5EF4-FFF2-40B4-BE49-F238E27FC236}">
                  <a16:creationId xmlns:a16="http://schemas.microsoft.com/office/drawing/2014/main" id="{004F6FE8-0D0C-4FA5-6C9D-9C7DC604E881}"/>
                </a:ext>
              </a:extLst>
            </p:cNvPr>
            <p:cNvSpPr/>
            <p:nvPr/>
          </p:nvSpPr>
          <p:spPr>
            <a:xfrm>
              <a:off x="-2459498"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0" name="Freeform: Shape 1399">
              <a:extLst>
                <a:ext uri="{FF2B5EF4-FFF2-40B4-BE49-F238E27FC236}">
                  <a16:creationId xmlns:a16="http://schemas.microsoft.com/office/drawing/2014/main" id="{C8348F47-F693-6FD7-DF66-21CB665BD21A}"/>
                </a:ext>
              </a:extLst>
            </p:cNvPr>
            <p:cNvSpPr/>
            <p:nvPr/>
          </p:nvSpPr>
          <p:spPr>
            <a:xfrm>
              <a:off x="-2263147"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2" name="Freeform: Shape 1401">
              <a:extLst>
                <a:ext uri="{FF2B5EF4-FFF2-40B4-BE49-F238E27FC236}">
                  <a16:creationId xmlns:a16="http://schemas.microsoft.com/office/drawing/2014/main" id="{FA8C828F-33DD-544C-0E81-86A0BEDB0684}"/>
                </a:ext>
              </a:extLst>
            </p:cNvPr>
            <p:cNvSpPr/>
            <p:nvPr/>
          </p:nvSpPr>
          <p:spPr>
            <a:xfrm>
              <a:off x="-2091324" y="3457858"/>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9"/>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4" name="Freeform: Shape 1403">
              <a:extLst>
                <a:ext uri="{FF2B5EF4-FFF2-40B4-BE49-F238E27FC236}">
                  <a16:creationId xmlns:a16="http://schemas.microsoft.com/office/drawing/2014/main" id="{D3AF454C-8451-0F77-79EA-6ABC5A3835FF}"/>
                </a:ext>
              </a:extLst>
            </p:cNvPr>
            <p:cNvSpPr/>
            <p:nvPr/>
          </p:nvSpPr>
          <p:spPr>
            <a:xfrm>
              <a:off x="-1856840" y="3459723"/>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06" name="Freeform: Shape 1405">
              <a:extLst>
                <a:ext uri="{FF2B5EF4-FFF2-40B4-BE49-F238E27FC236}">
                  <a16:creationId xmlns:a16="http://schemas.microsoft.com/office/drawing/2014/main" id="{E302E385-0944-18FE-F87D-8709905CB2B6}"/>
                </a:ext>
              </a:extLst>
            </p:cNvPr>
            <p:cNvSpPr/>
            <p:nvPr/>
          </p:nvSpPr>
          <p:spPr>
            <a:xfrm>
              <a:off x="-1685017" y="3457858"/>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9"/>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2" name="Freeform: Shape 1471">
              <a:extLst>
                <a:ext uri="{FF2B5EF4-FFF2-40B4-BE49-F238E27FC236}">
                  <a16:creationId xmlns:a16="http://schemas.microsoft.com/office/drawing/2014/main" id="{EC0F9A7F-E4CB-F838-196E-4D2C3696F3DC}"/>
                </a:ext>
              </a:extLst>
            </p:cNvPr>
            <p:cNvSpPr/>
            <p:nvPr/>
          </p:nvSpPr>
          <p:spPr>
            <a:xfrm>
              <a:off x="-1488666"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4" name="Freeform: Shape 1473">
              <a:extLst>
                <a:ext uri="{FF2B5EF4-FFF2-40B4-BE49-F238E27FC236}">
                  <a16:creationId xmlns:a16="http://schemas.microsoft.com/office/drawing/2014/main" id="{467FCCB5-F32F-DD69-FE9F-F92D844FF407}"/>
                </a:ext>
              </a:extLst>
            </p:cNvPr>
            <p:cNvSpPr/>
            <p:nvPr/>
          </p:nvSpPr>
          <p:spPr>
            <a:xfrm>
              <a:off x="-1316842"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6" name="Freeform: Shape 1475">
              <a:extLst>
                <a:ext uri="{FF2B5EF4-FFF2-40B4-BE49-F238E27FC236}">
                  <a16:creationId xmlns:a16="http://schemas.microsoft.com/office/drawing/2014/main" id="{F18ACB2A-B486-822D-0340-A4120C2ACA4E}"/>
                </a:ext>
              </a:extLst>
            </p:cNvPr>
            <p:cNvSpPr/>
            <p:nvPr/>
          </p:nvSpPr>
          <p:spPr>
            <a:xfrm>
              <a:off x="-1082359"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78" name="Freeform: Shape 1477">
              <a:extLst>
                <a:ext uri="{FF2B5EF4-FFF2-40B4-BE49-F238E27FC236}">
                  <a16:creationId xmlns:a16="http://schemas.microsoft.com/office/drawing/2014/main" id="{79640350-FA50-7854-3730-D78A17787CC6}"/>
                </a:ext>
              </a:extLst>
            </p:cNvPr>
            <p:cNvSpPr/>
            <p:nvPr/>
          </p:nvSpPr>
          <p:spPr>
            <a:xfrm>
              <a:off x="-910535" y="3457858"/>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9"/>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0" name="Freeform: Shape 1479">
              <a:extLst>
                <a:ext uri="{FF2B5EF4-FFF2-40B4-BE49-F238E27FC236}">
                  <a16:creationId xmlns:a16="http://schemas.microsoft.com/office/drawing/2014/main" id="{9A8F4A25-3561-F6AA-140D-DDAD00B27CF5}"/>
                </a:ext>
              </a:extLst>
            </p:cNvPr>
            <p:cNvSpPr/>
            <p:nvPr/>
          </p:nvSpPr>
          <p:spPr>
            <a:xfrm>
              <a:off x="-714186"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2" name="Freeform: Shape 1481">
              <a:extLst>
                <a:ext uri="{FF2B5EF4-FFF2-40B4-BE49-F238E27FC236}">
                  <a16:creationId xmlns:a16="http://schemas.microsoft.com/office/drawing/2014/main" id="{8CDC85AC-6C13-225D-0EE5-1B412415AFBF}"/>
                </a:ext>
              </a:extLst>
            </p:cNvPr>
            <p:cNvSpPr/>
            <p:nvPr/>
          </p:nvSpPr>
          <p:spPr>
            <a:xfrm>
              <a:off x="-530099" y="3459723"/>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4" name="Freeform: Shape 1483">
              <a:extLst>
                <a:ext uri="{FF2B5EF4-FFF2-40B4-BE49-F238E27FC236}">
                  <a16:creationId xmlns:a16="http://schemas.microsoft.com/office/drawing/2014/main" id="{0235AF42-8364-C47F-BB98-80AA733CF115}"/>
                </a:ext>
              </a:extLst>
            </p:cNvPr>
            <p:cNvSpPr/>
            <p:nvPr/>
          </p:nvSpPr>
          <p:spPr>
            <a:xfrm>
              <a:off x="-320141" y="3457858"/>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9"/>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6" name="Freeform: Shape 1485">
              <a:extLst>
                <a:ext uri="{FF2B5EF4-FFF2-40B4-BE49-F238E27FC236}">
                  <a16:creationId xmlns:a16="http://schemas.microsoft.com/office/drawing/2014/main" id="{EE291A13-5847-A7A3-9783-42A22E3504F4}"/>
                </a:ext>
              </a:extLst>
            </p:cNvPr>
            <p:cNvSpPr/>
            <p:nvPr/>
          </p:nvSpPr>
          <p:spPr>
            <a:xfrm>
              <a:off x="-136053" y="3457858"/>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88" name="Freeform: Shape 1487">
              <a:extLst>
                <a:ext uri="{FF2B5EF4-FFF2-40B4-BE49-F238E27FC236}">
                  <a16:creationId xmlns:a16="http://schemas.microsoft.com/office/drawing/2014/main" id="{87A3D1A7-A2A9-8670-C152-F6700BBA8E05}"/>
                </a:ext>
              </a:extLst>
            </p:cNvPr>
            <p:cNvSpPr/>
            <p:nvPr/>
          </p:nvSpPr>
          <p:spPr>
            <a:xfrm>
              <a:off x="48034" y="3457858"/>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9"/>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0" name="Freeform: Shape 1489">
              <a:extLst>
                <a:ext uri="{FF2B5EF4-FFF2-40B4-BE49-F238E27FC236}">
                  <a16:creationId xmlns:a16="http://schemas.microsoft.com/office/drawing/2014/main" id="{75C63530-B74B-49AD-4706-5F5362B03B7F}"/>
                </a:ext>
              </a:extLst>
            </p:cNvPr>
            <p:cNvSpPr/>
            <p:nvPr/>
          </p:nvSpPr>
          <p:spPr>
            <a:xfrm>
              <a:off x="244383" y="3459723"/>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2" name="Freeform: Shape 1491">
              <a:extLst>
                <a:ext uri="{FF2B5EF4-FFF2-40B4-BE49-F238E27FC236}">
                  <a16:creationId xmlns:a16="http://schemas.microsoft.com/office/drawing/2014/main" id="{2D61332B-BC6D-B513-4E6B-EA86F99F1819}"/>
                </a:ext>
              </a:extLst>
            </p:cNvPr>
            <p:cNvSpPr/>
            <p:nvPr/>
          </p:nvSpPr>
          <p:spPr>
            <a:xfrm>
              <a:off x="-4180434" y="3651632"/>
              <a:ext cx="38881" cy="103950"/>
            </a:xfrm>
            <a:custGeom>
              <a:avLst/>
              <a:gdLst>
                <a:gd name="connsiteX0" fmla="*/ 26371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1 w 43396"/>
                <a:gd name="connsiteY7" fmla="*/ 130188 h 130188"/>
                <a:gd name="connsiteX8" fmla="*/ 26371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4" name="Freeform: Shape 1493">
              <a:extLst>
                <a:ext uri="{FF2B5EF4-FFF2-40B4-BE49-F238E27FC236}">
                  <a16:creationId xmlns:a16="http://schemas.microsoft.com/office/drawing/2014/main" id="{052343D0-14C0-5EF5-9C9B-D002E07713C4}"/>
                </a:ext>
              </a:extLst>
            </p:cNvPr>
            <p:cNvSpPr/>
            <p:nvPr/>
          </p:nvSpPr>
          <p:spPr>
            <a:xfrm>
              <a:off x="-4008460"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6" name="Freeform: Shape 1495">
              <a:extLst>
                <a:ext uri="{FF2B5EF4-FFF2-40B4-BE49-F238E27FC236}">
                  <a16:creationId xmlns:a16="http://schemas.microsoft.com/office/drawing/2014/main" id="{A2EF7EA7-AC2D-BD91-EBEF-D6B9345D4BB1}"/>
                </a:ext>
              </a:extLst>
            </p:cNvPr>
            <p:cNvSpPr/>
            <p:nvPr/>
          </p:nvSpPr>
          <p:spPr>
            <a:xfrm>
              <a:off x="-3824373"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498" name="Freeform: Shape 1497">
              <a:extLst>
                <a:ext uri="{FF2B5EF4-FFF2-40B4-BE49-F238E27FC236}">
                  <a16:creationId xmlns:a16="http://schemas.microsoft.com/office/drawing/2014/main" id="{0AA79DE3-109B-0143-0BF1-36759140FC39}"/>
                </a:ext>
              </a:extLst>
            </p:cNvPr>
            <p:cNvSpPr/>
            <p:nvPr/>
          </p:nvSpPr>
          <p:spPr>
            <a:xfrm>
              <a:off x="-3640286"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692" y="67932"/>
                  </a:moveTo>
                  <a:cubicBezTo>
                    <a:pt x="17692" y="101814"/>
                    <a:pt x="28041" y="121008"/>
                    <a:pt x="44064" y="121008"/>
                  </a:cubicBezTo>
                  <a:cubicBezTo>
                    <a:pt x="62090" y="121008"/>
                    <a:pt x="70769" y="99978"/>
                    <a:pt x="70769" y="66763"/>
                  </a:cubicBezTo>
                  <a:cubicBezTo>
                    <a:pt x="70769" y="33548"/>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0" name="Freeform: Shape 1499">
              <a:extLst>
                <a:ext uri="{FF2B5EF4-FFF2-40B4-BE49-F238E27FC236}">
                  <a16:creationId xmlns:a16="http://schemas.microsoft.com/office/drawing/2014/main" id="{DD2B5F24-D019-8DB7-C05D-091FE2663EEC}"/>
                </a:ext>
              </a:extLst>
            </p:cNvPr>
            <p:cNvSpPr/>
            <p:nvPr/>
          </p:nvSpPr>
          <p:spPr>
            <a:xfrm>
              <a:off x="-3405953"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2" name="Freeform: Shape 1501">
              <a:extLst>
                <a:ext uri="{FF2B5EF4-FFF2-40B4-BE49-F238E27FC236}">
                  <a16:creationId xmlns:a16="http://schemas.microsoft.com/office/drawing/2014/main" id="{D1B9289F-7B45-9756-FA5A-46FDC2DA2807}"/>
                </a:ext>
              </a:extLst>
            </p:cNvPr>
            <p:cNvSpPr/>
            <p:nvPr/>
          </p:nvSpPr>
          <p:spPr>
            <a:xfrm>
              <a:off x="-3233979"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2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4"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4" name="Freeform: Shape 1503">
              <a:extLst>
                <a:ext uri="{FF2B5EF4-FFF2-40B4-BE49-F238E27FC236}">
                  <a16:creationId xmlns:a16="http://schemas.microsoft.com/office/drawing/2014/main" id="{5395EDB5-8707-520D-DAE0-B94FE755E843}"/>
                </a:ext>
              </a:extLst>
            </p:cNvPr>
            <p:cNvSpPr/>
            <p:nvPr/>
          </p:nvSpPr>
          <p:spPr>
            <a:xfrm>
              <a:off x="-3037629"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6" name="Freeform: Shape 1505">
              <a:extLst>
                <a:ext uri="{FF2B5EF4-FFF2-40B4-BE49-F238E27FC236}">
                  <a16:creationId xmlns:a16="http://schemas.microsoft.com/office/drawing/2014/main" id="{80E32C06-88A1-F3E0-AF65-BFC2CF4284F5}"/>
                </a:ext>
              </a:extLst>
            </p:cNvPr>
            <p:cNvSpPr/>
            <p:nvPr/>
          </p:nvSpPr>
          <p:spPr>
            <a:xfrm>
              <a:off x="-2853542"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08" name="Freeform: Shape 1507">
              <a:extLst>
                <a:ext uri="{FF2B5EF4-FFF2-40B4-BE49-F238E27FC236}">
                  <a16:creationId xmlns:a16="http://schemas.microsoft.com/office/drawing/2014/main" id="{5B17BA7A-4FC6-278F-33F0-590ACB25DD64}"/>
                </a:ext>
              </a:extLst>
            </p:cNvPr>
            <p:cNvSpPr/>
            <p:nvPr/>
          </p:nvSpPr>
          <p:spPr>
            <a:xfrm>
              <a:off x="-2631322"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0" name="Freeform: Shape 1509">
              <a:extLst>
                <a:ext uri="{FF2B5EF4-FFF2-40B4-BE49-F238E27FC236}">
                  <a16:creationId xmlns:a16="http://schemas.microsoft.com/office/drawing/2014/main" id="{54BF4EC8-4055-9270-7B62-10A7462751F2}"/>
                </a:ext>
              </a:extLst>
            </p:cNvPr>
            <p:cNvSpPr/>
            <p:nvPr/>
          </p:nvSpPr>
          <p:spPr>
            <a:xfrm>
              <a:off x="-2459498"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1"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2" name="Freeform: Shape 1511">
              <a:extLst>
                <a:ext uri="{FF2B5EF4-FFF2-40B4-BE49-F238E27FC236}">
                  <a16:creationId xmlns:a16="http://schemas.microsoft.com/office/drawing/2014/main" id="{2B110D09-47EF-623E-BC34-F15E3F2C56D9}"/>
                </a:ext>
              </a:extLst>
            </p:cNvPr>
            <p:cNvSpPr/>
            <p:nvPr/>
          </p:nvSpPr>
          <p:spPr>
            <a:xfrm>
              <a:off x="-2263147"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4" name="Freeform: Shape 1513">
              <a:extLst>
                <a:ext uri="{FF2B5EF4-FFF2-40B4-BE49-F238E27FC236}">
                  <a16:creationId xmlns:a16="http://schemas.microsoft.com/office/drawing/2014/main" id="{1D02379C-C320-4FD5-586B-1D4740B2BB4B}"/>
                </a:ext>
              </a:extLst>
            </p:cNvPr>
            <p:cNvSpPr/>
            <p:nvPr/>
          </p:nvSpPr>
          <p:spPr>
            <a:xfrm>
              <a:off x="-2091324" y="3649766"/>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8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692" y="67932"/>
                  </a:moveTo>
                  <a:cubicBezTo>
                    <a:pt x="17692" y="101814"/>
                    <a:pt x="28041" y="121008"/>
                    <a:pt x="44064" y="121008"/>
                  </a:cubicBezTo>
                  <a:cubicBezTo>
                    <a:pt x="62090" y="121008"/>
                    <a:pt x="70769" y="99978"/>
                    <a:pt x="70769" y="66763"/>
                  </a:cubicBezTo>
                  <a:cubicBezTo>
                    <a:pt x="70769" y="33548"/>
                    <a:pt x="62591" y="13686"/>
                    <a:pt x="44398"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6" name="Freeform: Shape 1515">
              <a:extLst>
                <a:ext uri="{FF2B5EF4-FFF2-40B4-BE49-F238E27FC236}">
                  <a16:creationId xmlns:a16="http://schemas.microsoft.com/office/drawing/2014/main" id="{7365484E-818F-A85C-7A4F-396218041B9E}"/>
                </a:ext>
              </a:extLst>
            </p:cNvPr>
            <p:cNvSpPr/>
            <p:nvPr/>
          </p:nvSpPr>
          <p:spPr>
            <a:xfrm>
              <a:off x="-1856840" y="3651632"/>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18" name="Freeform: Shape 1517">
              <a:extLst>
                <a:ext uri="{FF2B5EF4-FFF2-40B4-BE49-F238E27FC236}">
                  <a16:creationId xmlns:a16="http://schemas.microsoft.com/office/drawing/2014/main" id="{52F8ADCF-EBE6-3AB4-F4D7-795204F4A8A6}"/>
                </a:ext>
              </a:extLst>
            </p:cNvPr>
            <p:cNvSpPr/>
            <p:nvPr/>
          </p:nvSpPr>
          <p:spPr>
            <a:xfrm>
              <a:off x="-1685017" y="3649766"/>
              <a:ext cx="79108" cy="107415"/>
            </a:xfrm>
            <a:custGeom>
              <a:avLst/>
              <a:gdLst>
                <a:gd name="connsiteX0" fmla="*/ 88295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7" y="134528"/>
                    <a:pt x="43062" y="134528"/>
                  </a:cubicBezTo>
                  <a:cubicBezTo>
                    <a:pt x="17692" y="134528"/>
                    <a:pt x="501" y="110660"/>
                    <a:pt x="0" y="67598"/>
                  </a:cubicBezTo>
                  <a:cubicBezTo>
                    <a:pt x="0" y="24035"/>
                    <a:pt x="18861" y="0"/>
                    <a:pt x="45232" y="0"/>
                  </a:cubicBezTo>
                  <a:cubicBezTo>
                    <a:pt x="71604" y="0"/>
                    <a:pt x="88295" y="24369"/>
                    <a:pt x="88295" y="65929"/>
                  </a:cubicBezTo>
                  <a:close/>
                  <a:moveTo>
                    <a:pt x="17525" y="67932"/>
                  </a:moveTo>
                  <a:cubicBezTo>
                    <a:pt x="17525" y="101814"/>
                    <a:pt x="27874" y="121008"/>
                    <a:pt x="43897" y="121008"/>
                  </a:cubicBezTo>
                  <a:cubicBezTo>
                    <a:pt x="61923" y="121008"/>
                    <a:pt x="70602" y="99978"/>
                    <a:pt x="70602" y="66763"/>
                  </a:cubicBezTo>
                  <a:cubicBezTo>
                    <a:pt x="70602" y="33548"/>
                    <a:pt x="62424"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0" name="Freeform: Shape 1519">
              <a:extLst>
                <a:ext uri="{FF2B5EF4-FFF2-40B4-BE49-F238E27FC236}">
                  <a16:creationId xmlns:a16="http://schemas.microsoft.com/office/drawing/2014/main" id="{79856D19-A8C6-3E89-B458-EF0AD08B5ADB}"/>
                </a:ext>
              </a:extLst>
            </p:cNvPr>
            <p:cNvSpPr/>
            <p:nvPr/>
          </p:nvSpPr>
          <p:spPr>
            <a:xfrm>
              <a:off x="-1488666"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2" name="Freeform: Shape 1521">
              <a:extLst>
                <a:ext uri="{FF2B5EF4-FFF2-40B4-BE49-F238E27FC236}">
                  <a16:creationId xmlns:a16="http://schemas.microsoft.com/office/drawing/2014/main" id="{7999F5E8-9146-D123-23F7-B527D09CE5A0}"/>
                </a:ext>
              </a:extLst>
            </p:cNvPr>
            <p:cNvSpPr/>
            <p:nvPr/>
          </p:nvSpPr>
          <p:spPr>
            <a:xfrm>
              <a:off x="-1316842"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692 w 88294"/>
                <a:gd name="connsiteY5" fmla="*/ 67932 h 134527"/>
                <a:gd name="connsiteX6" fmla="*/ 44064 w 88294"/>
                <a:gd name="connsiteY6" fmla="*/ 121008 h 134527"/>
                <a:gd name="connsiteX7" fmla="*/ 70769 w 88294"/>
                <a:gd name="connsiteY7" fmla="*/ 66763 h 134527"/>
                <a:gd name="connsiteX8" fmla="*/ 44397 w 88294"/>
                <a:gd name="connsiteY8" fmla="*/ 13686 h 134527"/>
                <a:gd name="connsiteX9" fmla="*/ 17859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4" y="121008"/>
                  </a:cubicBezTo>
                  <a:cubicBezTo>
                    <a:pt x="62090" y="121008"/>
                    <a:pt x="70769" y="99978"/>
                    <a:pt x="70769" y="66763"/>
                  </a:cubicBezTo>
                  <a:cubicBezTo>
                    <a:pt x="70769" y="33548"/>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4" name="Freeform: Shape 1523">
              <a:extLst>
                <a:ext uri="{FF2B5EF4-FFF2-40B4-BE49-F238E27FC236}">
                  <a16:creationId xmlns:a16="http://schemas.microsoft.com/office/drawing/2014/main" id="{C8CB6394-ABDD-2951-5114-68C7A93AC147}"/>
                </a:ext>
              </a:extLst>
            </p:cNvPr>
            <p:cNvSpPr/>
            <p:nvPr/>
          </p:nvSpPr>
          <p:spPr>
            <a:xfrm>
              <a:off x="-1082359"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4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4"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6" name="Freeform: Shape 1525">
              <a:extLst>
                <a:ext uri="{FF2B5EF4-FFF2-40B4-BE49-F238E27FC236}">
                  <a16:creationId xmlns:a16="http://schemas.microsoft.com/office/drawing/2014/main" id="{A86DF461-E548-F233-EDCD-9801ABFE7C1C}"/>
                </a:ext>
              </a:extLst>
            </p:cNvPr>
            <p:cNvSpPr/>
            <p:nvPr/>
          </p:nvSpPr>
          <p:spPr>
            <a:xfrm>
              <a:off x="-910535" y="3649766"/>
              <a:ext cx="79108" cy="107415"/>
            </a:xfrm>
            <a:custGeom>
              <a:avLst/>
              <a:gdLst>
                <a:gd name="connsiteX0" fmla="*/ 88294 w 88294"/>
                <a:gd name="connsiteY0" fmla="*/ 65929 h 134527"/>
                <a:gd name="connsiteX1" fmla="*/ 43062 w 88294"/>
                <a:gd name="connsiteY1" fmla="*/ 134528 h 134527"/>
                <a:gd name="connsiteX2" fmla="*/ 0 w 88294"/>
                <a:gd name="connsiteY2" fmla="*/ 67598 h 134527"/>
                <a:gd name="connsiteX3" fmla="*/ 45232 w 88294"/>
                <a:gd name="connsiteY3" fmla="*/ 0 h 134527"/>
                <a:gd name="connsiteX4" fmla="*/ 88294 w 88294"/>
                <a:gd name="connsiteY4" fmla="*/ 65929 h 134527"/>
                <a:gd name="connsiteX5" fmla="*/ 17525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525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525" y="67932"/>
                  </a:moveTo>
                  <a:cubicBezTo>
                    <a:pt x="17525" y="101814"/>
                    <a:pt x="27874" y="121008"/>
                    <a:pt x="43897" y="121008"/>
                  </a:cubicBezTo>
                  <a:cubicBezTo>
                    <a:pt x="61923" y="121008"/>
                    <a:pt x="70602" y="99978"/>
                    <a:pt x="70602" y="66763"/>
                  </a:cubicBezTo>
                  <a:cubicBezTo>
                    <a:pt x="70602" y="33548"/>
                    <a:pt x="62423" y="13686"/>
                    <a:pt x="44231" y="13686"/>
                  </a:cubicBezTo>
                  <a:cubicBezTo>
                    <a:pt x="28875" y="13686"/>
                    <a:pt x="17525" y="32547"/>
                    <a:pt x="17525"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28" name="Freeform: Shape 1527">
              <a:extLst>
                <a:ext uri="{FF2B5EF4-FFF2-40B4-BE49-F238E27FC236}">
                  <a16:creationId xmlns:a16="http://schemas.microsoft.com/office/drawing/2014/main" id="{36736326-FC81-E959-A0F7-1F059137A4D2}"/>
                </a:ext>
              </a:extLst>
            </p:cNvPr>
            <p:cNvSpPr/>
            <p:nvPr/>
          </p:nvSpPr>
          <p:spPr>
            <a:xfrm>
              <a:off x="-714186"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0" name="Freeform: Shape 1529">
              <a:extLst>
                <a:ext uri="{FF2B5EF4-FFF2-40B4-BE49-F238E27FC236}">
                  <a16:creationId xmlns:a16="http://schemas.microsoft.com/office/drawing/2014/main" id="{1E573A05-76A6-BAC0-514F-C12B154F5A72}"/>
                </a:ext>
              </a:extLst>
            </p:cNvPr>
            <p:cNvSpPr/>
            <p:nvPr/>
          </p:nvSpPr>
          <p:spPr>
            <a:xfrm>
              <a:off x="-530099" y="3651632"/>
              <a:ext cx="38880" cy="103950"/>
            </a:xfrm>
            <a:custGeom>
              <a:avLst/>
              <a:gdLst>
                <a:gd name="connsiteX0" fmla="*/ 26371 w 43395"/>
                <a:gd name="connsiteY0" fmla="*/ 16357 h 130188"/>
                <a:gd name="connsiteX1" fmla="*/ 26038 w 43395"/>
                <a:gd name="connsiteY1" fmla="*/ 16357 h 130188"/>
                <a:gd name="connsiteX2" fmla="*/ 3338 w 43395"/>
                <a:gd name="connsiteY2" fmla="*/ 28541 h 130188"/>
                <a:gd name="connsiteX3" fmla="*/ 0 w 43395"/>
                <a:gd name="connsiteY3" fmla="*/ 15189 h 130188"/>
                <a:gd name="connsiteX4" fmla="*/ 28374 w 43395"/>
                <a:gd name="connsiteY4" fmla="*/ 0 h 130188"/>
                <a:gd name="connsiteX5" fmla="*/ 43396 w 43395"/>
                <a:gd name="connsiteY5" fmla="*/ 0 h 130188"/>
                <a:gd name="connsiteX6" fmla="*/ 43396 w 43395"/>
                <a:gd name="connsiteY6" fmla="*/ 130188 h 130188"/>
                <a:gd name="connsiteX7" fmla="*/ 26371 w 43395"/>
                <a:gd name="connsiteY7" fmla="*/ 130188 h 130188"/>
                <a:gd name="connsiteX8" fmla="*/ 26371 w 43395"/>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5" h="130188">
                  <a:moveTo>
                    <a:pt x="26371" y="16357"/>
                  </a:moveTo>
                  <a:lnTo>
                    <a:pt x="26038" y="16357"/>
                  </a:lnTo>
                  <a:lnTo>
                    <a:pt x="3338" y="28541"/>
                  </a:lnTo>
                  <a:lnTo>
                    <a:pt x="0" y="15189"/>
                  </a:lnTo>
                  <a:lnTo>
                    <a:pt x="28374" y="0"/>
                  </a:lnTo>
                  <a:lnTo>
                    <a:pt x="43396" y="0"/>
                  </a:lnTo>
                  <a:lnTo>
                    <a:pt x="43396" y="130188"/>
                  </a:lnTo>
                  <a:lnTo>
                    <a:pt x="26371" y="130188"/>
                  </a:lnTo>
                  <a:lnTo>
                    <a:pt x="26371"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5" name="Freeform: Shape 1534">
              <a:extLst>
                <a:ext uri="{FF2B5EF4-FFF2-40B4-BE49-F238E27FC236}">
                  <a16:creationId xmlns:a16="http://schemas.microsoft.com/office/drawing/2014/main" id="{6BBFCCB7-2674-A117-0662-5CDCE5B3E9E4}"/>
                </a:ext>
              </a:extLst>
            </p:cNvPr>
            <p:cNvSpPr/>
            <p:nvPr/>
          </p:nvSpPr>
          <p:spPr>
            <a:xfrm>
              <a:off x="-320141" y="3649766"/>
              <a:ext cx="79108" cy="107415"/>
            </a:xfrm>
            <a:custGeom>
              <a:avLst/>
              <a:gdLst>
                <a:gd name="connsiteX0" fmla="*/ 88295 w 88294"/>
                <a:gd name="connsiteY0" fmla="*/ 65929 h 134527"/>
                <a:gd name="connsiteX1" fmla="*/ 43063 w 88294"/>
                <a:gd name="connsiteY1" fmla="*/ 134528 h 134527"/>
                <a:gd name="connsiteX2" fmla="*/ 0 w 88294"/>
                <a:gd name="connsiteY2" fmla="*/ 67598 h 134527"/>
                <a:gd name="connsiteX3" fmla="*/ 45232 w 88294"/>
                <a:gd name="connsiteY3" fmla="*/ 0 h 134527"/>
                <a:gd name="connsiteX4" fmla="*/ 88295 w 88294"/>
                <a:gd name="connsiteY4" fmla="*/ 65929 h 134527"/>
                <a:gd name="connsiteX5" fmla="*/ 17526 w 88294"/>
                <a:gd name="connsiteY5" fmla="*/ 67932 h 134527"/>
                <a:gd name="connsiteX6" fmla="*/ 43897 w 88294"/>
                <a:gd name="connsiteY6" fmla="*/ 121008 h 134527"/>
                <a:gd name="connsiteX7" fmla="*/ 70602 w 88294"/>
                <a:gd name="connsiteY7" fmla="*/ 66763 h 134527"/>
                <a:gd name="connsiteX8" fmla="*/ 44231 w 88294"/>
                <a:gd name="connsiteY8" fmla="*/ 13686 h 134527"/>
                <a:gd name="connsiteX9" fmla="*/ 17693 w 88294"/>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4" h="134527">
                  <a:moveTo>
                    <a:pt x="88295" y="65929"/>
                  </a:moveTo>
                  <a:cubicBezTo>
                    <a:pt x="88295" y="110159"/>
                    <a:pt x="71938" y="134528"/>
                    <a:pt x="43063" y="134528"/>
                  </a:cubicBezTo>
                  <a:cubicBezTo>
                    <a:pt x="17693" y="134528"/>
                    <a:pt x="501" y="110660"/>
                    <a:pt x="0" y="67598"/>
                  </a:cubicBezTo>
                  <a:cubicBezTo>
                    <a:pt x="0" y="24035"/>
                    <a:pt x="18861" y="0"/>
                    <a:pt x="45232" y="0"/>
                  </a:cubicBezTo>
                  <a:cubicBezTo>
                    <a:pt x="71604" y="0"/>
                    <a:pt x="88295" y="24369"/>
                    <a:pt x="88295" y="65929"/>
                  </a:cubicBezTo>
                  <a:close/>
                  <a:moveTo>
                    <a:pt x="17526" y="67932"/>
                  </a:moveTo>
                  <a:cubicBezTo>
                    <a:pt x="17526" y="101814"/>
                    <a:pt x="27874" y="121008"/>
                    <a:pt x="43897" y="121008"/>
                  </a:cubicBezTo>
                  <a:cubicBezTo>
                    <a:pt x="61923" y="121008"/>
                    <a:pt x="70602" y="99978"/>
                    <a:pt x="70602" y="66763"/>
                  </a:cubicBezTo>
                  <a:cubicBezTo>
                    <a:pt x="70602" y="33548"/>
                    <a:pt x="62424" y="13686"/>
                    <a:pt x="44231" y="13686"/>
                  </a:cubicBezTo>
                  <a:cubicBezTo>
                    <a:pt x="28875" y="13686"/>
                    <a:pt x="17693" y="32547"/>
                    <a:pt x="17693"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37" name="Freeform: Shape 1536">
              <a:extLst>
                <a:ext uri="{FF2B5EF4-FFF2-40B4-BE49-F238E27FC236}">
                  <a16:creationId xmlns:a16="http://schemas.microsoft.com/office/drawing/2014/main" id="{2A61D551-67D0-0D52-9C9F-737823F73FB2}"/>
                </a:ext>
              </a:extLst>
            </p:cNvPr>
            <p:cNvSpPr/>
            <p:nvPr/>
          </p:nvSpPr>
          <p:spPr>
            <a:xfrm>
              <a:off x="-136053" y="3649766"/>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7 w 88293"/>
                <a:gd name="connsiteY8" fmla="*/ 13686 h 134527"/>
                <a:gd name="connsiteX9" fmla="*/ 17859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8"/>
                    <a:pt x="62591" y="13686"/>
                    <a:pt x="44397" y="13686"/>
                  </a:cubicBezTo>
                  <a:cubicBezTo>
                    <a:pt x="29042" y="13686"/>
                    <a:pt x="17859" y="32547"/>
                    <a:pt x="17859"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53" name="Freeform: Shape 1552">
              <a:extLst>
                <a:ext uri="{FF2B5EF4-FFF2-40B4-BE49-F238E27FC236}">
                  <a16:creationId xmlns:a16="http://schemas.microsoft.com/office/drawing/2014/main" id="{9C3E13FE-DA63-7E05-9225-2F787387B281}"/>
                </a:ext>
              </a:extLst>
            </p:cNvPr>
            <p:cNvSpPr/>
            <p:nvPr/>
          </p:nvSpPr>
          <p:spPr>
            <a:xfrm>
              <a:off x="48034" y="3649766"/>
              <a:ext cx="79107" cy="107415"/>
            </a:xfrm>
            <a:custGeom>
              <a:avLst/>
              <a:gdLst>
                <a:gd name="connsiteX0" fmla="*/ 88294 w 88293"/>
                <a:gd name="connsiteY0" fmla="*/ 65929 h 134527"/>
                <a:gd name="connsiteX1" fmla="*/ 43062 w 88293"/>
                <a:gd name="connsiteY1" fmla="*/ 134528 h 134527"/>
                <a:gd name="connsiteX2" fmla="*/ 0 w 88293"/>
                <a:gd name="connsiteY2" fmla="*/ 67598 h 134527"/>
                <a:gd name="connsiteX3" fmla="*/ 45232 w 88293"/>
                <a:gd name="connsiteY3" fmla="*/ 0 h 134527"/>
                <a:gd name="connsiteX4" fmla="*/ 88294 w 88293"/>
                <a:gd name="connsiteY4" fmla="*/ 65929 h 134527"/>
                <a:gd name="connsiteX5" fmla="*/ 17692 w 88293"/>
                <a:gd name="connsiteY5" fmla="*/ 67932 h 134527"/>
                <a:gd name="connsiteX6" fmla="*/ 44063 w 88293"/>
                <a:gd name="connsiteY6" fmla="*/ 121008 h 134527"/>
                <a:gd name="connsiteX7" fmla="*/ 70769 w 88293"/>
                <a:gd name="connsiteY7" fmla="*/ 66763 h 134527"/>
                <a:gd name="connsiteX8" fmla="*/ 44398 w 88293"/>
                <a:gd name="connsiteY8" fmla="*/ 13686 h 134527"/>
                <a:gd name="connsiteX9" fmla="*/ 17692 w 88293"/>
                <a:gd name="connsiteY9" fmla="*/ 67932 h 13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293" h="134527">
                  <a:moveTo>
                    <a:pt x="88294" y="65929"/>
                  </a:moveTo>
                  <a:cubicBezTo>
                    <a:pt x="88294" y="110159"/>
                    <a:pt x="71937" y="134528"/>
                    <a:pt x="43062" y="134528"/>
                  </a:cubicBezTo>
                  <a:cubicBezTo>
                    <a:pt x="17692" y="134528"/>
                    <a:pt x="501" y="110660"/>
                    <a:pt x="0" y="67598"/>
                  </a:cubicBezTo>
                  <a:cubicBezTo>
                    <a:pt x="0" y="24035"/>
                    <a:pt x="18860" y="0"/>
                    <a:pt x="45232" y="0"/>
                  </a:cubicBezTo>
                  <a:cubicBezTo>
                    <a:pt x="71603" y="0"/>
                    <a:pt x="88294" y="24369"/>
                    <a:pt x="88294" y="65929"/>
                  </a:cubicBezTo>
                  <a:close/>
                  <a:moveTo>
                    <a:pt x="17692" y="67932"/>
                  </a:moveTo>
                  <a:cubicBezTo>
                    <a:pt x="17692" y="101814"/>
                    <a:pt x="28040" y="121008"/>
                    <a:pt x="44063" y="121008"/>
                  </a:cubicBezTo>
                  <a:cubicBezTo>
                    <a:pt x="62090" y="121008"/>
                    <a:pt x="70769" y="99978"/>
                    <a:pt x="70769" y="66763"/>
                  </a:cubicBezTo>
                  <a:cubicBezTo>
                    <a:pt x="70769" y="33548"/>
                    <a:pt x="62591" y="13686"/>
                    <a:pt x="44398" y="13686"/>
                  </a:cubicBezTo>
                  <a:cubicBezTo>
                    <a:pt x="29042" y="13686"/>
                    <a:pt x="17692" y="32547"/>
                    <a:pt x="17692" y="67932"/>
                  </a:cubicBez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sp>
          <p:nvSpPr>
            <p:cNvPr id="1555" name="Freeform: Shape 1554">
              <a:extLst>
                <a:ext uri="{FF2B5EF4-FFF2-40B4-BE49-F238E27FC236}">
                  <a16:creationId xmlns:a16="http://schemas.microsoft.com/office/drawing/2014/main" id="{4C0F628A-028D-7B6E-080D-049D9C4E6DCC}"/>
                </a:ext>
              </a:extLst>
            </p:cNvPr>
            <p:cNvSpPr/>
            <p:nvPr/>
          </p:nvSpPr>
          <p:spPr>
            <a:xfrm>
              <a:off x="244383" y="3651632"/>
              <a:ext cx="38881" cy="103950"/>
            </a:xfrm>
            <a:custGeom>
              <a:avLst/>
              <a:gdLst>
                <a:gd name="connsiteX0" fmla="*/ 26372 w 43396"/>
                <a:gd name="connsiteY0" fmla="*/ 16357 h 130188"/>
                <a:gd name="connsiteX1" fmla="*/ 26038 w 43396"/>
                <a:gd name="connsiteY1" fmla="*/ 16357 h 130188"/>
                <a:gd name="connsiteX2" fmla="*/ 3338 w 43396"/>
                <a:gd name="connsiteY2" fmla="*/ 28541 h 130188"/>
                <a:gd name="connsiteX3" fmla="*/ 0 w 43396"/>
                <a:gd name="connsiteY3" fmla="*/ 15189 h 130188"/>
                <a:gd name="connsiteX4" fmla="*/ 28375 w 43396"/>
                <a:gd name="connsiteY4" fmla="*/ 0 h 130188"/>
                <a:gd name="connsiteX5" fmla="*/ 43396 w 43396"/>
                <a:gd name="connsiteY5" fmla="*/ 0 h 130188"/>
                <a:gd name="connsiteX6" fmla="*/ 43396 w 43396"/>
                <a:gd name="connsiteY6" fmla="*/ 130188 h 130188"/>
                <a:gd name="connsiteX7" fmla="*/ 26372 w 43396"/>
                <a:gd name="connsiteY7" fmla="*/ 130188 h 130188"/>
                <a:gd name="connsiteX8" fmla="*/ 26372 w 43396"/>
                <a:gd name="connsiteY8" fmla="*/ 16524 h 130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396" h="130188">
                  <a:moveTo>
                    <a:pt x="26372" y="16357"/>
                  </a:moveTo>
                  <a:lnTo>
                    <a:pt x="26038" y="16357"/>
                  </a:lnTo>
                  <a:lnTo>
                    <a:pt x="3338" y="28541"/>
                  </a:lnTo>
                  <a:lnTo>
                    <a:pt x="0" y="15189"/>
                  </a:lnTo>
                  <a:lnTo>
                    <a:pt x="28375" y="0"/>
                  </a:lnTo>
                  <a:lnTo>
                    <a:pt x="43396" y="0"/>
                  </a:lnTo>
                  <a:lnTo>
                    <a:pt x="43396" y="130188"/>
                  </a:lnTo>
                  <a:lnTo>
                    <a:pt x="26372" y="130188"/>
                  </a:lnTo>
                  <a:lnTo>
                    <a:pt x="26372" y="16524"/>
                  </a:lnTo>
                  <a:close/>
                </a:path>
              </a:pathLst>
            </a:custGeom>
            <a:solidFill>
              <a:srgbClr val="89D1FF"/>
            </a:solidFill>
            <a:ln w="16677" cap="flat">
              <a:noFill/>
              <a:prstDash val="solid"/>
              <a:miter/>
            </a:ln>
          </p:spPr>
          <p:txBody>
            <a:bodyPr rtlCol="0" anchor="ctr"/>
            <a:lstStyle/>
            <a:p>
              <a:pPr defTabSz="1088176">
                <a:defRPr/>
              </a:pPr>
              <a:endParaRPr lang="en-US" sz="2098">
                <a:solidFill>
                  <a:srgbClr val="000000"/>
                </a:solidFill>
              </a:endParaRPr>
            </a:p>
          </p:txBody>
        </p:sp>
      </p:grpSp>
      <p:sp>
        <p:nvSpPr>
          <p:cNvPr id="58" name="Freeform 57">
            <a:extLst>
              <a:ext uri="{FF2B5EF4-FFF2-40B4-BE49-F238E27FC236}">
                <a16:creationId xmlns:a16="http://schemas.microsoft.com/office/drawing/2014/main" id="{1449CF0A-C95A-88DB-DE4C-DF8D1E091BC3}"/>
              </a:ext>
            </a:extLst>
          </p:cNvPr>
          <p:cNvSpPr/>
          <p:nvPr/>
        </p:nvSpPr>
        <p:spPr>
          <a:xfrm>
            <a:off x="11200699" y="6244255"/>
            <a:ext cx="940501" cy="550193"/>
          </a:xfrm>
          <a:custGeom>
            <a:avLst/>
            <a:gdLst/>
            <a:ahLst/>
            <a:cxnLst/>
            <a:rect l="l" t="t" r="r" b="b"/>
            <a:pathLst>
              <a:path w="1410752" h="825290">
                <a:moveTo>
                  <a:pt x="0" y="0"/>
                </a:moveTo>
                <a:lnTo>
                  <a:pt x="1410752" y="0"/>
                </a:lnTo>
                <a:lnTo>
                  <a:pt x="1410752" y="825290"/>
                </a:lnTo>
                <a:lnTo>
                  <a:pt x="0" y="825290"/>
                </a:lnTo>
                <a:lnTo>
                  <a:pt x="0" y="0"/>
                </a:lnTo>
                <a:close/>
              </a:path>
            </a:pathLst>
          </a:custGeom>
          <a:blipFill>
            <a:blip r:embed="rId6"/>
            <a:stretch>
              <a:fillRect/>
            </a:stretch>
          </a:blipFill>
        </p:spPr>
        <p:txBody>
          <a:bodyPr/>
          <a:lstStyle/>
          <a:p>
            <a:endParaRPr lang="en-IN" sz="1200"/>
          </a:p>
        </p:txBody>
      </p:sp>
      <p:sp>
        <p:nvSpPr>
          <p:cNvPr id="59" name="Freeform 58">
            <a:extLst>
              <a:ext uri="{FF2B5EF4-FFF2-40B4-BE49-F238E27FC236}">
                <a16:creationId xmlns:a16="http://schemas.microsoft.com/office/drawing/2014/main" id="{71598ACA-D18E-04B6-87D3-9077CFCFC0F5}"/>
              </a:ext>
            </a:extLst>
          </p:cNvPr>
          <p:cNvSpPr/>
          <p:nvPr/>
        </p:nvSpPr>
        <p:spPr>
          <a:xfrm>
            <a:off x="10379075" y="63553"/>
            <a:ext cx="1762125" cy="633231"/>
          </a:xfrm>
          <a:custGeom>
            <a:avLst/>
            <a:gdLst/>
            <a:ahLst/>
            <a:cxnLst/>
            <a:rect l="l" t="t" r="r" b="b"/>
            <a:pathLst>
              <a:path w="2753181" h="949847">
                <a:moveTo>
                  <a:pt x="0" y="0"/>
                </a:moveTo>
                <a:lnTo>
                  <a:pt x="2753181" y="0"/>
                </a:lnTo>
                <a:lnTo>
                  <a:pt x="2753181" y="949847"/>
                </a:lnTo>
                <a:lnTo>
                  <a:pt x="0" y="949847"/>
                </a:lnTo>
                <a:lnTo>
                  <a:pt x="0" y="0"/>
                </a:lnTo>
                <a:close/>
              </a:path>
            </a:pathLst>
          </a:custGeom>
          <a:blipFill>
            <a:blip r:embed="rId7"/>
            <a:stretch>
              <a:fillRect/>
            </a:stretch>
          </a:blipFill>
        </p:spPr>
        <p:txBody>
          <a:bodyPr/>
          <a:lstStyle/>
          <a:p>
            <a:endParaRPr lang="en-IN" sz="1200"/>
          </a:p>
        </p:txBody>
      </p:sp>
      <p:pic>
        <p:nvPicPr>
          <p:cNvPr id="3" name="Picture 2">
            <a:extLst>
              <a:ext uri="{FF2B5EF4-FFF2-40B4-BE49-F238E27FC236}">
                <a16:creationId xmlns:a16="http://schemas.microsoft.com/office/drawing/2014/main" id="{7E9B3E6A-D984-407A-A24F-9DEF994DFCAF}"/>
              </a:ext>
            </a:extLst>
          </p:cNvPr>
          <p:cNvPicPr>
            <a:picLocks noChangeAspect="1"/>
          </p:cNvPicPr>
          <p:nvPr/>
        </p:nvPicPr>
        <p:blipFill>
          <a:blip r:embed="rId8"/>
          <a:stretch>
            <a:fillRect/>
          </a:stretch>
        </p:blipFill>
        <p:spPr>
          <a:xfrm>
            <a:off x="813557" y="1116525"/>
            <a:ext cx="5561042" cy="1989029"/>
          </a:xfrm>
          <a:prstGeom prst="rect">
            <a:avLst/>
          </a:prstGeom>
        </p:spPr>
      </p:pic>
      <p:pic>
        <p:nvPicPr>
          <p:cNvPr id="5" name="Picture 4">
            <a:extLst>
              <a:ext uri="{FF2B5EF4-FFF2-40B4-BE49-F238E27FC236}">
                <a16:creationId xmlns:a16="http://schemas.microsoft.com/office/drawing/2014/main" id="{4FF2834B-0E3C-EB68-EDF8-BB2385488234}"/>
              </a:ext>
            </a:extLst>
          </p:cNvPr>
          <p:cNvPicPr>
            <a:picLocks noChangeAspect="1"/>
          </p:cNvPicPr>
          <p:nvPr/>
        </p:nvPicPr>
        <p:blipFill>
          <a:blip r:embed="rId9"/>
          <a:stretch>
            <a:fillRect/>
          </a:stretch>
        </p:blipFill>
        <p:spPr>
          <a:xfrm>
            <a:off x="6742546" y="1116525"/>
            <a:ext cx="4972575" cy="1989030"/>
          </a:xfrm>
          <a:prstGeom prst="rect">
            <a:avLst/>
          </a:prstGeom>
        </p:spPr>
      </p:pic>
      <p:pic>
        <p:nvPicPr>
          <p:cNvPr id="7" name="Picture 6">
            <a:extLst>
              <a:ext uri="{FF2B5EF4-FFF2-40B4-BE49-F238E27FC236}">
                <a16:creationId xmlns:a16="http://schemas.microsoft.com/office/drawing/2014/main" id="{7B90B728-B2E0-D5F5-C9CB-0BA9C9C7A6F2}"/>
              </a:ext>
            </a:extLst>
          </p:cNvPr>
          <p:cNvPicPr>
            <a:picLocks noChangeAspect="1"/>
          </p:cNvPicPr>
          <p:nvPr/>
        </p:nvPicPr>
        <p:blipFill>
          <a:blip r:embed="rId10"/>
          <a:stretch>
            <a:fillRect/>
          </a:stretch>
        </p:blipFill>
        <p:spPr>
          <a:xfrm>
            <a:off x="813557" y="3752447"/>
            <a:ext cx="5561042" cy="2159341"/>
          </a:xfrm>
          <a:prstGeom prst="rect">
            <a:avLst/>
          </a:prstGeom>
        </p:spPr>
      </p:pic>
      <p:pic>
        <p:nvPicPr>
          <p:cNvPr id="9" name="Picture 8">
            <a:extLst>
              <a:ext uri="{FF2B5EF4-FFF2-40B4-BE49-F238E27FC236}">
                <a16:creationId xmlns:a16="http://schemas.microsoft.com/office/drawing/2014/main" id="{347C9369-7B2A-2FAF-B7C1-8D976E60A3CE}"/>
              </a:ext>
            </a:extLst>
          </p:cNvPr>
          <p:cNvPicPr>
            <a:picLocks noChangeAspect="1"/>
          </p:cNvPicPr>
          <p:nvPr/>
        </p:nvPicPr>
        <p:blipFill>
          <a:blip r:embed="rId11"/>
          <a:stretch>
            <a:fillRect/>
          </a:stretch>
        </p:blipFill>
        <p:spPr>
          <a:xfrm>
            <a:off x="6742546" y="3727113"/>
            <a:ext cx="4977639" cy="2159340"/>
          </a:xfrm>
          <a:prstGeom prst="rect">
            <a:avLst/>
          </a:prstGeom>
        </p:spPr>
      </p:pic>
    </p:spTree>
    <p:extLst>
      <p:ext uri="{BB962C8B-B14F-4D97-AF65-F5344CB8AC3E}">
        <p14:creationId xmlns:p14="http://schemas.microsoft.com/office/powerpoint/2010/main" val="621096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0114384" y="73152"/>
            <a:ext cx="1864256" cy="594360"/>
          </a:xfrm>
          <a:prstGeom prst="rect">
            <a:avLst/>
          </a:prstGeom>
        </p:spPr>
      </p:pic>
      <p:pic>
        <p:nvPicPr>
          <p:cNvPr id="4" name="Image 1" descr="preencoded.png"/>
          <p:cNvPicPr>
            <a:picLocks noChangeAspect="1"/>
          </p:cNvPicPr>
          <p:nvPr/>
        </p:nvPicPr>
        <p:blipFill>
          <a:blip r:embed="rId4"/>
          <a:stretch>
            <a:fillRect/>
          </a:stretch>
        </p:blipFill>
        <p:spPr>
          <a:xfrm>
            <a:off x="10972800" y="6217920"/>
            <a:ext cx="1097280" cy="566928"/>
          </a:xfrm>
          <a:prstGeom prst="rect">
            <a:avLst/>
          </a:prstGeom>
        </p:spPr>
      </p:pic>
      <p:sp>
        <p:nvSpPr>
          <p:cNvPr id="5" name="Shape 1"/>
          <p:cNvSpPr/>
          <p:nvPr/>
        </p:nvSpPr>
        <p:spPr>
          <a:xfrm>
            <a:off x="320040" y="749808"/>
            <a:ext cx="73152" cy="868680"/>
          </a:xfrm>
          <a:prstGeom prst="rect">
            <a:avLst/>
          </a:prstGeom>
          <a:solidFill>
            <a:srgbClr val="289BE8"/>
          </a:solidFill>
          <a:ln w="12700">
            <a:solidFill>
              <a:srgbClr val="289BE8"/>
            </a:solidFill>
            <a:prstDash val="solid"/>
          </a:ln>
        </p:spPr>
      </p:sp>
      <p:sp>
        <p:nvSpPr>
          <p:cNvPr id="6" name="Text 2"/>
          <p:cNvSpPr/>
          <p:nvPr/>
        </p:nvSpPr>
        <p:spPr>
          <a:xfrm>
            <a:off x="502920" y="749808"/>
            <a:ext cx="8686800" cy="475488"/>
          </a:xfrm>
          <a:prstGeom prst="rect">
            <a:avLst/>
          </a:prstGeom>
          <a:noFill/>
          <a:ln/>
        </p:spPr>
        <p:txBody>
          <a:bodyPr wrap="square" rtlCol="0" anchor="ctr"/>
          <a:lstStyle/>
          <a:p>
            <a:pPr marL="0" indent="0">
              <a:buNone/>
            </a:pPr>
            <a:r>
              <a:rPr lang="en-US" sz="2600" b="1" dirty="0">
                <a:solidFill>
                  <a:srgbClr val="1F3A6E"/>
                </a:solidFill>
                <a:latin typeface="Calibri" pitchFamily="34" charset="0"/>
                <a:ea typeface="Calibri" pitchFamily="34" charset="-122"/>
                <a:cs typeface="Calibri" pitchFamily="34" charset="-120"/>
              </a:rPr>
              <a:t>Conclusion</a:t>
            </a:r>
            <a:endParaRPr lang="en-US" sz="2600" dirty="0"/>
          </a:p>
        </p:txBody>
      </p:sp>
      <p:sp>
        <p:nvSpPr>
          <p:cNvPr id="7" name="Text 3"/>
          <p:cNvSpPr/>
          <p:nvPr/>
        </p:nvSpPr>
        <p:spPr>
          <a:xfrm>
            <a:off x="502920" y="1234440"/>
            <a:ext cx="8686800" cy="320040"/>
          </a:xfrm>
          <a:prstGeom prst="rect">
            <a:avLst/>
          </a:prstGeom>
          <a:noFill/>
          <a:ln/>
        </p:spPr>
        <p:txBody>
          <a:bodyPr wrap="square" rtlCol="0" anchor="ctr"/>
          <a:lstStyle/>
          <a:p>
            <a:pPr marL="0" indent="0">
              <a:buNone/>
            </a:pPr>
            <a:r>
              <a:rPr lang="en-US" sz="1300" i="1" dirty="0">
                <a:solidFill>
                  <a:srgbClr val="1565C0"/>
                </a:solidFill>
                <a:latin typeface="Calibri" pitchFamily="34" charset="0"/>
                <a:ea typeface="Calibri" pitchFamily="34" charset="-122"/>
                <a:cs typeface="Calibri" pitchFamily="34" charset="-120"/>
              </a:rPr>
              <a:t>A complete end-to-end SAP Vendor Risk Monitoring System</a:t>
            </a:r>
            <a:endParaRPr lang="en-US" sz="1300" dirty="0"/>
          </a:p>
        </p:txBody>
      </p:sp>
      <p:sp>
        <p:nvSpPr>
          <p:cNvPr id="8" name="Shape 4"/>
          <p:cNvSpPr/>
          <p:nvPr/>
        </p:nvSpPr>
        <p:spPr>
          <a:xfrm>
            <a:off x="320040" y="1691640"/>
            <a:ext cx="11521440" cy="1234440"/>
          </a:xfrm>
          <a:prstGeom prst="roundRect">
            <a:avLst>
              <a:gd name="adj" fmla="val 7407"/>
            </a:avLst>
          </a:prstGeom>
          <a:solidFill>
            <a:srgbClr val="F0F7FF"/>
          </a:solidFill>
          <a:ln w="15240">
            <a:solidFill>
              <a:srgbClr val="BBDEFB"/>
            </a:solidFill>
            <a:prstDash val="solid"/>
          </a:ln>
        </p:spPr>
      </p:sp>
      <p:sp>
        <p:nvSpPr>
          <p:cNvPr id="9" name="Text 5"/>
          <p:cNvSpPr/>
          <p:nvPr/>
        </p:nvSpPr>
        <p:spPr>
          <a:xfrm>
            <a:off x="502920" y="1783080"/>
            <a:ext cx="11155680" cy="1051560"/>
          </a:xfrm>
          <a:prstGeom prst="rect">
            <a:avLst/>
          </a:prstGeom>
          <a:noFill/>
          <a:ln/>
        </p:spPr>
        <p:txBody>
          <a:bodyPr wrap="square" rtlCol="0" anchor="t"/>
          <a:lstStyle/>
          <a:p>
            <a:pPr marL="0" indent="0">
              <a:buNone/>
            </a:pPr>
            <a:r>
              <a:rPr lang="en-US" sz="1200" dirty="0">
                <a:solidFill>
                  <a:srgbClr val="37474F"/>
                </a:solidFill>
                <a:latin typeface="Calibri" pitchFamily="34" charset="0"/>
                <a:ea typeface="Calibri" pitchFamily="34" charset="-122"/>
                <a:cs typeface="Calibri" pitchFamily="34" charset="-120"/>
              </a:rPr>
              <a:t>The SAP Vendor Risk Monitoring System provides a complete solution for analyzing accounts payable aging and vendor payment risk. By integrating BSIK, LFA1, and LFB1 tables through the LIFNR key, the system calculates due dates, overdue days, and aging buckets — giving the finance team clear visibility into unpaid liabilities.</a:t>
            </a:r>
            <a:endParaRPr lang="en-US" sz="1200" dirty="0"/>
          </a:p>
        </p:txBody>
      </p:sp>
      <p:sp>
        <p:nvSpPr>
          <p:cNvPr id="10" name="Shape 6"/>
          <p:cNvSpPr/>
          <p:nvPr/>
        </p:nvSpPr>
        <p:spPr>
          <a:xfrm>
            <a:off x="320040" y="3090672"/>
            <a:ext cx="3749040" cy="2514600"/>
          </a:xfrm>
          <a:prstGeom prst="roundRect">
            <a:avLst>
              <a:gd name="adj" fmla="val 3636"/>
            </a:avLst>
          </a:prstGeom>
          <a:solidFill>
            <a:srgbClr val="FFFFFF"/>
          </a:solidFill>
          <a:ln w="15240">
            <a:solidFill>
              <a:srgbClr val="BBDEFB"/>
            </a:solidFill>
            <a:prstDash val="solid"/>
          </a:ln>
        </p:spPr>
      </p:sp>
      <p:sp>
        <p:nvSpPr>
          <p:cNvPr id="11" name="Shape 7"/>
          <p:cNvSpPr/>
          <p:nvPr/>
        </p:nvSpPr>
        <p:spPr>
          <a:xfrm>
            <a:off x="320040" y="3090672"/>
            <a:ext cx="3749040" cy="64008"/>
          </a:xfrm>
          <a:prstGeom prst="rect">
            <a:avLst/>
          </a:prstGeom>
          <a:solidFill>
            <a:srgbClr val="289BE8"/>
          </a:solidFill>
          <a:ln w="12700">
            <a:solidFill>
              <a:srgbClr val="289BE8"/>
            </a:solidFill>
            <a:prstDash val="solid"/>
          </a:ln>
        </p:spPr>
      </p:sp>
      <p:sp>
        <p:nvSpPr>
          <p:cNvPr id="12" name="Text 8"/>
          <p:cNvSpPr/>
          <p:nvPr/>
        </p:nvSpPr>
        <p:spPr>
          <a:xfrm>
            <a:off x="320040" y="3246120"/>
            <a:ext cx="374904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3" name="Text 9"/>
          <p:cNvSpPr/>
          <p:nvPr/>
        </p:nvSpPr>
        <p:spPr>
          <a:xfrm>
            <a:off x="484632" y="3913632"/>
            <a:ext cx="3429000" cy="347472"/>
          </a:xfrm>
          <a:prstGeom prst="rect">
            <a:avLst/>
          </a:prstGeom>
          <a:noFill/>
          <a:ln/>
        </p:spPr>
        <p:txBody>
          <a:bodyPr wrap="square" rtlCol="0" anchor="ctr"/>
          <a:lstStyle/>
          <a:p>
            <a:pPr marL="0" indent="0" algn="ctr">
              <a:buNone/>
            </a:pPr>
            <a:r>
              <a:rPr lang="en-US" sz="1300" b="1" dirty="0">
                <a:solidFill>
                  <a:srgbClr val="1F3A6E"/>
                </a:solidFill>
                <a:latin typeface="Calibri" pitchFamily="34" charset="0"/>
                <a:ea typeface="Calibri" pitchFamily="34" charset="-122"/>
                <a:cs typeface="Calibri" pitchFamily="34" charset="-120"/>
              </a:rPr>
              <a:t>Data-Driven Analysis</a:t>
            </a:r>
            <a:endParaRPr lang="en-US" sz="1300" dirty="0"/>
          </a:p>
        </p:txBody>
      </p:sp>
      <p:sp>
        <p:nvSpPr>
          <p:cNvPr id="14" name="Text 10"/>
          <p:cNvSpPr/>
          <p:nvPr/>
        </p:nvSpPr>
        <p:spPr>
          <a:xfrm>
            <a:off x="484632" y="4315968"/>
            <a:ext cx="3429000" cy="1170432"/>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SAP BSIK, LFA1, LFB1 integrated via LIFNR. 5 aging buckets computed from baseline dates and payment terms for complete AP visibility.</a:t>
            </a:r>
            <a:endParaRPr lang="en-US" sz="1050" dirty="0"/>
          </a:p>
        </p:txBody>
      </p:sp>
      <p:sp>
        <p:nvSpPr>
          <p:cNvPr id="15" name="Shape 11"/>
          <p:cNvSpPr/>
          <p:nvPr/>
        </p:nvSpPr>
        <p:spPr>
          <a:xfrm>
            <a:off x="4279392" y="3090672"/>
            <a:ext cx="3749040" cy="2514600"/>
          </a:xfrm>
          <a:prstGeom prst="roundRect">
            <a:avLst>
              <a:gd name="adj" fmla="val 3636"/>
            </a:avLst>
          </a:prstGeom>
          <a:solidFill>
            <a:srgbClr val="FFFFFF"/>
          </a:solidFill>
          <a:ln w="15240">
            <a:solidFill>
              <a:srgbClr val="BBDEFB"/>
            </a:solidFill>
            <a:prstDash val="solid"/>
          </a:ln>
        </p:spPr>
      </p:sp>
      <p:sp>
        <p:nvSpPr>
          <p:cNvPr id="16" name="Shape 12"/>
          <p:cNvSpPr/>
          <p:nvPr/>
        </p:nvSpPr>
        <p:spPr>
          <a:xfrm>
            <a:off x="4279392" y="3090672"/>
            <a:ext cx="3749040" cy="64008"/>
          </a:xfrm>
          <a:prstGeom prst="rect">
            <a:avLst/>
          </a:prstGeom>
          <a:solidFill>
            <a:srgbClr val="1565C0"/>
          </a:solidFill>
          <a:ln w="12700">
            <a:solidFill>
              <a:srgbClr val="1565C0"/>
            </a:solidFill>
            <a:prstDash val="solid"/>
          </a:ln>
        </p:spPr>
      </p:sp>
      <p:sp>
        <p:nvSpPr>
          <p:cNvPr id="17" name="Text 13"/>
          <p:cNvSpPr/>
          <p:nvPr/>
        </p:nvSpPr>
        <p:spPr>
          <a:xfrm>
            <a:off x="4279392" y="3246120"/>
            <a:ext cx="374904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8" name="Text 14"/>
          <p:cNvSpPr/>
          <p:nvPr/>
        </p:nvSpPr>
        <p:spPr>
          <a:xfrm>
            <a:off x="4443984" y="3913632"/>
            <a:ext cx="3429000" cy="347472"/>
          </a:xfrm>
          <a:prstGeom prst="rect">
            <a:avLst/>
          </a:prstGeom>
          <a:noFill/>
          <a:ln/>
        </p:spPr>
        <p:txBody>
          <a:bodyPr wrap="square" rtlCol="0" anchor="ctr"/>
          <a:lstStyle/>
          <a:p>
            <a:pPr marL="0" indent="0" algn="ctr">
              <a:buNone/>
            </a:pPr>
            <a:r>
              <a:rPr lang="en-US" sz="1300" b="1" dirty="0">
                <a:solidFill>
                  <a:srgbClr val="1F3A6E"/>
                </a:solidFill>
                <a:latin typeface="Calibri" pitchFamily="34" charset="0"/>
                <a:ea typeface="Calibri" pitchFamily="34" charset="-122"/>
                <a:cs typeface="Calibri" pitchFamily="34" charset="-120"/>
              </a:rPr>
              <a:t>Machine Learning Risk</a:t>
            </a:r>
            <a:endParaRPr lang="en-US" sz="1300" dirty="0"/>
          </a:p>
        </p:txBody>
      </p:sp>
      <p:sp>
        <p:nvSpPr>
          <p:cNvPr id="19" name="Text 15"/>
          <p:cNvSpPr/>
          <p:nvPr/>
        </p:nvSpPr>
        <p:spPr>
          <a:xfrm>
            <a:off x="4443984" y="4315968"/>
            <a:ext cx="3429000" cy="1170432"/>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K-Means (k=4) clusters vendors by payment behaviour — going beyond simple overdue thresholds to data-driven risk scoring (0–100).</a:t>
            </a:r>
            <a:endParaRPr lang="en-US" sz="1050" dirty="0"/>
          </a:p>
        </p:txBody>
      </p:sp>
      <p:sp>
        <p:nvSpPr>
          <p:cNvPr id="20" name="Shape 16"/>
          <p:cNvSpPr/>
          <p:nvPr/>
        </p:nvSpPr>
        <p:spPr>
          <a:xfrm>
            <a:off x="8238744" y="3090672"/>
            <a:ext cx="3749040" cy="2514600"/>
          </a:xfrm>
          <a:prstGeom prst="roundRect">
            <a:avLst>
              <a:gd name="adj" fmla="val 3636"/>
            </a:avLst>
          </a:prstGeom>
          <a:solidFill>
            <a:srgbClr val="FFFFFF"/>
          </a:solidFill>
          <a:ln w="15240">
            <a:solidFill>
              <a:srgbClr val="BBDEFB"/>
            </a:solidFill>
            <a:prstDash val="solid"/>
          </a:ln>
        </p:spPr>
      </p:sp>
      <p:sp>
        <p:nvSpPr>
          <p:cNvPr id="21" name="Shape 17"/>
          <p:cNvSpPr/>
          <p:nvPr/>
        </p:nvSpPr>
        <p:spPr>
          <a:xfrm>
            <a:off x="8238744" y="3090672"/>
            <a:ext cx="3749040" cy="64008"/>
          </a:xfrm>
          <a:prstGeom prst="rect">
            <a:avLst/>
          </a:prstGeom>
          <a:solidFill>
            <a:srgbClr val="8064A2"/>
          </a:solidFill>
          <a:ln w="12700">
            <a:solidFill>
              <a:srgbClr val="8064A2"/>
            </a:solidFill>
            <a:prstDash val="solid"/>
          </a:ln>
        </p:spPr>
      </p:sp>
      <p:sp>
        <p:nvSpPr>
          <p:cNvPr id="22" name="Text 18"/>
          <p:cNvSpPr/>
          <p:nvPr/>
        </p:nvSpPr>
        <p:spPr>
          <a:xfrm>
            <a:off x="8238744" y="3246120"/>
            <a:ext cx="3749040" cy="59436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23" name="Text 19"/>
          <p:cNvSpPr/>
          <p:nvPr/>
        </p:nvSpPr>
        <p:spPr>
          <a:xfrm>
            <a:off x="8403336" y="3913632"/>
            <a:ext cx="3429000" cy="347472"/>
          </a:xfrm>
          <a:prstGeom prst="rect">
            <a:avLst/>
          </a:prstGeom>
          <a:noFill/>
          <a:ln/>
        </p:spPr>
        <p:txBody>
          <a:bodyPr wrap="square" rtlCol="0" anchor="ctr"/>
          <a:lstStyle/>
          <a:p>
            <a:pPr marL="0" indent="0" algn="ctr">
              <a:buNone/>
            </a:pPr>
            <a:r>
              <a:rPr lang="en-US" sz="1300" b="1" dirty="0">
                <a:solidFill>
                  <a:srgbClr val="1F3A6E"/>
                </a:solidFill>
                <a:latin typeface="Calibri" pitchFamily="34" charset="0"/>
                <a:ea typeface="Calibri" pitchFamily="34" charset="-122"/>
                <a:cs typeface="Calibri" pitchFamily="34" charset="-120"/>
              </a:rPr>
              <a:t>AI Intelligence Layer</a:t>
            </a:r>
            <a:endParaRPr lang="en-US" sz="1300" dirty="0"/>
          </a:p>
        </p:txBody>
      </p:sp>
      <p:sp>
        <p:nvSpPr>
          <p:cNvPr id="24" name="Text 20"/>
          <p:cNvSpPr/>
          <p:nvPr/>
        </p:nvSpPr>
        <p:spPr>
          <a:xfrm>
            <a:off x="8403336" y="4315968"/>
            <a:ext cx="3429000" cy="1170432"/>
          </a:xfrm>
          <a:prstGeom prst="rect">
            <a:avLst/>
          </a:prstGeom>
          <a:noFill/>
          <a:ln/>
        </p:spPr>
        <p:txBody>
          <a:bodyPr wrap="square" rtlCol="0" anchor="t"/>
          <a:lstStyle/>
          <a:p>
            <a:pPr marL="0" indent="0">
              <a:buNone/>
            </a:pPr>
            <a:r>
              <a:rPr lang="en-US" sz="1050" dirty="0">
                <a:solidFill>
                  <a:srgbClr val="37474F"/>
                </a:solidFill>
                <a:latin typeface="Calibri" pitchFamily="34" charset="0"/>
                <a:ea typeface="Calibri" pitchFamily="34" charset="-122"/>
                <a:cs typeface="Calibri" pitchFamily="34" charset="-120"/>
              </a:rPr>
              <a:t>Natural language chatbot and automated insights via OpenRouter AI (Trinity-Large + Qwen3 fallback), enabling conversational AP analysis.</a:t>
            </a:r>
            <a:endParaRPr lang="en-US" sz="1050" dirty="0"/>
          </a:p>
        </p:txBody>
      </p:sp>
      <p:sp>
        <p:nvSpPr>
          <p:cNvPr id="26" name="Text 22"/>
          <p:cNvSpPr/>
          <p:nvPr/>
        </p:nvSpPr>
        <p:spPr>
          <a:xfrm>
            <a:off x="457200" y="5788152"/>
            <a:ext cx="11155680" cy="475488"/>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3577996" y="2729408"/>
            <a:ext cx="4985211" cy="1719898"/>
          </a:xfrm>
          <a:custGeom>
            <a:avLst/>
            <a:gdLst/>
            <a:ahLst/>
            <a:cxnLst/>
            <a:rect l="l" t="t" r="r" b="b"/>
            <a:pathLst>
              <a:path w="7477817" h="2579847">
                <a:moveTo>
                  <a:pt x="0" y="0"/>
                </a:moveTo>
                <a:lnTo>
                  <a:pt x="7477818" y="0"/>
                </a:lnTo>
                <a:lnTo>
                  <a:pt x="7477818" y="2579847"/>
                </a:lnTo>
                <a:lnTo>
                  <a:pt x="0" y="2579847"/>
                </a:lnTo>
                <a:lnTo>
                  <a:pt x="0" y="0"/>
                </a:lnTo>
                <a:close/>
              </a:path>
            </a:pathLst>
          </a:custGeom>
          <a:blipFill>
            <a:blip r:embed="rId2"/>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sp>
        <p:nvSpPr>
          <p:cNvPr id="4" name="Freeform 4"/>
          <p:cNvSpPr/>
          <p:nvPr/>
        </p:nvSpPr>
        <p:spPr>
          <a:xfrm>
            <a:off x="816163" y="5194998"/>
            <a:ext cx="1972343" cy="1153821"/>
          </a:xfrm>
          <a:custGeom>
            <a:avLst/>
            <a:gdLst/>
            <a:ahLst/>
            <a:cxnLst/>
            <a:rect l="l" t="t" r="r" b="b"/>
            <a:pathLst>
              <a:path w="2958514" h="1730731">
                <a:moveTo>
                  <a:pt x="0" y="0"/>
                </a:moveTo>
                <a:lnTo>
                  <a:pt x="2958514" y="0"/>
                </a:lnTo>
                <a:lnTo>
                  <a:pt x="2958514" y="1730730"/>
                </a:lnTo>
                <a:lnTo>
                  <a:pt x="0" y="1730730"/>
                </a:lnTo>
                <a:lnTo>
                  <a:pt x="0" y="0"/>
                </a:lnTo>
                <a:close/>
              </a:path>
            </a:pathLst>
          </a:custGeom>
          <a:blipFill>
            <a:blip r:embed="rId3"/>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grpSp>
        <p:nvGrpSpPr>
          <p:cNvPr id="5" name="Group 5"/>
          <p:cNvGrpSpPr/>
          <p:nvPr/>
        </p:nvGrpSpPr>
        <p:grpSpPr>
          <a:xfrm rot="3633546">
            <a:off x="-572995" y="-2302097"/>
            <a:ext cx="4552060" cy="6211501"/>
            <a:chOff x="0" y="0"/>
            <a:chExt cx="1678834" cy="2290849"/>
          </a:xfrm>
        </p:grpSpPr>
        <p:sp>
          <p:nvSpPr>
            <p:cNvPr id="6" name="Freeform 6"/>
            <p:cNvSpPr/>
            <p:nvPr/>
          </p:nvSpPr>
          <p:spPr>
            <a:xfrm>
              <a:off x="0" y="0"/>
              <a:ext cx="1678834" cy="2290849"/>
            </a:xfrm>
            <a:custGeom>
              <a:avLst/>
              <a:gdLst/>
              <a:ahLst/>
              <a:cxnLst/>
              <a:rect l="l" t="t" r="r" b="b"/>
              <a:pathLst>
                <a:path w="1678834" h="2290849">
                  <a:moveTo>
                    <a:pt x="839417" y="0"/>
                  </a:moveTo>
                  <a:cubicBezTo>
                    <a:pt x="375820" y="0"/>
                    <a:pt x="0" y="512824"/>
                    <a:pt x="0" y="1145424"/>
                  </a:cubicBezTo>
                  <a:cubicBezTo>
                    <a:pt x="0" y="1778025"/>
                    <a:pt x="375820" y="2290849"/>
                    <a:pt x="839417" y="2290849"/>
                  </a:cubicBezTo>
                  <a:cubicBezTo>
                    <a:pt x="1303015" y="2290849"/>
                    <a:pt x="1678834" y="1778025"/>
                    <a:pt x="1678834" y="1145424"/>
                  </a:cubicBezTo>
                  <a:cubicBezTo>
                    <a:pt x="1678834" y="512824"/>
                    <a:pt x="1303015" y="0"/>
                    <a:pt x="839417" y="0"/>
                  </a:cubicBezTo>
                  <a:close/>
                </a:path>
              </a:pathLst>
            </a:custGeom>
            <a:solidFill>
              <a:srgbClr val="EDF7FF"/>
            </a:solidFill>
          </p:spPr>
          <p:txBody>
            <a:bodyPr/>
            <a:lstStyle/>
            <a:p>
              <a:endParaRPr lang="en-IN" sz="1200">
                <a:latin typeface="Times New Roman" panose="02020603050405020304" pitchFamily="18" charset="0"/>
                <a:cs typeface="Times New Roman" panose="02020603050405020304" pitchFamily="18" charset="0"/>
              </a:endParaRPr>
            </a:p>
          </p:txBody>
        </p:sp>
        <p:sp>
          <p:nvSpPr>
            <p:cNvPr id="7" name="TextBox 7"/>
            <p:cNvSpPr txBox="1"/>
            <p:nvPr/>
          </p:nvSpPr>
          <p:spPr>
            <a:xfrm>
              <a:off x="157391" y="176667"/>
              <a:ext cx="1364053" cy="1899415"/>
            </a:xfrm>
            <a:prstGeom prst="rect">
              <a:avLst/>
            </a:prstGeom>
          </p:spPr>
          <p:txBody>
            <a:bodyPr lIns="33867" tIns="33867" rIns="33867" bIns="33867" rtlCol="0" anchor="ctr"/>
            <a:lstStyle/>
            <a:p>
              <a:pPr algn="ctr">
                <a:lnSpc>
                  <a:spcPts val="1917"/>
                </a:lnSpc>
              </a:pPr>
              <a:endParaRPr sz="1200">
                <a:latin typeface="Times New Roman" panose="02020603050405020304" pitchFamily="18" charset="0"/>
                <a:cs typeface="Times New Roman" panose="02020603050405020304" pitchFamily="18" charset="0"/>
              </a:endParaRPr>
            </a:p>
          </p:txBody>
        </p:sp>
      </p:grpSp>
      <p:sp>
        <p:nvSpPr>
          <p:cNvPr id="8" name="Freeform 8" descr="World outline"/>
          <p:cNvSpPr/>
          <p:nvPr/>
        </p:nvSpPr>
        <p:spPr>
          <a:xfrm>
            <a:off x="435500" y="1011547"/>
            <a:ext cx="347822" cy="347822"/>
          </a:xfrm>
          <a:custGeom>
            <a:avLst/>
            <a:gdLst/>
            <a:ahLst/>
            <a:cxnLst/>
            <a:rect l="l" t="t" r="r" b="b"/>
            <a:pathLst>
              <a:path w="521733" h="521733">
                <a:moveTo>
                  <a:pt x="0" y="0"/>
                </a:moveTo>
                <a:lnTo>
                  <a:pt x="521732" y="0"/>
                </a:lnTo>
                <a:lnTo>
                  <a:pt x="521732" y="521732"/>
                </a:lnTo>
                <a:lnTo>
                  <a:pt x="0" y="521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sp>
        <p:nvSpPr>
          <p:cNvPr id="9" name="Freeform 9" descr="Envelope outline"/>
          <p:cNvSpPr/>
          <p:nvPr/>
        </p:nvSpPr>
        <p:spPr>
          <a:xfrm>
            <a:off x="456757" y="1963622"/>
            <a:ext cx="347822" cy="347822"/>
          </a:xfrm>
          <a:custGeom>
            <a:avLst/>
            <a:gdLst/>
            <a:ahLst/>
            <a:cxnLst/>
            <a:rect l="l" t="t" r="r" b="b"/>
            <a:pathLst>
              <a:path w="521733" h="521733">
                <a:moveTo>
                  <a:pt x="0" y="0"/>
                </a:moveTo>
                <a:lnTo>
                  <a:pt x="521733" y="0"/>
                </a:lnTo>
                <a:lnTo>
                  <a:pt x="521733" y="521733"/>
                </a:lnTo>
                <a:lnTo>
                  <a:pt x="0" y="5217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sp>
        <p:nvSpPr>
          <p:cNvPr id="10" name="Freeform 10" descr="Receiver outline"/>
          <p:cNvSpPr/>
          <p:nvPr/>
        </p:nvSpPr>
        <p:spPr>
          <a:xfrm>
            <a:off x="435500" y="1476954"/>
            <a:ext cx="369079" cy="369079"/>
          </a:xfrm>
          <a:custGeom>
            <a:avLst/>
            <a:gdLst/>
            <a:ahLst/>
            <a:cxnLst/>
            <a:rect l="l" t="t" r="r" b="b"/>
            <a:pathLst>
              <a:path w="553619" h="553619">
                <a:moveTo>
                  <a:pt x="0" y="0"/>
                </a:moveTo>
                <a:lnTo>
                  <a:pt x="553619" y="0"/>
                </a:lnTo>
                <a:lnTo>
                  <a:pt x="553619" y="553619"/>
                </a:lnTo>
                <a:lnTo>
                  <a:pt x="0" y="55361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sp>
        <p:nvSpPr>
          <p:cNvPr id="11" name="Freeform 11"/>
          <p:cNvSpPr/>
          <p:nvPr/>
        </p:nvSpPr>
        <p:spPr>
          <a:xfrm>
            <a:off x="435499" y="761460"/>
            <a:ext cx="2472643" cy="94410"/>
          </a:xfrm>
          <a:custGeom>
            <a:avLst/>
            <a:gdLst/>
            <a:ahLst/>
            <a:cxnLst/>
            <a:rect l="l" t="t" r="r" b="b"/>
            <a:pathLst>
              <a:path w="3708964" h="141615">
                <a:moveTo>
                  <a:pt x="0" y="0"/>
                </a:moveTo>
                <a:lnTo>
                  <a:pt x="3708964" y="0"/>
                </a:lnTo>
                <a:lnTo>
                  <a:pt x="3708964" y="141615"/>
                </a:lnTo>
                <a:lnTo>
                  <a:pt x="0" y="14161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sp>
        <p:nvSpPr>
          <p:cNvPr id="12" name="Freeform 12"/>
          <p:cNvSpPr/>
          <p:nvPr/>
        </p:nvSpPr>
        <p:spPr>
          <a:xfrm>
            <a:off x="11312334" y="3262317"/>
            <a:ext cx="879666" cy="1192767"/>
          </a:xfrm>
          <a:custGeom>
            <a:avLst/>
            <a:gdLst/>
            <a:ahLst/>
            <a:cxnLst/>
            <a:rect l="l" t="t" r="r" b="b"/>
            <a:pathLst>
              <a:path w="1319499" h="1789151">
                <a:moveTo>
                  <a:pt x="0" y="0"/>
                </a:moveTo>
                <a:lnTo>
                  <a:pt x="1319499" y="0"/>
                </a:lnTo>
                <a:lnTo>
                  <a:pt x="1319499" y="1789151"/>
                </a:lnTo>
                <a:lnTo>
                  <a:pt x="0" y="178915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IN" sz="1200">
              <a:latin typeface="Times New Roman" panose="02020603050405020304" pitchFamily="18" charset="0"/>
              <a:cs typeface="Times New Roman" panose="02020603050405020304" pitchFamily="18" charset="0"/>
            </a:endParaRPr>
          </a:p>
        </p:txBody>
      </p:sp>
      <p:grpSp>
        <p:nvGrpSpPr>
          <p:cNvPr id="13" name="Group 13"/>
          <p:cNvGrpSpPr/>
          <p:nvPr/>
        </p:nvGrpSpPr>
        <p:grpSpPr>
          <a:xfrm rot="3633546">
            <a:off x="9583822" y="4020899"/>
            <a:ext cx="3196808" cy="4093787"/>
            <a:chOff x="0" y="0"/>
            <a:chExt cx="1262936" cy="1617298"/>
          </a:xfrm>
        </p:grpSpPr>
        <p:sp>
          <p:nvSpPr>
            <p:cNvPr id="14" name="Freeform 14"/>
            <p:cNvSpPr/>
            <p:nvPr/>
          </p:nvSpPr>
          <p:spPr>
            <a:xfrm>
              <a:off x="0" y="0"/>
              <a:ext cx="1262936" cy="1617298"/>
            </a:xfrm>
            <a:custGeom>
              <a:avLst/>
              <a:gdLst/>
              <a:ahLst/>
              <a:cxnLst/>
              <a:rect l="l" t="t" r="r" b="b"/>
              <a:pathLst>
                <a:path w="1262936" h="1617298">
                  <a:moveTo>
                    <a:pt x="631468" y="0"/>
                  </a:moveTo>
                  <a:cubicBezTo>
                    <a:pt x="282718" y="0"/>
                    <a:pt x="0" y="362045"/>
                    <a:pt x="0" y="808649"/>
                  </a:cubicBezTo>
                  <a:cubicBezTo>
                    <a:pt x="0" y="1255254"/>
                    <a:pt x="282718" y="1617298"/>
                    <a:pt x="631468" y="1617298"/>
                  </a:cubicBezTo>
                  <a:cubicBezTo>
                    <a:pt x="980218" y="1617298"/>
                    <a:pt x="1262936" y="1255254"/>
                    <a:pt x="1262936" y="808649"/>
                  </a:cubicBezTo>
                  <a:cubicBezTo>
                    <a:pt x="1262936" y="362045"/>
                    <a:pt x="980218" y="0"/>
                    <a:pt x="631468" y="0"/>
                  </a:cubicBezTo>
                  <a:close/>
                </a:path>
              </a:pathLst>
            </a:custGeom>
            <a:solidFill>
              <a:srgbClr val="289BE8"/>
            </a:solidFill>
          </p:spPr>
          <p:txBody>
            <a:bodyPr/>
            <a:lstStyle/>
            <a:p>
              <a:endParaRPr lang="en-IN" sz="1200">
                <a:latin typeface="Times New Roman" panose="02020603050405020304" pitchFamily="18" charset="0"/>
                <a:cs typeface="Times New Roman" panose="02020603050405020304" pitchFamily="18" charset="0"/>
              </a:endParaRPr>
            </a:p>
          </p:txBody>
        </p:sp>
        <p:sp>
          <p:nvSpPr>
            <p:cNvPr id="15" name="TextBox 15"/>
            <p:cNvSpPr txBox="1"/>
            <p:nvPr/>
          </p:nvSpPr>
          <p:spPr>
            <a:xfrm>
              <a:off x="118400" y="75422"/>
              <a:ext cx="1026136" cy="1390255"/>
            </a:xfrm>
            <a:prstGeom prst="rect">
              <a:avLst/>
            </a:prstGeom>
          </p:spPr>
          <p:txBody>
            <a:bodyPr lIns="33867" tIns="33867" rIns="33867" bIns="33867" rtlCol="0" anchor="ctr"/>
            <a:lstStyle/>
            <a:p>
              <a:pPr algn="ctr">
                <a:lnSpc>
                  <a:spcPts val="1917"/>
                </a:lnSpc>
              </a:pPr>
              <a:endParaRPr sz="1200">
                <a:latin typeface="Times New Roman" panose="02020603050405020304" pitchFamily="18" charset="0"/>
                <a:cs typeface="Times New Roman" panose="02020603050405020304" pitchFamily="18" charset="0"/>
              </a:endParaRPr>
            </a:p>
          </p:txBody>
        </p:sp>
      </p:grpSp>
      <p:sp>
        <p:nvSpPr>
          <p:cNvPr id="18" name="TextBox 18"/>
          <p:cNvSpPr txBox="1"/>
          <p:nvPr/>
        </p:nvSpPr>
        <p:spPr>
          <a:xfrm>
            <a:off x="803431" y="349221"/>
            <a:ext cx="1736779" cy="362728"/>
          </a:xfrm>
          <a:prstGeom prst="rect">
            <a:avLst/>
          </a:prstGeom>
        </p:spPr>
        <p:txBody>
          <a:bodyPr lIns="0" tIns="0" rIns="0" bIns="0" rtlCol="0" anchor="t">
            <a:spAutoFit/>
          </a:bodyPr>
          <a:lstStyle/>
          <a:p>
            <a:pPr>
              <a:lnSpc>
                <a:spcPts val="2963"/>
              </a:lnSpc>
            </a:pPr>
            <a:r>
              <a:rPr lang="en-US" sz="2469">
                <a:solidFill>
                  <a:srgbClr val="005D9B"/>
                </a:solidFill>
                <a:latin typeface="Times New Roman" panose="02020603050405020304" pitchFamily="18" charset="0"/>
                <a:cs typeface="Times New Roman" panose="02020603050405020304" pitchFamily="18" charset="0"/>
              </a:rPr>
              <a:t>Contact Us</a:t>
            </a:r>
          </a:p>
        </p:txBody>
      </p:sp>
      <p:sp>
        <p:nvSpPr>
          <p:cNvPr id="19" name="TextBox 19"/>
          <p:cNvSpPr txBox="1"/>
          <p:nvPr/>
        </p:nvSpPr>
        <p:spPr>
          <a:xfrm>
            <a:off x="905445" y="2014445"/>
            <a:ext cx="2764193" cy="473784"/>
          </a:xfrm>
          <a:prstGeom prst="rect">
            <a:avLst/>
          </a:prstGeom>
        </p:spPr>
        <p:txBody>
          <a:bodyPr lIns="0" tIns="0" rIns="0" bIns="0" rtlCol="0" anchor="t">
            <a:spAutoFit/>
          </a:bodyPr>
          <a:lstStyle/>
          <a:p>
            <a:pPr>
              <a:lnSpc>
                <a:spcPts val="1893"/>
              </a:lnSpc>
              <a:spcBef>
                <a:spcPct val="0"/>
              </a:spcBef>
            </a:pPr>
            <a:r>
              <a:rPr lang="en-US" sz="1577">
                <a:solidFill>
                  <a:srgbClr val="006FC0"/>
                </a:solidFill>
                <a:latin typeface="Times New Roman" panose="02020603050405020304" pitchFamily="18" charset="0"/>
                <a:cs typeface="Times New Roman" panose="02020603050405020304" pitchFamily="18" charset="0"/>
                <a:hlinkClick r:id="rId9" tooltip="http://www.bpterp.com/"/>
              </a:rPr>
              <a:t>info@bpterp.com ; sales@bpterp.com </a:t>
            </a:r>
          </a:p>
        </p:txBody>
      </p:sp>
      <p:sp>
        <p:nvSpPr>
          <p:cNvPr id="20" name="TextBox 20"/>
          <p:cNvSpPr txBox="1"/>
          <p:nvPr/>
        </p:nvSpPr>
        <p:spPr>
          <a:xfrm>
            <a:off x="905445" y="1061517"/>
            <a:ext cx="2198248" cy="230128"/>
          </a:xfrm>
          <a:prstGeom prst="rect">
            <a:avLst/>
          </a:prstGeom>
        </p:spPr>
        <p:txBody>
          <a:bodyPr lIns="0" tIns="0" rIns="0" bIns="0" rtlCol="0" anchor="t">
            <a:spAutoFit/>
          </a:bodyPr>
          <a:lstStyle/>
          <a:p>
            <a:pPr>
              <a:lnSpc>
                <a:spcPts val="1893"/>
              </a:lnSpc>
            </a:pPr>
            <a:r>
              <a:rPr lang="en-US" sz="1577">
                <a:solidFill>
                  <a:srgbClr val="006FC0"/>
                </a:solidFill>
                <a:latin typeface="Times New Roman" panose="02020603050405020304" pitchFamily="18" charset="0"/>
                <a:cs typeface="Times New Roman" panose="02020603050405020304" pitchFamily="18" charset="0"/>
                <a:hlinkClick r:id="rId9" tooltip="http://www.bpterp.com/"/>
              </a:rPr>
              <a:t>www.bpterp.com</a:t>
            </a:r>
            <a:r>
              <a:rPr lang="en-US" sz="1577">
                <a:solidFill>
                  <a:srgbClr val="006FC0"/>
                </a:solidFill>
                <a:latin typeface="Times New Roman" panose="02020603050405020304" pitchFamily="18" charset="0"/>
                <a:cs typeface="Times New Roman" panose="02020603050405020304" pitchFamily="18" charset="0"/>
              </a:rPr>
              <a:t> </a:t>
            </a:r>
          </a:p>
        </p:txBody>
      </p:sp>
      <p:sp>
        <p:nvSpPr>
          <p:cNvPr id="21" name="TextBox 21"/>
          <p:cNvSpPr txBox="1"/>
          <p:nvPr/>
        </p:nvSpPr>
        <p:spPr>
          <a:xfrm>
            <a:off x="905445" y="1537553"/>
            <a:ext cx="1883906" cy="230128"/>
          </a:xfrm>
          <a:prstGeom prst="rect">
            <a:avLst/>
          </a:prstGeom>
        </p:spPr>
        <p:txBody>
          <a:bodyPr lIns="0" tIns="0" rIns="0" bIns="0" rtlCol="0" anchor="t">
            <a:spAutoFit/>
          </a:bodyPr>
          <a:lstStyle/>
          <a:p>
            <a:pPr>
              <a:lnSpc>
                <a:spcPts val="1893"/>
              </a:lnSpc>
              <a:spcBef>
                <a:spcPct val="0"/>
              </a:spcBef>
            </a:pPr>
            <a:r>
              <a:rPr lang="en-US" sz="1577">
                <a:solidFill>
                  <a:srgbClr val="006FC0"/>
                </a:solidFill>
                <a:latin typeface="Times New Roman" panose="02020603050405020304" pitchFamily="18" charset="0"/>
                <a:cs typeface="Times New Roman" panose="02020603050405020304" pitchFamily="18" charset="0"/>
                <a:hlinkClick r:id="rId9" tooltip="http://www.bpterp.com/"/>
              </a:rPr>
              <a:t>+91 8366800068</a:t>
            </a:r>
          </a:p>
        </p:txBody>
      </p:sp>
      <p:sp>
        <p:nvSpPr>
          <p:cNvPr id="22" name="TextBox 22"/>
          <p:cNvSpPr txBox="1"/>
          <p:nvPr/>
        </p:nvSpPr>
        <p:spPr>
          <a:xfrm>
            <a:off x="9899726" y="5194997"/>
            <a:ext cx="2430129" cy="1282402"/>
          </a:xfrm>
          <a:prstGeom prst="rect">
            <a:avLst/>
          </a:prstGeom>
        </p:spPr>
        <p:txBody>
          <a:bodyPr lIns="0" tIns="0" rIns="0" bIns="0" rtlCol="0" anchor="t">
            <a:spAutoFit/>
          </a:bodyPr>
          <a:lstStyle/>
          <a:p>
            <a:pPr marL="367048" lvl="1" indent="-183524">
              <a:lnSpc>
                <a:spcPts val="2040"/>
              </a:lnSpc>
              <a:buFont typeface="Arial"/>
              <a:buChar char="•"/>
            </a:pPr>
            <a:r>
              <a:rPr lang="en-US" sz="1700">
                <a:solidFill>
                  <a:srgbClr val="FFFFFF"/>
                </a:solidFill>
                <a:latin typeface="Times New Roman" panose="02020603050405020304" pitchFamily="18" charset="0"/>
                <a:cs typeface="Times New Roman" panose="02020603050405020304" pitchFamily="18" charset="0"/>
              </a:rPr>
              <a:t>India</a:t>
            </a:r>
          </a:p>
          <a:p>
            <a:pPr marL="367048" lvl="1" indent="-183524">
              <a:lnSpc>
                <a:spcPts val="2040"/>
              </a:lnSpc>
              <a:buFont typeface="Arial"/>
              <a:buChar char="•"/>
            </a:pPr>
            <a:r>
              <a:rPr lang="en-US" sz="1700">
                <a:solidFill>
                  <a:srgbClr val="FFFFFF"/>
                </a:solidFill>
                <a:latin typeface="Times New Roman" panose="02020603050405020304" pitchFamily="18" charset="0"/>
                <a:cs typeface="Times New Roman" panose="02020603050405020304" pitchFamily="18" charset="0"/>
              </a:rPr>
              <a:t>Middle East</a:t>
            </a:r>
          </a:p>
          <a:p>
            <a:pPr marL="367048" lvl="1" indent="-183524">
              <a:lnSpc>
                <a:spcPts val="2040"/>
              </a:lnSpc>
              <a:buFont typeface="Arial"/>
              <a:buChar char="•"/>
            </a:pPr>
            <a:r>
              <a:rPr lang="en-US" sz="1700">
                <a:solidFill>
                  <a:srgbClr val="FFFFFF"/>
                </a:solidFill>
                <a:latin typeface="Times New Roman" panose="02020603050405020304" pitchFamily="18" charset="0"/>
                <a:cs typeface="Times New Roman" panose="02020603050405020304" pitchFamily="18" charset="0"/>
              </a:rPr>
              <a:t>Saudi Arabia</a:t>
            </a:r>
          </a:p>
          <a:p>
            <a:pPr marL="367048" lvl="1" indent="-183524">
              <a:lnSpc>
                <a:spcPts val="2040"/>
              </a:lnSpc>
              <a:buFont typeface="Arial"/>
              <a:buChar char="•"/>
            </a:pPr>
            <a:r>
              <a:rPr lang="en-US" sz="1700">
                <a:solidFill>
                  <a:srgbClr val="FFFFFF"/>
                </a:solidFill>
                <a:latin typeface="Times New Roman" panose="02020603050405020304" pitchFamily="18" charset="0"/>
                <a:cs typeface="Times New Roman" panose="02020603050405020304" pitchFamily="18" charset="0"/>
              </a:rPr>
              <a:t>USA</a:t>
            </a:r>
          </a:p>
          <a:p>
            <a:pPr marL="367048" lvl="1" indent="-183524">
              <a:lnSpc>
                <a:spcPts val="2040"/>
              </a:lnSpc>
              <a:buFont typeface="Arial"/>
              <a:buChar char="•"/>
            </a:pPr>
            <a:r>
              <a:rPr lang="en-US" sz="1700">
                <a:solidFill>
                  <a:srgbClr val="FFFFFF"/>
                </a:solidFill>
                <a:latin typeface="Times New Roman" panose="02020603050405020304" pitchFamily="18" charset="0"/>
                <a:cs typeface="Times New Roman" panose="02020603050405020304" pitchFamily="18" charset="0"/>
              </a:rPr>
              <a:t>Canada</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2664</Words>
  <Application>Microsoft Office PowerPoint</Application>
  <PresentationFormat>Widescreen</PresentationFormat>
  <Paragraphs>408</Paragraphs>
  <Slides>17</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72 Brand</vt:lpstr>
      <vt:lpstr>72 Brand Medium</vt:lpstr>
      <vt:lpstr>Arial</vt:lpstr>
      <vt:lpstr>Calibri</vt:lpstr>
      <vt:lpstr>Courier New</vt:lpstr>
      <vt:lpstr>Times New Roman</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Aamina Shareef</cp:lastModifiedBy>
  <cp:revision>5</cp:revision>
  <dcterms:created xsi:type="dcterms:W3CDTF">2026-04-16T23:53:21Z</dcterms:created>
  <dcterms:modified xsi:type="dcterms:W3CDTF">2026-04-17T00:17:25Z</dcterms:modified>
</cp:coreProperties>
</file>